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7FFE5E2C_9F6F4698.xml" ContentType="application/vnd.ms-powerpoint.comments+xml"/>
  <Override PartName="/ppt/comments/modernComment_7FFE5E74_AEB99286.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1" r:id="rId5"/>
  </p:sldMasterIdLst>
  <p:notesMasterIdLst>
    <p:notesMasterId r:id="rId31"/>
  </p:notesMasterIdLst>
  <p:sldIdLst>
    <p:sldId id="263" r:id="rId6"/>
    <p:sldId id="2147376704" r:id="rId7"/>
    <p:sldId id="2147376706" r:id="rId8"/>
    <p:sldId id="2147376684" r:id="rId9"/>
    <p:sldId id="2147376672" r:id="rId10"/>
    <p:sldId id="2147376702" r:id="rId11"/>
    <p:sldId id="2147376701" r:id="rId12"/>
    <p:sldId id="2147376703" r:id="rId13"/>
    <p:sldId id="2147376757" r:id="rId14"/>
    <p:sldId id="1082" r:id="rId15"/>
    <p:sldId id="2147376685" r:id="rId16"/>
    <p:sldId id="2147376686" r:id="rId17"/>
    <p:sldId id="2147376688" r:id="rId18"/>
    <p:sldId id="2147376689" r:id="rId19"/>
    <p:sldId id="2147376690" r:id="rId20"/>
    <p:sldId id="2147376692" r:id="rId21"/>
    <p:sldId id="2147376693" r:id="rId22"/>
    <p:sldId id="2147376694" r:id="rId23"/>
    <p:sldId id="2147376700" r:id="rId24"/>
    <p:sldId id="2147376695" r:id="rId25"/>
    <p:sldId id="2147376696" r:id="rId26"/>
    <p:sldId id="2147376697" r:id="rId27"/>
    <p:sldId id="2147376698" r:id="rId28"/>
    <p:sldId id="2147376699" r:id="rId29"/>
    <p:sldId id="214737675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629A92E-EE90-412F-823C-25B3B28A0794}">
          <p14:sldIdLst/>
        </p14:section>
        <p14:section name="Problem statement" id="{6424E01A-7495-428C-A3D7-CFE28F09B713}">
          <p14:sldIdLst>
            <p14:sldId id="263"/>
            <p14:sldId id="2147376704"/>
          </p14:sldIdLst>
        </p14:section>
        <p14:section name="AI Agent script" id="{205625DE-A0F9-4715-ADAC-29F978E17597}">
          <p14:sldIdLst>
            <p14:sldId id="2147376706"/>
            <p14:sldId id="2147376684"/>
            <p14:sldId id="2147376672"/>
          </p14:sldIdLst>
        </p14:section>
        <p14:section name="Overview" id="{1D913646-5912-426C-BFEA-31EF4DCA3BB3}">
          <p14:sldIdLst>
            <p14:sldId id="2147376702"/>
            <p14:sldId id="2147376701"/>
            <p14:sldId id="2147376703"/>
            <p14:sldId id="2147376757"/>
          </p14:sldIdLst>
        </p14:section>
        <p14:section name="Detailed script" id="{24A70A11-9446-4108-8B0B-C48462457876}">
          <p14:sldIdLst>
            <p14:sldId id="1082"/>
            <p14:sldId id="2147376685"/>
            <p14:sldId id="2147376686"/>
            <p14:sldId id="2147376688"/>
            <p14:sldId id="2147376689"/>
            <p14:sldId id="2147376690"/>
            <p14:sldId id="2147376692"/>
            <p14:sldId id="2147376693"/>
            <p14:sldId id="2147376694"/>
            <p14:sldId id="2147376700"/>
            <p14:sldId id="2147376695"/>
            <p14:sldId id="2147376696"/>
            <p14:sldId id="2147376697"/>
            <p14:sldId id="2147376698"/>
            <p14:sldId id="2147376699"/>
            <p14:sldId id="214737675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7CA223-0DA6-52FB-6B99-9A21BA069490}" name="Das, Amarendra" initials="AD" userId="S::amarendra.das@capgemini.com::84c1f8da-5c01-49e4-8bee-dcf364485283" providerId="AD"/>
  <p188:author id="{0F44B655-1143-B4FC-8268-81E810360FE5}" name="Teschner, Ralf" initials="RT" userId="S::ralf.teschner@capgemini.com::b31c7495-87b7-4a7b-a7b1-59a81e7c058f" providerId="AD"/>
  <p188:author id="{3DC270AC-0C5A-C2EB-A8B8-ECC0CF2456E6}" name="Roosmalen, Kamran van" initials="" userId="S::kamran.van.roosmalen@capgemini.com::cccf5b06-ceb5-4b23-b5fc-46e53c4e6cd6" providerId="AD"/>
  <p188:author id="{BCCB54D4-3977-3A09-3B1E-CF1C00C01DF9}" name="Parnell, Dec" initials="PD" userId="S::dec.parnell@capgemini.com::65b9c948-5c10-4fbb-b3bc-ca7340fc77b5" providerId="AD"/>
  <p188:author id="{946A8CDF-3B23-998B-BC3C-CC291869FB5C}" name="Unnikrishnan, Manjusha" initials="MU" userId="S::manjusha.unnikrishnan@capgemini.com::8b2c68a6-11eb-4a22-b16e-2b582a92a01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07300"/>
    <a:srgbClr val="1119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126" autoAdjust="0"/>
  </p:normalViewPr>
  <p:slideViewPr>
    <p:cSldViewPr>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nnikrishnan, Manjusha" userId="8b2c68a6-11eb-4a22-b16e-2b582a92a011" providerId="ADAL" clId="{F3866F76-8992-4FE4-8425-75F2399E7DFA}"/>
    <pc:docChg chg="delSld modSection">
      <pc:chgData name="Unnikrishnan, Manjusha" userId="8b2c68a6-11eb-4a22-b16e-2b582a92a011" providerId="ADAL" clId="{F3866F76-8992-4FE4-8425-75F2399E7DFA}" dt="2026-05-10T10:46:12.938" v="6" actId="47"/>
      <pc:docMkLst>
        <pc:docMk/>
      </pc:docMkLst>
      <pc:sldChg chg="del">
        <pc:chgData name="Unnikrishnan, Manjusha" userId="8b2c68a6-11eb-4a22-b16e-2b582a92a011" providerId="ADAL" clId="{F3866F76-8992-4FE4-8425-75F2399E7DFA}" dt="2026-05-10T10:44:16.612" v="0" actId="47"/>
        <pc:sldMkLst>
          <pc:docMk/>
          <pc:sldMk cId="3901002249" sldId="263"/>
        </pc:sldMkLst>
      </pc:sldChg>
      <pc:sldChg chg="del">
        <pc:chgData name="Unnikrishnan, Manjusha" userId="8b2c68a6-11eb-4a22-b16e-2b582a92a011" providerId="ADAL" clId="{F3866F76-8992-4FE4-8425-75F2399E7DFA}" dt="2026-05-10T10:46:01.980" v="4" actId="47"/>
        <pc:sldMkLst>
          <pc:docMk/>
          <pc:sldMk cId="1044416223" sldId="1027"/>
        </pc:sldMkLst>
      </pc:sldChg>
      <pc:sldChg chg="del">
        <pc:chgData name="Unnikrishnan, Manjusha" userId="8b2c68a6-11eb-4a22-b16e-2b582a92a011" providerId="ADAL" clId="{F3866F76-8992-4FE4-8425-75F2399E7DFA}" dt="2026-05-10T10:44:20.633" v="1" actId="47"/>
        <pc:sldMkLst>
          <pc:docMk/>
          <pc:sldMk cId="957359572" sldId="2147376664"/>
        </pc:sldMkLst>
      </pc:sldChg>
      <pc:sldChg chg="del">
        <pc:chgData name="Unnikrishnan, Manjusha" userId="8b2c68a6-11eb-4a22-b16e-2b582a92a011" providerId="ADAL" clId="{F3866F76-8992-4FE4-8425-75F2399E7DFA}" dt="2026-05-10T10:44:57.038" v="3" actId="47"/>
        <pc:sldMkLst>
          <pc:docMk/>
          <pc:sldMk cId="2396382098" sldId="2147376667"/>
        </pc:sldMkLst>
      </pc:sldChg>
      <pc:sldChg chg="del">
        <pc:chgData name="Unnikrishnan, Manjusha" userId="8b2c68a6-11eb-4a22-b16e-2b582a92a011" providerId="ADAL" clId="{F3866F76-8992-4FE4-8425-75F2399E7DFA}" dt="2026-05-10T10:44:21.856" v="2" actId="47"/>
        <pc:sldMkLst>
          <pc:docMk/>
          <pc:sldMk cId="4140486038" sldId="2147376683"/>
        </pc:sldMkLst>
      </pc:sldChg>
      <pc:sldChg chg="del">
        <pc:chgData name="Unnikrishnan, Manjusha" userId="8b2c68a6-11eb-4a22-b16e-2b582a92a011" providerId="ADAL" clId="{F3866F76-8992-4FE4-8425-75F2399E7DFA}" dt="2026-05-10T10:46:12.938" v="6" actId="47"/>
        <pc:sldMkLst>
          <pc:docMk/>
          <pc:sldMk cId="2821138883" sldId="2147376705"/>
        </pc:sldMkLst>
      </pc:sldChg>
      <pc:sldChg chg="del">
        <pc:chgData name="Unnikrishnan, Manjusha" userId="8b2c68a6-11eb-4a22-b16e-2b582a92a011" providerId="ADAL" clId="{F3866F76-8992-4FE4-8425-75F2399E7DFA}" dt="2026-05-10T10:46:06.093" v="5" actId="47"/>
        <pc:sldMkLst>
          <pc:docMk/>
          <pc:sldMk cId="1098510796" sldId="2147376707"/>
        </pc:sldMkLst>
      </pc:sldChg>
    </pc:docChg>
  </pc:docChgLst>
</pc:chgInfo>
</file>

<file path=ppt/comments/modernComment_7FFE5E2C_9F6F4698.xml><?xml version="1.0" encoding="utf-8"?>
<p188:cmLst xmlns:a="http://schemas.openxmlformats.org/drawingml/2006/main" xmlns:r="http://schemas.openxmlformats.org/officeDocument/2006/relationships" xmlns:p188="http://schemas.microsoft.com/office/powerpoint/2018/8/main">
  <p188:cm id="{30D63338-BBBD-46EA-BE83-D89C7024FCD7}" authorId="{BCCB54D4-3977-3A09-3B1E-CF1C00C01DF9}" status="resolved" created="2025-10-30T14:01:31.561" startDate="2025-10-30T14:01:31.561" dueDate="2025-10-30T14:01:31.561" assignedTo="{3DC270AC-0C5A-C2EB-A8B8-ECC0CF2456E6}" complete="100000" title="@Roosmalen, Kamran van Slightly unsure why there are 5 different agents. From what I can think 3 is more than enough (maybe even too many) 1) parses existing information, 2) Creates and updates the new mapping 3) Review's the mapping and questions SMEs …">
    <pc:sldMkLst xmlns:pc="http://schemas.microsoft.com/office/powerpoint/2013/main/command">
      <pc:docMk/>
      <pc:sldMk cId="2674869912" sldId="2147376684"/>
    </pc:sldMkLst>
    <p188:replyLst>
      <p188:reply id="{7FD0CF7E-33BC-4811-8CC7-A34CEA8E7FC4}" authorId="{3DC270AC-0C5A-C2EB-A8B8-ECC0CF2456E6}" created="2025-10-30T14:04:04.658">
        <p188:txBody>
          <a:bodyPr/>
          <a:lstStyle/>
          <a:p>
            <a:r>
              <a:rPr lang="en-US"/>
              <a:t>Agee, not an AI expert but I can image that Agent 1-3 triggers could be done in a single Agent and 4-5 into another one. Limiting to 2 Agents</a:t>
            </a:r>
          </a:p>
        </p188:txBody>
        <p188:extLst>
          <p:ext xmlns:p="http://schemas.openxmlformats.org/presentationml/2006/main" uri="{57CB4572-C831-44C2-8A1C-0ADB6CCDFE69}">
            <p223:reactions xmlns:p223="http://schemas.microsoft.com/office/powerpoint/2022/03/main">
              <p223:rxn type="👍">
                <p223:instance time="2025-10-30T14:05:36.934" authorId="{BCCB54D4-3977-3A09-3B1E-CF1C00C01DF9}"/>
              </p223:rxn>
            </p223:reactions>
          </p:ext>
        </p188:extLst>
      </p188:reply>
    </p188:replyLst>
    <p188:txBody>
      <a:bodyPr/>
      <a:lstStyle/>
      <a:p>
        <a:r>
          <a:rPr lang="en-US"/>
          <a:t>[@Roosmalen, Kamran van] Slightly unsure why there are 5 different agents. 
From what I can think 3 is more than enough (maybe even too many)
1) parses existing information, 
2) Creates and updates the new mapping
3) Review's the mapping and questions SMEs
Each of the 5 agents listed have a lot of cross over so not necessary to have distinct agents for each task.
Other than that the steps look logical and complete.</a:t>
        </a:r>
      </a:p>
    </p188:txBody>
    <p188:extLst>
      <p:ext xmlns:p="http://schemas.openxmlformats.org/presentationml/2006/main" uri="{5BB2D875-25FF-4072-B9AC-8F64D62656EB}">
        <p228:taskDetails xmlns:p228="http://schemas.microsoft.com/office/powerpoint/2022/08/main">
          <p228:history>
            <p228:event time="2025-10-30T14:01:31.561" id="{444D7A38-0C1D-438E-8047-7C8DA19F3E79}">
              <p228:atrbtn authorId="{BCCB54D4-3977-3A09-3B1E-CF1C00C01DF9}"/>
              <p228:anchr>
                <p228:comment id="{30D63338-BBBD-46EA-BE83-D89C7024FCD7}"/>
              </p228:anchr>
              <p228:add/>
            </p228:event>
            <p228:event time="2025-10-30T14:01:31.561" id="{5272E2B7-366C-4F19-B83E-AE5DD0BE07FB}">
              <p228:atrbtn authorId="{BCCB54D4-3977-3A09-3B1E-CF1C00C01DF9}"/>
              <p228:anchr>
                <p228:comment id="{30D63338-BBBD-46EA-BE83-D89C7024FCD7}"/>
              </p228:anchr>
              <p228:asgn authorId="{3DC270AC-0C5A-C2EB-A8B8-ECC0CF2456E6}"/>
            </p228:event>
            <p228:event time="2025-10-30T14:01:31.561" id="{FDE5FEB9-3A7B-4DF8-B272-5C3D79B8CBB1}">
              <p228:atrbtn authorId="{BCCB54D4-3977-3A09-3B1E-CF1C00C01DF9}"/>
              <p228:anchr>
                <p228:comment id="{30D63338-BBBD-46EA-BE83-D89C7024FCD7}"/>
              </p228:anchr>
              <p228:title val="@Roosmalen, Kamran van Slightly unsure why there are 5 different agents. From what I can think 3 is more than enough (maybe even too many) 1) parses existing information, 2) Creates and updates the new mapping 3) Review's the mapping and questions SMEs …"/>
            </p228:event>
            <p228:event time="2025-10-30T14:01:31.561" id="{93BF410C-F2F8-4F66-B2E7-C15C4CBE888F}">
              <p228:atrbtn authorId="{BCCB54D4-3977-3A09-3B1E-CF1C00C01DF9}"/>
              <p228:anchr>
                <p228:comment id="{30D63338-BBBD-46EA-BE83-D89C7024FCD7}"/>
              </p228:anchr>
              <p228:date stDt="2025-10-30T14:01:31.561" endDt="2025-10-30T14:01:31.561"/>
            </p228:event>
            <p228:event time="2025-10-30T14:25:10.655" id="{7CAF7DC0-CBF0-4D31-BC95-1FCBFD8F1E38}">
              <p228:atrbtn authorId="{0F44B655-1143-B4FC-8268-81E810360FE5}"/>
              <p228:anchr>
                <p228:comment id="{00000000-0000-0000-0000-000000000000}"/>
              </p228:anchr>
              <p228:pcntCmplt val="100000"/>
            </p228:event>
          </p228:history>
        </p228:taskDetails>
      </p:ext>
    </p188:extLst>
  </p188:cm>
  <p188:cm id="{6BD23574-8F80-4C34-B550-8633CD548B9A}" authorId="{0F44B655-1143-B4FC-8268-81E810360FE5}" status="resolved" created="2025-10-30T14:40:16.846" complete="100000">
    <ac:deMkLst xmlns:ac="http://schemas.microsoft.com/office/drawing/2013/main/command">
      <pc:docMk xmlns:pc="http://schemas.microsoft.com/office/powerpoint/2013/main/command"/>
      <pc:sldMk xmlns:pc="http://schemas.microsoft.com/office/powerpoint/2013/main/command" cId="2674869912" sldId="2147376684"/>
      <ac:spMk id="5" creationId="{2128BF7E-4E41-852D-62D4-B220867EC5CF}"/>
    </ac:deMkLst>
    <p188:replyLst>
      <p188:reply id="{BF181D13-0328-4407-AC75-24389DFCCC73}" authorId="{3DC270AC-0C5A-C2EB-A8B8-ECC0CF2456E6}" created="2025-10-30T14:56:19.368">
        <p188:txBody>
          <a:bodyPr/>
          <a:lstStyle/>
          <a:p>
            <a:r>
              <a:rPr lang="en-US"/>
              <a:t>I set up a problem statement slide to cover this. I will remove it</a:t>
            </a:r>
          </a:p>
        </p188:txBody>
      </p188:reply>
    </p188:replyLst>
    <p188:txBody>
      <a:bodyPr/>
      <a:lstStyle/>
      <a:p>
        <a:r>
          <a:rPr lang="en-US"/>
          <a:t>[@Roosmalen, Kamran van]  – Absolutely fabulous draft of this deck. Great job.
Made a few colour-codings.
Can we now delete this yellow box, as its content is now captured elsewhere in the deck?</a:t>
        </a:r>
      </a:p>
    </p188:txBody>
  </p188:cm>
  <p188:cm id="{EEFECE45-EDDE-433D-8C56-4736AB792393}" authorId="{DF7CA223-0DA6-52FB-6B99-9A21BA069490}" created="2026-02-23T05:58:20.960">
    <pc:sldMkLst xmlns:pc="http://schemas.microsoft.com/office/powerpoint/2013/main/command">
      <pc:docMk/>
      <pc:sldMk cId="2674869912" sldId="2147376684"/>
    </pc:sldMkLst>
    <p188:txBody>
      <a:bodyPr/>
      <a:lstStyle/>
      <a:p>
        <a:r>
          <a:rPr lang="en-US"/>
          <a:t>[@Teschner, Ralf] - I think we also need to include a scenario about temporal lineage, i.e. how lineage changes over time and versioning of lineage.</a:t>
        </a:r>
      </a:p>
    </p188:txBody>
  </p188:cm>
</p188:cmLst>
</file>

<file path=ppt/comments/modernComment_7FFE5E74_AEB99286.xml><?xml version="1.0" encoding="utf-8"?>
<p188:cmLst xmlns:a="http://schemas.openxmlformats.org/drawingml/2006/main" xmlns:r="http://schemas.openxmlformats.org/officeDocument/2006/relationships" xmlns:p188="http://schemas.microsoft.com/office/powerpoint/2018/8/main">
  <p188:cm id="{268E133B-6294-44A5-82AB-640E435A064A}" authorId="{0F44B655-1143-B4FC-8268-81E810360FE5}" created="2026-02-18T11:47:21.461">
    <pc:sldMkLst xmlns:pc="http://schemas.microsoft.com/office/powerpoint/2013/main/command">
      <pc:docMk/>
      <pc:sldMk cId="2931397254" sldId="2147376756"/>
    </pc:sldMkLst>
    <p188:txBody>
      <a:bodyPr/>
      <a:lstStyle/>
      <a:p>
        <a:r>
          <a:rPr lang="en-US"/>
          <a:t>Once we’ve prototyped all these Agents, the interface would show a brief description of each Agent of max. 50 words (see red circled text in screenshot). We’d first need to write up these blurbs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8EC01C-AAE9-4FAD-B188-3C1BA3A99A85}" type="datetimeFigureOut">
              <a:rPr lang="en-US" smtClean="0"/>
              <a:t>5/10/2026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1BE4FA-72CE-44EE-9493-80AD85C700BF}" type="slidenum">
              <a:rPr lang="en-US" smtClean="0"/>
              <a:t>‹#›</a:t>
            </a:fld>
            <a:endParaRPr lang="en-US"/>
          </a:p>
        </p:txBody>
      </p:sp>
    </p:spTree>
    <p:extLst>
      <p:ext uri="{BB962C8B-B14F-4D97-AF65-F5344CB8AC3E}">
        <p14:creationId xmlns:p14="http://schemas.microsoft.com/office/powerpoint/2010/main" val="6074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7.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52728"/>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nchorCtr="0"/>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872003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560727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l"/>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more than 50 countries. With its strong 55-year heritage and deep industry expertise, Capgemini is trusted by its clients to address the entire breadth of their business needs, from strategy and design to operations, </a:t>
            </a:r>
            <a:r>
              <a:rPr lang="en-US" sz="900" err="1">
                <a:solidFill>
                  <a:schemeClr val="bg1"/>
                </a:solidFill>
                <a:effectLst/>
                <a:latin typeface="Ubuntu" panose="020B0504030602030204" pitchFamily="34" charset="0"/>
              </a:rPr>
              <a:t>fuelled</a:t>
            </a:r>
            <a:r>
              <a:rPr lang="en-US" sz="900">
                <a:solidFill>
                  <a:schemeClr val="bg1"/>
                </a:solidFill>
                <a:effectLst/>
                <a:latin typeface="Ubuntu" panose="020B0504030602030204" pitchFamily="34" charset="0"/>
              </a:rPr>
              <a:t> by the fast evolving and innovative world of cloud, data, AI, connectivity, software, digital engineering and platforms. The Group reported in 2024 global revenues of €22.5 billion. </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856676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7482350" y="0"/>
            <a:ext cx="470965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4" name="Rectangle 3">
            <a:extLst>
              <a:ext uri="{FF2B5EF4-FFF2-40B4-BE49-F238E27FC236}">
                <a16:creationId xmlns:a16="http://schemas.microsoft.com/office/drawing/2014/main" id="{4A156AC9-F32B-55A8-6BFE-EEB622895484}"/>
              </a:ext>
            </a:extLst>
          </p:cNvPr>
          <p:cNvSpPr/>
          <p:nvPr userDrawn="1"/>
        </p:nvSpPr>
        <p:spPr>
          <a:xfrm rot="16200000">
            <a:off x="39633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262842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7482350" y="0"/>
            <a:ext cx="470965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4" name="Rectangle 3">
            <a:extLst>
              <a:ext uri="{FF2B5EF4-FFF2-40B4-BE49-F238E27FC236}">
                <a16:creationId xmlns:a16="http://schemas.microsoft.com/office/drawing/2014/main" id="{4A156AC9-F32B-55A8-6BFE-EEB622895484}"/>
              </a:ext>
            </a:extLst>
          </p:cNvPr>
          <p:cNvSpPr/>
          <p:nvPr userDrawn="1"/>
        </p:nvSpPr>
        <p:spPr>
          <a:xfrm rot="16200000">
            <a:off x="396335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Tree>
    <p:extLst>
      <p:ext uri="{BB962C8B-B14F-4D97-AF65-F5344CB8AC3E}">
        <p14:creationId xmlns:p14="http://schemas.microsoft.com/office/powerpoint/2010/main" val="2168948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21" name="Object 20"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4560118"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Data Lineage Stitching Agent | Capgemini Insights &amp; Data</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2198824091"/>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69" r:id="rId3"/>
    <p:sldLayoutId id="2147483673" r:id="rId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8" name="Grid" hidden="1">
            <a:extLst>
              <a:ext uri="{FF2B5EF4-FFF2-40B4-BE49-F238E27FC236}">
                <a16:creationId xmlns:a16="http://schemas.microsoft.com/office/drawing/2014/main" id="{024FD6E4-FB58-8F2C-4970-BA22F72B1E3B}"/>
              </a:ext>
            </a:extLst>
          </p:cNvPr>
          <p:cNvGrpSpPr/>
          <p:nvPr userDrawn="1"/>
        </p:nvGrpSpPr>
        <p:grpSpPr>
          <a:xfrm>
            <a:off x="549678" y="549274"/>
            <a:ext cx="11089753" cy="5770739"/>
            <a:chOff x="550863" y="-3545094"/>
            <a:chExt cx="9958051" cy="6550747"/>
          </a:xfrm>
        </p:grpSpPr>
        <p:sp>
          <p:nvSpPr>
            <p:cNvPr id="9" name="Rectangle 8">
              <a:extLst>
                <a:ext uri="{FF2B5EF4-FFF2-40B4-BE49-F238E27FC236}">
                  <a16:creationId xmlns:a16="http://schemas.microsoft.com/office/drawing/2014/main" id="{550FDF70-DD32-1C30-8509-4B8416759995}"/>
                </a:ext>
              </a:extLst>
            </p:cNvPr>
            <p:cNvSpPr/>
            <p:nvPr userDrawn="1"/>
          </p:nvSpPr>
          <p:spPr>
            <a:xfrm>
              <a:off x="55086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 name="Rectangle 9">
              <a:extLst>
                <a:ext uri="{FF2B5EF4-FFF2-40B4-BE49-F238E27FC236}">
                  <a16:creationId xmlns:a16="http://schemas.microsoft.com/office/drawing/2014/main" id="{95E3EC76-4D2A-6B22-2FC8-DEB33535899F}"/>
                </a:ext>
              </a:extLst>
            </p:cNvPr>
            <p:cNvSpPr/>
            <p:nvPr userDrawn="1"/>
          </p:nvSpPr>
          <p:spPr>
            <a:xfrm>
              <a:off x="1380744"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 name="Rectangle 10">
              <a:extLst>
                <a:ext uri="{FF2B5EF4-FFF2-40B4-BE49-F238E27FC236}">
                  <a16:creationId xmlns:a16="http://schemas.microsoft.com/office/drawing/2014/main" id="{D665C4FE-B8D2-47D7-732A-D32E72C4DC2F}"/>
                </a:ext>
              </a:extLst>
            </p:cNvPr>
            <p:cNvSpPr/>
            <p:nvPr userDrawn="1"/>
          </p:nvSpPr>
          <p:spPr>
            <a:xfrm>
              <a:off x="2210625"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 name="Rectangle 11">
              <a:extLst>
                <a:ext uri="{FF2B5EF4-FFF2-40B4-BE49-F238E27FC236}">
                  <a16:creationId xmlns:a16="http://schemas.microsoft.com/office/drawing/2014/main" id="{23ABFB77-D240-784B-E7C1-A94667A72F0F}"/>
                </a:ext>
              </a:extLst>
            </p:cNvPr>
            <p:cNvSpPr/>
            <p:nvPr userDrawn="1"/>
          </p:nvSpPr>
          <p:spPr>
            <a:xfrm>
              <a:off x="3040506"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 name="Rectangle 12">
              <a:extLst>
                <a:ext uri="{FF2B5EF4-FFF2-40B4-BE49-F238E27FC236}">
                  <a16:creationId xmlns:a16="http://schemas.microsoft.com/office/drawing/2014/main" id="{E12522DF-E08F-957C-8F43-714292E4AA64}"/>
                </a:ext>
              </a:extLst>
            </p:cNvPr>
            <p:cNvSpPr/>
            <p:nvPr userDrawn="1"/>
          </p:nvSpPr>
          <p:spPr>
            <a:xfrm>
              <a:off x="3870387"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 name="Rectangle 13">
              <a:extLst>
                <a:ext uri="{FF2B5EF4-FFF2-40B4-BE49-F238E27FC236}">
                  <a16:creationId xmlns:a16="http://schemas.microsoft.com/office/drawing/2014/main" id="{EA36BEEA-62B5-2C02-0517-050E15551A8C}"/>
                </a:ext>
              </a:extLst>
            </p:cNvPr>
            <p:cNvSpPr/>
            <p:nvPr userDrawn="1"/>
          </p:nvSpPr>
          <p:spPr>
            <a:xfrm>
              <a:off x="4700268"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 name="Rectangle 14">
              <a:extLst>
                <a:ext uri="{FF2B5EF4-FFF2-40B4-BE49-F238E27FC236}">
                  <a16:creationId xmlns:a16="http://schemas.microsoft.com/office/drawing/2014/main" id="{89F3BE4E-D290-6C1C-1631-98FE6534E64E}"/>
                </a:ext>
              </a:extLst>
            </p:cNvPr>
            <p:cNvSpPr/>
            <p:nvPr userDrawn="1"/>
          </p:nvSpPr>
          <p:spPr>
            <a:xfrm>
              <a:off x="5530149"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6" name="Rectangle 15">
              <a:extLst>
                <a:ext uri="{FF2B5EF4-FFF2-40B4-BE49-F238E27FC236}">
                  <a16:creationId xmlns:a16="http://schemas.microsoft.com/office/drawing/2014/main" id="{D57A5E90-7B26-0A9D-A9BE-F328C802CBB4}"/>
                </a:ext>
              </a:extLst>
            </p:cNvPr>
            <p:cNvSpPr/>
            <p:nvPr userDrawn="1"/>
          </p:nvSpPr>
          <p:spPr>
            <a:xfrm>
              <a:off x="636003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7" name="Rectangle 16">
              <a:extLst>
                <a:ext uri="{FF2B5EF4-FFF2-40B4-BE49-F238E27FC236}">
                  <a16:creationId xmlns:a16="http://schemas.microsoft.com/office/drawing/2014/main" id="{CFD194ED-3658-1487-7539-543325C92D81}"/>
                </a:ext>
              </a:extLst>
            </p:cNvPr>
            <p:cNvSpPr/>
            <p:nvPr userDrawn="1"/>
          </p:nvSpPr>
          <p:spPr>
            <a:xfrm>
              <a:off x="7189390"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8" name="Rectangle 17">
              <a:extLst>
                <a:ext uri="{FF2B5EF4-FFF2-40B4-BE49-F238E27FC236}">
                  <a16:creationId xmlns:a16="http://schemas.microsoft.com/office/drawing/2014/main" id="{60606FFE-CCC5-05EB-436F-A169395EA8BE}"/>
                </a:ext>
              </a:extLst>
            </p:cNvPr>
            <p:cNvSpPr/>
            <p:nvPr userDrawn="1"/>
          </p:nvSpPr>
          <p:spPr>
            <a:xfrm>
              <a:off x="8019271"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1" name="Rectangle 20">
              <a:extLst>
                <a:ext uri="{FF2B5EF4-FFF2-40B4-BE49-F238E27FC236}">
                  <a16:creationId xmlns:a16="http://schemas.microsoft.com/office/drawing/2014/main" id="{EC7881AE-ED36-4599-DA12-BF620AAD028E}"/>
                </a:ext>
              </a:extLst>
            </p:cNvPr>
            <p:cNvSpPr/>
            <p:nvPr userDrawn="1"/>
          </p:nvSpPr>
          <p:spPr>
            <a:xfrm>
              <a:off x="8849152"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3" name="Rectangle 22">
              <a:extLst>
                <a:ext uri="{FF2B5EF4-FFF2-40B4-BE49-F238E27FC236}">
                  <a16:creationId xmlns:a16="http://schemas.microsoft.com/office/drawing/2014/main" id="{72318C2D-D635-B205-B126-ECA9FA2FD297}"/>
                </a:ext>
              </a:extLst>
            </p:cNvPr>
            <p:cNvSpPr/>
            <p:nvPr userDrawn="1"/>
          </p:nvSpPr>
          <p:spPr>
            <a:xfrm>
              <a:off x="9679033" y="-354509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4" name="Rectangle 23">
              <a:extLst>
                <a:ext uri="{FF2B5EF4-FFF2-40B4-BE49-F238E27FC236}">
                  <a16:creationId xmlns:a16="http://schemas.microsoft.com/office/drawing/2014/main" id="{41F17CEE-5E02-A567-2574-160DEAAB4A9D}"/>
                </a:ext>
              </a:extLst>
            </p:cNvPr>
            <p:cNvSpPr/>
            <p:nvPr userDrawn="1"/>
          </p:nvSpPr>
          <p:spPr>
            <a:xfrm>
              <a:off x="55086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5" name="Rectangle 24">
              <a:extLst>
                <a:ext uri="{FF2B5EF4-FFF2-40B4-BE49-F238E27FC236}">
                  <a16:creationId xmlns:a16="http://schemas.microsoft.com/office/drawing/2014/main" id="{561965AB-8922-F724-CCF2-1D9199CEC171}"/>
                </a:ext>
              </a:extLst>
            </p:cNvPr>
            <p:cNvSpPr/>
            <p:nvPr userDrawn="1"/>
          </p:nvSpPr>
          <p:spPr>
            <a:xfrm>
              <a:off x="1380744"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6" name="Rectangle 25">
              <a:extLst>
                <a:ext uri="{FF2B5EF4-FFF2-40B4-BE49-F238E27FC236}">
                  <a16:creationId xmlns:a16="http://schemas.microsoft.com/office/drawing/2014/main" id="{B1E0028D-5314-38A6-B7F3-5C74FEBAF807}"/>
                </a:ext>
              </a:extLst>
            </p:cNvPr>
            <p:cNvSpPr/>
            <p:nvPr userDrawn="1"/>
          </p:nvSpPr>
          <p:spPr>
            <a:xfrm>
              <a:off x="2210625"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7" name="Rectangle 26">
              <a:extLst>
                <a:ext uri="{FF2B5EF4-FFF2-40B4-BE49-F238E27FC236}">
                  <a16:creationId xmlns:a16="http://schemas.microsoft.com/office/drawing/2014/main" id="{45D3C2B3-227F-3ED7-6E5C-AC6723C203A7}"/>
                </a:ext>
              </a:extLst>
            </p:cNvPr>
            <p:cNvSpPr/>
            <p:nvPr userDrawn="1"/>
          </p:nvSpPr>
          <p:spPr>
            <a:xfrm>
              <a:off x="3040506"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8" name="Rectangle 27">
              <a:extLst>
                <a:ext uri="{FF2B5EF4-FFF2-40B4-BE49-F238E27FC236}">
                  <a16:creationId xmlns:a16="http://schemas.microsoft.com/office/drawing/2014/main" id="{5DC24B5D-44E8-B14B-2C37-34F86BF626FF}"/>
                </a:ext>
              </a:extLst>
            </p:cNvPr>
            <p:cNvSpPr/>
            <p:nvPr userDrawn="1"/>
          </p:nvSpPr>
          <p:spPr>
            <a:xfrm>
              <a:off x="3870387"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0" name="Rectangle 29">
              <a:extLst>
                <a:ext uri="{FF2B5EF4-FFF2-40B4-BE49-F238E27FC236}">
                  <a16:creationId xmlns:a16="http://schemas.microsoft.com/office/drawing/2014/main" id="{48F07DCC-1CBF-D9CF-9530-592D3D86CAAB}"/>
                </a:ext>
              </a:extLst>
            </p:cNvPr>
            <p:cNvSpPr/>
            <p:nvPr userDrawn="1"/>
          </p:nvSpPr>
          <p:spPr>
            <a:xfrm>
              <a:off x="4700268"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1" name="Rectangle 30">
              <a:extLst>
                <a:ext uri="{FF2B5EF4-FFF2-40B4-BE49-F238E27FC236}">
                  <a16:creationId xmlns:a16="http://schemas.microsoft.com/office/drawing/2014/main" id="{D4714D3A-FA9D-5DFC-6786-D17EE37F3DF8}"/>
                </a:ext>
              </a:extLst>
            </p:cNvPr>
            <p:cNvSpPr/>
            <p:nvPr userDrawn="1"/>
          </p:nvSpPr>
          <p:spPr>
            <a:xfrm>
              <a:off x="5530149"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2" name="Rectangle 31">
              <a:extLst>
                <a:ext uri="{FF2B5EF4-FFF2-40B4-BE49-F238E27FC236}">
                  <a16:creationId xmlns:a16="http://schemas.microsoft.com/office/drawing/2014/main" id="{F86FCB8E-B958-7334-45DA-59837F83ECEA}"/>
                </a:ext>
              </a:extLst>
            </p:cNvPr>
            <p:cNvSpPr/>
            <p:nvPr userDrawn="1"/>
          </p:nvSpPr>
          <p:spPr>
            <a:xfrm>
              <a:off x="636003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3" name="Rectangle 32">
              <a:extLst>
                <a:ext uri="{FF2B5EF4-FFF2-40B4-BE49-F238E27FC236}">
                  <a16:creationId xmlns:a16="http://schemas.microsoft.com/office/drawing/2014/main" id="{79A401A3-6A37-BB6D-34E5-18A3DBB55680}"/>
                </a:ext>
              </a:extLst>
            </p:cNvPr>
            <p:cNvSpPr/>
            <p:nvPr userDrawn="1"/>
          </p:nvSpPr>
          <p:spPr>
            <a:xfrm>
              <a:off x="7189390"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4" name="Rectangle 33">
              <a:extLst>
                <a:ext uri="{FF2B5EF4-FFF2-40B4-BE49-F238E27FC236}">
                  <a16:creationId xmlns:a16="http://schemas.microsoft.com/office/drawing/2014/main" id="{4142E4B1-7CB0-57FD-AFFD-18880A13C128}"/>
                </a:ext>
              </a:extLst>
            </p:cNvPr>
            <p:cNvSpPr/>
            <p:nvPr userDrawn="1"/>
          </p:nvSpPr>
          <p:spPr>
            <a:xfrm>
              <a:off x="8019271"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6" name="Rectangle 35">
              <a:extLst>
                <a:ext uri="{FF2B5EF4-FFF2-40B4-BE49-F238E27FC236}">
                  <a16:creationId xmlns:a16="http://schemas.microsoft.com/office/drawing/2014/main" id="{305B723B-3852-A882-30C8-D3FA5FC13728}"/>
                </a:ext>
              </a:extLst>
            </p:cNvPr>
            <p:cNvSpPr/>
            <p:nvPr userDrawn="1"/>
          </p:nvSpPr>
          <p:spPr>
            <a:xfrm>
              <a:off x="8849152"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7" name="Rectangle 36">
              <a:extLst>
                <a:ext uri="{FF2B5EF4-FFF2-40B4-BE49-F238E27FC236}">
                  <a16:creationId xmlns:a16="http://schemas.microsoft.com/office/drawing/2014/main" id="{8A1864D4-4E4B-4DF1-E954-7B4BE053ED44}"/>
                </a:ext>
              </a:extLst>
            </p:cNvPr>
            <p:cNvSpPr/>
            <p:nvPr userDrawn="1"/>
          </p:nvSpPr>
          <p:spPr>
            <a:xfrm>
              <a:off x="9679033" y="-299923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9" name="Rectangle 38">
              <a:extLst>
                <a:ext uri="{FF2B5EF4-FFF2-40B4-BE49-F238E27FC236}">
                  <a16:creationId xmlns:a16="http://schemas.microsoft.com/office/drawing/2014/main" id="{35C1F88B-3DD3-A380-5D31-BF29753DE607}"/>
                </a:ext>
              </a:extLst>
            </p:cNvPr>
            <p:cNvSpPr/>
            <p:nvPr userDrawn="1"/>
          </p:nvSpPr>
          <p:spPr>
            <a:xfrm>
              <a:off x="55086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0" name="Rectangle 39">
              <a:extLst>
                <a:ext uri="{FF2B5EF4-FFF2-40B4-BE49-F238E27FC236}">
                  <a16:creationId xmlns:a16="http://schemas.microsoft.com/office/drawing/2014/main" id="{D8B35E34-4124-B73E-4852-EEBA52A61591}"/>
                </a:ext>
              </a:extLst>
            </p:cNvPr>
            <p:cNvSpPr/>
            <p:nvPr userDrawn="1"/>
          </p:nvSpPr>
          <p:spPr>
            <a:xfrm>
              <a:off x="1380744"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1" name="Rectangle 40">
              <a:extLst>
                <a:ext uri="{FF2B5EF4-FFF2-40B4-BE49-F238E27FC236}">
                  <a16:creationId xmlns:a16="http://schemas.microsoft.com/office/drawing/2014/main" id="{9AA64E5C-9C2F-BD49-CCC5-94F4EAAD0569}"/>
                </a:ext>
              </a:extLst>
            </p:cNvPr>
            <p:cNvSpPr/>
            <p:nvPr userDrawn="1"/>
          </p:nvSpPr>
          <p:spPr>
            <a:xfrm>
              <a:off x="2210625"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2" name="Rectangle 41">
              <a:extLst>
                <a:ext uri="{FF2B5EF4-FFF2-40B4-BE49-F238E27FC236}">
                  <a16:creationId xmlns:a16="http://schemas.microsoft.com/office/drawing/2014/main" id="{5971C0DE-464E-7790-941A-618384325814}"/>
                </a:ext>
              </a:extLst>
            </p:cNvPr>
            <p:cNvSpPr/>
            <p:nvPr userDrawn="1"/>
          </p:nvSpPr>
          <p:spPr>
            <a:xfrm>
              <a:off x="3040506"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3" name="Rectangle 42">
              <a:extLst>
                <a:ext uri="{FF2B5EF4-FFF2-40B4-BE49-F238E27FC236}">
                  <a16:creationId xmlns:a16="http://schemas.microsoft.com/office/drawing/2014/main" id="{EA0B2EF0-47BF-2B3E-09A6-4E4DD93E4E41}"/>
                </a:ext>
              </a:extLst>
            </p:cNvPr>
            <p:cNvSpPr/>
            <p:nvPr userDrawn="1"/>
          </p:nvSpPr>
          <p:spPr>
            <a:xfrm>
              <a:off x="3870387"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4" name="Rectangle 43">
              <a:extLst>
                <a:ext uri="{FF2B5EF4-FFF2-40B4-BE49-F238E27FC236}">
                  <a16:creationId xmlns:a16="http://schemas.microsoft.com/office/drawing/2014/main" id="{60A69866-4C0E-06B3-8C40-581FEBF5AC4F}"/>
                </a:ext>
              </a:extLst>
            </p:cNvPr>
            <p:cNvSpPr/>
            <p:nvPr userDrawn="1"/>
          </p:nvSpPr>
          <p:spPr>
            <a:xfrm>
              <a:off x="4700268"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5" name="Rectangle 44">
              <a:extLst>
                <a:ext uri="{FF2B5EF4-FFF2-40B4-BE49-F238E27FC236}">
                  <a16:creationId xmlns:a16="http://schemas.microsoft.com/office/drawing/2014/main" id="{A0C3F9A6-B205-A790-0852-055A5AD2E318}"/>
                </a:ext>
              </a:extLst>
            </p:cNvPr>
            <p:cNvSpPr/>
            <p:nvPr userDrawn="1"/>
          </p:nvSpPr>
          <p:spPr>
            <a:xfrm>
              <a:off x="5530149"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6" name="Rectangle 45">
              <a:extLst>
                <a:ext uri="{FF2B5EF4-FFF2-40B4-BE49-F238E27FC236}">
                  <a16:creationId xmlns:a16="http://schemas.microsoft.com/office/drawing/2014/main" id="{C4872B39-84DF-1E34-27CB-26396231A330}"/>
                </a:ext>
              </a:extLst>
            </p:cNvPr>
            <p:cNvSpPr/>
            <p:nvPr userDrawn="1"/>
          </p:nvSpPr>
          <p:spPr>
            <a:xfrm>
              <a:off x="636003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7" name="Rectangle 46">
              <a:extLst>
                <a:ext uri="{FF2B5EF4-FFF2-40B4-BE49-F238E27FC236}">
                  <a16:creationId xmlns:a16="http://schemas.microsoft.com/office/drawing/2014/main" id="{B874C177-5208-34F6-95D7-B9401D640324}"/>
                </a:ext>
              </a:extLst>
            </p:cNvPr>
            <p:cNvSpPr/>
            <p:nvPr userDrawn="1"/>
          </p:nvSpPr>
          <p:spPr>
            <a:xfrm>
              <a:off x="7189390"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8" name="Rectangle 47">
              <a:extLst>
                <a:ext uri="{FF2B5EF4-FFF2-40B4-BE49-F238E27FC236}">
                  <a16:creationId xmlns:a16="http://schemas.microsoft.com/office/drawing/2014/main" id="{10D6009D-FDF5-0250-FF79-A5F6A74BEC1C}"/>
                </a:ext>
              </a:extLst>
            </p:cNvPr>
            <p:cNvSpPr/>
            <p:nvPr userDrawn="1"/>
          </p:nvSpPr>
          <p:spPr>
            <a:xfrm>
              <a:off x="8019271"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9" name="Rectangle 48">
              <a:extLst>
                <a:ext uri="{FF2B5EF4-FFF2-40B4-BE49-F238E27FC236}">
                  <a16:creationId xmlns:a16="http://schemas.microsoft.com/office/drawing/2014/main" id="{75DA65E6-FCCA-E5A7-67B7-943AF9E614A3}"/>
                </a:ext>
              </a:extLst>
            </p:cNvPr>
            <p:cNvSpPr/>
            <p:nvPr userDrawn="1"/>
          </p:nvSpPr>
          <p:spPr>
            <a:xfrm>
              <a:off x="8849152"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0" name="Rectangle 49">
              <a:extLst>
                <a:ext uri="{FF2B5EF4-FFF2-40B4-BE49-F238E27FC236}">
                  <a16:creationId xmlns:a16="http://schemas.microsoft.com/office/drawing/2014/main" id="{4C52CDEC-D9AD-3191-ED71-17B6197AC802}"/>
                </a:ext>
              </a:extLst>
            </p:cNvPr>
            <p:cNvSpPr/>
            <p:nvPr userDrawn="1"/>
          </p:nvSpPr>
          <p:spPr>
            <a:xfrm>
              <a:off x="9679033" y="-245337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1" name="Rectangle 50">
              <a:extLst>
                <a:ext uri="{FF2B5EF4-FFF2-40B4-BE49-F238E27FC236}">
                  <a16:creationId xmlns:a16="http://schemas.microsoft.com/office/drawing/2014/main" id="{79B31F84-7B1D-1B38-3826-5273A6888B8A}"/>
                </a:ext>
              </a:extLst>
            </p:cNvPr>
            <p:cNvSpPr/>
            <p:nvPr userDrawn="1"/>
          </p:nvSpPr>
          <p:spPr>
            <a:xfrm>
              <a:off x="55086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2" name="Rectangle 51">
              <a:extLst>
                <a:ext uri="{FF2B5EF4-FFF2-40B4-BE49-F238E27FC236}">
                  <a16:creationId xmlns:a16="http://schemas.microsoft.com/office/drawing/2014/main" id="{3914E35A-30F5-BA65-B0C3-8FC6DF59E368}"/>
                </a:ext>
              </a:extLst>
            </p:cNvPr>
            <p:cNvSpPr/>
            <p:nvPr userDrawn="1"/>
          </p:nvSpPr>
          <p:spPr>
            <a:xfrm>
              <a:off x="1380744"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3" name="Rectangle 52">
              <a:extLst>
                <a:ext uri="{FF2B5EF4-FFF2-40B4-BE49-F238E27FC236}">
                  <a16:creationId xmlns:a16="http://schemas.microsoft.com/office/drawing/2014/main" id="{9BBE4EE0-9D8F-E6A3-312D-7029DEBAF8D2}"/>
                </a:ext>
              </a:extLst>
            </p:cNvPr>
            <p:cNvSpPr/>
            <p:nvPr userDrawn="1"/>
          </p:nvSpPr>
          <p:spPr>
            <a:xfrm>
              <a:off x="2210625"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4" name="Rectangle 53">
              <a:extLst>
                <a:ext uri="{FF2B5EF4-FFF2-40B4-BE49-F238E27FC236}">
                  <a16:creationId xmlns:a16="http://schemas.microsoft.com/office/drawing/2014/main" id="{FA85BB7F-2D0D-2553-D681-668EF747B673}"/>
                </a:ext>
              </a:extLst>
            </p:cNvPr>
            <p:cNvSpPr/>
            <p:nvPr userDrawn="1"/>
          </p:nvSpPr>
          <p:spPr>
            <a:xfrm>
              <a:off x="3040506"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5" name="Rectangle 54">
              <a:extLst>
                <a:ext uri="{FF2B5EF4-FFF2-40B4-BE49-F238E27FC236}">
                  <a16:creationId xmlns:a16="http://schemas.microsoft.com/office/drawing/2014/main" id="{5AC7D236-8860-BF5A-E3BE-E93965CBADCA}"/>
                </a:ext>
              </a:extLst>
            </p:cNvPr>
            <p:cNvSpPr/>
            <p:nvPr userDrawn="1"/>
          </p:nvSpPr>
          <p:spPr>
            <a:xfrm>
              <a:off x="3870387"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6" name="Rectangle 55">
              <a:extLst>
                <a:ext uri="{FF2B5EF4-FFF2-40B4-BE49-F238E27FC236}">
                  <a16:creationId xmlns:a16="http://schemas.microsoft.com/office/drawing/2014/main" id="{F6FEDBA3-F3BE-4CBC-F956-31BE59E1B4E1}"/>
                </a:ext>
              </a:extLst>
            </p:cNvPr>
            <p:cNvSpPr/>
            <p:nvPr userDrawn="1"/>
          </p:nvSpPr>
          <p:spPr>
            <a:xfrm>
              <a:off x="4700268"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7" name="Rectangle 56">
              <a:extLst>
                <a:ext uri="{FF2B5EF4-FFF2-40B4-BE49-F238E27FC236}">
                  <a16:creationId xmlns:a16="http://schemas.microsoft.com/office/drawing/2014/main" id="{363930BE-564B-67EB-1A5E-3B29529EDA21}"/>
                </a:ext>
              </a:extLst>
            </p:cNvPr>
            <p:cNvSpPr/>
            <p:nvPr userDrawn="1"/>
          </p:nvSpPr>
          <p:spPr>
            <a:xfrm>
              <a:off x="5530149"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8" name="Rectangle 57">
              <a:extLst>
                <a:ext uri="{FF2B5EF4-FFF2-40B4-BE49-F238E27FC236}">
                  <a16:creationId xmlns:a16="http://schemas.microsoft.com/office/drawing/2014/main" id="{9BC98667-548C-C79D-A830-FB332BF732A4}"/>
                </a:ext>
              </a:extLst>
            </p:cNvPr>
            <p:cNvSpPr/>
            <p:nvPr userDrawn="1"/>
          </p:nvSpPr>
          <p:spPr>
            <a:xfrm>
              <a:off x="636003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9" name="Rectangle 58">
              <a:extLst>
                <a:ext uri="{FF2B5EF4-FFF2-40B4-BE49-F238E27FC236}">
                  <a16:creationId xmlns:a16="http://schemas.microsoft.com/office/drawing/2014/main" id="{9040335B-568F-A40A-5EC9-41DCBC2EAB73}"/>
                </a:ext>
              </a:extLst>
            </p:cNvPr>
            <p:cNvSpPr/>
            <p:nvPr userDrawn="1"/>
          </p:nvSpPr>
          <p:spPr>
            <a:xfrm>
              <a:off x="7189390"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0" name="Rectangle 59">
              <a:extLst>
                <a:ext uri="{FF2B5EF4-FFF2-40B4-BE49-F238E27FC236}">
                  <a16:creationId xmlns:a16="http://schemas.microsoft.com/office/drawing/2014/main" id="{70D0376A-2F17-FCF7-1B1A-8E81D43838BF}"/>
                </a:ext>
              </a:extLst>
            </p:cNvPr>
            <p:cNvSpPr/>
            <p:nvPr userDrawn="1"/>
          </p:nvSpPr>
          <p:spPr>
            <a:xfrm>
              <a:off x="8019271"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1" name="Rectangle 60">
              <a:extLst>
                <a:ext uri="{FF2B5EF4-FFF2-40B4-BE49-F238E27FC236}">
                  <a16:creationId xmlns:a16="http://schemas.microsoft.com/office/drawing/2014/main" id="{ECD1A92E-FDB6-51B9-B276-B561ADFB7B01}"/>
                </a:ext>
              </a:extLst>
            </p:cNvPr>
            <p:cNvSpPr/>
            <p:nvPr userDrawn="1"/>
          </p:nvSpPr>
          <p:spPr>
            <a:xfrm>
              <a:off x="8849152"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2" name="Rectangle 61">
              <a:extLst>
                <a:ext uri="{FF2B5EF4-FFF2-40B4-BE49-F238E27FC236}">
                  <a16:creationId xmlns:a16="http://schemas.microsoft.com/office/drawing/2014/main" id="{66EC5AEC-46DD-E480-93E7-AE5D4777CA5D}"/>
                </a:ext>
              </a:extLst>
            </p:cNvPr>
            <p:cNvSpPr/>
            <p:nvPr userDrawn="1"/>
          </p:nvSpPr>
          <p:spPr>
            <a:xfrm>
              <a:off x="9679033" y="-1907508"/>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3" name="Rectangle 62">
              <a:extLst>
                <a:ext uri="{FF2B5EF4-FFF2-40B4-BE49-F238E27FC236}">
                  <a16:creationId xmlns:a16="http://schemas.microsoft.com/office/drawing/2014/main" id="{9685EB1F-230A-2414-A915-1C5EA19A5F75}"/>
                </a:ext>
              </a:extLst>
            </p:cNvPr>
            <p:cNvSpPr/>
            <p:nvPr userDrawn="1"/>
          </p:nvSpPr>
          <p:spPr>
            <a:xfrm>
              <a:off x="55086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4" name="Rectangle 63">
              <a:extLst>
                <a:ext uri="{FF2B5EF4-FFF2-40B4-BE49-F238E27FC236}">
                  <a16:creationId xmlns:a16="http://schemas.microsoft.com/office/drawing/2014/main" id="{BD4EF0B5-F6B6-0992-79AD-02F3D5D6FAA5}"/>
                </a:ext>
              </a:extLst>
            </p:cNvPr>
            <p:cNvSpPr/>
            <p:nvPr userDrawn="1"/>
          </p:nvSpPr>
          <p:spPr>
            <a:xfrm>
              <a:off x="1380744"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5" name="Rectangle 64">
              <a:extLst>
                <a:ext uri="{FF2B5EF4-FFF2-40B4-BE49-F238E27FC236}">
                  <a16:creationId xmlns:a16="http://schemas.microsoft.com/office/drawing/2014/main" id="{0A881D11-34EF-C3D4-1389-BADBA81D23C2}"/>
                </a:ext>
              </a:extLst>
            </p:cNvPr>
            <p:cNvSpPr/>
            <p:nvPr userDrawn="1"/>
          </p:nvSpPr>
          <p:spPr>
            <a:xfrm>
              <a:off x="2210625"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6" name="Rectangle 65">
              <a:extLst>
                <a:ext uri="{FF2B5EF4-FFF2-40B4-BE49-F238E27FC236}">
                  <a16:creationId xmlns:a16="http://schemas.microsoft.com/office/drawing/2014/main" id="{4AE42EB4-11B1-BD69-93E9-CD0FBFC7DB31}"/>
                </a:ext>
              </a:extLst>
            </p:cNvPr>
            <p:cNvSpPr/>
            <p:nvPr userDrawn="1"/>
          </p:nvSpPr>
          <p:spPr>
            <a:xfrm>
              <a:off x="3040506"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7" name="Rectangle 66">
              <a:extLst>
                <a:ext uri="{FF2B5EF4-FFF2-40B4-BE49-F238E27FC236}">
                  <a16:creationId xmlns:a16="http://schemas.microsoft.com/office/drawing/2014/main" id="{F8460494-2109-1730-97F3-E66D0BCA6C02}"/>
                </a:ext>
              </a:extLst>
            </p:cNvPr>
            <p:cNvSpPr/>
            <p:nvPr userDrawn="1"/>
          </p:nvSpPr>
          <p:spPr>
            <a:xfrm>
              <a:off x="3870387"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8" name="Rectangle 67">
              <a:extLst>
                <a:ext uri="{FF2B5EF4-FFF2-40B4-BE49-F238E27FC236}">
                  <a16:creationId xmlns:a16="http://schemas.microsoft.com/office/drawing/2014/main" id="{D29E103D-9633-7849-52C1-ED462B84C6CB}"/>
                </a:ext>
              </a:extLst>
            </p:cNvPr>
            <p:cNvSpPr/>
            <p:nvPr userDrawn="1"/>
          </p:nvSpPr>
          <p:spPr>
            <a:xfrm>
              <a:off x="4700268"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69" name="Rectangle 68">
              <a:extLst>
                <a:ext uri="{FF2B5EF4-FFF2-40B4-BE49-F238E27FC236}">
                  <a16:creationId xmlns:a16="http://schemas.microsoft.com/office/drawing/2014/main" id="{C4DF1ADD-F113-757B-D4C8-DE6F552913C2}"/>
                </a:ext>
              </a:extLst>
            </p:cNvPr>
            <p:cNvSpPr/>
            <p:nvPr userDrawn="1"/>
          </p:nvSpPr>
          <p:spPr>
            <a:xfrm>
              <a:off x="5530149"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0" name="Rectangle 69">
              <a:extLst>
                <a:ext uri="{FF2B5EF4-FFF2-40B4-BE49-F238E27FC236}">
                  <a16:creationId xmlns:a16="http://schemas.microsoft.com/office/drawing/2014/main" id="{C02B09A4-6412-DEAE-95CF-0F1F00F9191C}"/>
                </a:ext>
              </a:extLst>
            </p:cNvPr>
            <p:cNvSpPr/>
            <p:nvPr userDrawn="1"/>
          </p:nvSpPr>
          <p:spPr>
            <a:xfrm>
              <a:off x="636003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1" name="Rectangle 70">
              <a:extLst>
                <a:ext uri="{FF2B5EF4-FFF2-40B4-BE49-F238E27FC236}">
                  <a16:creationId xmlns:a16="http://schemas.microsoft.com/office/drawing/2014/main" id="{F8F2C86A-4D47-E9DF-B891-F81B07032AAF}"/>
                </a:ext>
              </a:extLst>
            </p:cNvPr>
            <p:cNvSpPr/>
            <p:nvPr userDrawn="1"/>
          </p:nvSpPr>
          <p:spPr>
            <a:xfrm>
              <a:off x="7189390"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2" name="Rectangle 71">
              <a:extLst>
                <a:ext uri="{FF2B5EF4-FFF2-40B4-BE49-F238E27FC236}">
                  <a16:creationId xmlns:a16="http://schemas.microsoft.com/office/drawing/2014/main" id="{31E3B042-602F-649F-28FE-CC4549DCAB2B}"/>
                </a:ext>
              </a:extLst>
            </p:cNvPr>
            <p:cNvSpPr/>
            <p:nvPr userDrawn="1"/>
          </p:nvSpPr>
          <p:spPr>
            <a:xfrm>
              <a:off x="8019271"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3" name="Rectangle 72">
              <a:extLst>
                <a:ext uri="{FF2B5EF4-FFF2-40B4-BE49-F238E27FC236}">
                  <a16:creationId xmlns:a16="http://schemas.microsoft.com/office/drawing/2014/main" id="{F03B8344-FBE8-C515-96E7-17BD0BA878E5}"/>
                </a:ext>
              </a:extLst>
            </p:cNvPr>
            <p:cNvSpPr/>
            <p:nvPr userDrawn="1"/>
          </p:nvSpPr>
          <p:spPr>
            <a:xfrm>
              <a:off x="8849152"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4" name="Rectangle 73">
              <a:extLst>
                <a:ext uri="{FF2B5EF4-FFF2-40B4-BE49-F238E27FC236}">
                  <a16:creationId xmlns:a16="http://schemas.microsoft.com/office/drawing/2014/main" id="{F5DD76EA-A309-43B0-4583-323113F5D47E}"/>
                </a:ext>
              </a:extLst>
            </p:cNvPr>
            <p:cNvSpPr/>
            <p:nvPr userDrawn="1"/>
          </p:nvSpPr>
          <p:spPr>
            <a:xfrm>
              <a:off x="9679033" y="-1361646"/>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5" name="Rectangle 74">
              <a:extLst>
                <a:ext uri="{FF2B5EF4-FFF2-40B4-BE49-F238E27FC236}">
                  <a16:creationId xmlns:a16="http://schemas.microsoft.com/office/drawing/2014/main" id="{F937B8FA-0BE9-4393-8775-5ADF8A8C6A67}"/>
                </a:ext>
              </a:extLst>
            </p:cNvPr>
            <p:cNvSpPr/>
            <p:nvPr userDrawn="1"/>
          </p:nvSpPr>
          <p:spPr>
            <a:xfrm>
              <a:off x="55086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6" name="Rectangle 75">
              <a:extLst>
                <a:ext uri="{FF2B5EF4-FFF2-40B4-BE49-F238E27FC236}">
                  <a16:creationId xmlns:a16="http://schemas.microsoft.com/office/drawing/2014/main" id="{D43974A4-4A7E-0F9A-FFC3-C647B6216A4F}"/>
                </a:ext>
              </a:extLst>
            </p:cNvPr>
            <p:cNvSpPr/>
            <p:nvPr userDrawn="1"/>
          </p:nvSpPr>
          <p:spPr>
            <a:xfrm>
              <a:off x="1380744"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7" name="Rectangle 76">
              <a:extLst>
                <a:ext uri="{FF2B5EF4-FFF2-40B4-BE49-F238E27FC236}">
                  <a16:creationId xmlns:a16="http://schemas.microsoft.com/office/drawing/2014/main" id="{C24137E1-BCBB-B634-C04B-30D2DB6340AC}"/>
                </a:ext>
              </a:extLst>
            </p:cNvPr>
            <p:cNvSpPr/>
            <p:nvPr userDrawn="1"/>
          </p:nvSpPr>
          <p:spPr>
            <a:xfrm>
              <a:off x="2210625"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8" name="Rectangle 77">
              <a:extLst>
                <a:ext uri="{FF2B5EF4-FFF2-40B4-BE49-F238E27FC236}">
                  <a16:creationId xmlns:a16="http://schemas.microsoft.com/office/drawing/2014/main" id="{040D179E-DCFB-2B04-1816-A0DA58979AB7}"/>
                </a:ext>
              </a:extLst>
            </p:cNvPr>
            <p:cNvSpPr/>
            <p:nvPr userDrawn="1"/>
          </p:nvSpPr>
          <p:spPr>
            <a:xfrm>
              <a:off x="3040506"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79" name="Rectangle 78">
              <a:extLst>
                <a:ext uri="{FF2B5EF4-FFF2-40B4-BE49-F238E27FC236}">
                  <a16:creationId xmlns:a16="http://schemas.microsoft.com/office/drawing/2014/main" id="{F25A50D3-9254-6B06-E6E5-548D822F9E9D}"/>
                </a:ext>
              </a:extLst>
            </p:cNvPr>
            <p:cNvSpPr/>
            <p:nvPr userDrawn="1"/>
          </p:nvSpPr>
          <p:spPr>
            <a:xfrm>
              <a:off x="3870387"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0" name="Rectangle 79">
              <a:extLst>
                <a:ext uri="{FF2B5EF4-FFF2-40B4-BE49-F238E27FC236}">
                  <a16:creationId xmlns:a16="http://schemas.microsoft.com/office/drawing/2014/main" id="{4C05021C-D713-B633-F62D-333D95CF0061}"/>
                </a:ext>
              </a:extLst>
            </p:cNvPr>
            <p:cNvSpPr/>
            <p:nvPr userDrawn="1"/>
          </p:nvSpPr>
          <p:spPr>
            <a:xfrm>
              <a:off x="4700268"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1" name="Rectangle 80">
              <a:extLst>
                <a:ext uri="{FF2B5EF4-FFF2-40B4-BE49-F238E27FC236}">
                  <a16:creationId xmlns:a16="http://schemas.microsoft.com/office/drawing/2014/main" id="{538AE4D1-CAA6-347C-23A7-A8D687674A19}"/>
                </a:ext>
              </a:extLst>
            </p:cNvPr>
            <p:cNvSpPr/>
            <p:nvPr userDrawn="1"/>
          </p:nvSpPr>
          <p:spPr>
            <a:xfrm>
              <a:off x="5530149"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2" name="Rectangle 81">
              <a:extLst>
                <a:ext uri="{FF2B5EF4-FFF2-40B4-BE49-F238E27FC236}">
                  <a16:creationId xmlns:a16="http://schemas.microsoft.com/office/drawing/2014/main" id="{65BC94F4-E69E-5C2B-DB4B-BDE4B09DBABF}"/>
                </a:ext>
              </a:extLst>
            </p:cNvPr>
            <p:cNvSpPr/>
            <p:nvPr userDrawn="1"/>
          </p:nvSpPr>
          <p:spPr>
            <a:xfrm>
              <a:off x="636003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3" name="Rectangle 82">
              <a:extLst>
                <a:ext uri="{FF2B5EF4-FFF2-40B4-BE49-F238E27FC236}">
                  <a16:creationId xmlns:a16="http://schemas.microsoft.com/office/drawing/2014/main" id="{13C64B6D-D664-1C5E-CF4B-785885995AB7}"/>
                </a:ext>
              </a:extLst>
            </p:cNvPr>
            <p:cNvSpPr/>
            <p:nvPr userDrawn="1"/>
          </p:nvSpPr>
          <p:spPr>
            <a:xfrm>
              <a:off x="7189390"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4" name="Rectangle 83">
              <a:extLst>
                <a:ext uri="{FF2B5EF4-FFF2-40B4-BE49-F238E27FC236}">
                  <a16:creationId xmlns:a16="http://schemas.microsoft.com/office/drawing/2014/main" id="{2BA4D5DE-C552-59DC-4F49-A9920F46E592}"/>
                </a:ext>
              </a:extLst>
            </p:cNvPr>
            <p:cNvSpPr/>
            <p:nvPr userDrawn="1"/>
          </p:nvSpPr>
          <p:spPr>
            <a:xfrm>
              <a:off x="8019271"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5" name="Rectangle 84">
              <a:extLst>
                <a:ext uri="{FF2B5EF4-FFF2-40B4-BE49-F238E27FC236}">
                  <a16:creationId xmlns:a16="http://schemas.microsoft.com/office/drawing/2014/main" id="{34D3B8B2-3385-2BB7-2228-2FBD28F04E40}"/>
                </a:ext>
              </a:extLst>
            </p:cNvPr>
            <p:cNvSpPr/>
            <p:nvPr userDrawn="1"/>
          </p:nvSpPr>
          <p:spPr>
            <a:xfrm>
              <a:off x="8849152"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6" name="Rectangle 85">
              <a:extLst>
                <a:ext uri="{FF2B5EF4-FFF2-40B4-BE49-F238E27FC236}">
                  <a16:creationId xmlns:a16="http://schemas.microsoft.com/office/drawing/2014/main" id="{55823E0B-EA1F-A558-CB38-65AF8CF872C4}"/>
                </a:ext>
              </a:extLst>
            </p:cNvPr>
            <p:cNvSpPr/>
            <p:nvPr userDrawn="1"/>
          </p:nvSpPr>
          <p:spPr>
            <a:xfrm>
              <a:off x="9679033" y="-815784"/>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7" name="Rectangle 86">
              <a:extLst>
                <a:ext uri="{FF2B5EF4-FFF2-40B4-BE49-F238E27FC236}">
                  <a16:creationId xmlns:a16="http://schemas.microsoft.com/office/drawing/2014/main" id="{30803956-5660-0992-4D14-BE6FE9828F47}"/>
                </a:ext>
              </a:extLst>
            </p:cNvPr>
            <p:cNvSpPr/>
            <p:nvPr userDrawn="1"/>
          </p:nvSpPr>
          <p:spPr>
            <a:xfrm>
              <a:off x="55086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8" name="Rectangle 87">
              <a:extLst>
                <a:ext uri="{FF2B5EF4-FFF2-40B4-BE49-F238E27FC236}">
                  <a16:creationId xmlns:a16="http://schemas.microsoft.com/office/drawing/2014/main" id="{4116F6EF-71AC-D394-CCE2-C84341C7B6AA}"/>
                </a:ext>
              </a:extLst>
            </p:cNvPr>
            <p:cNvSpPr/>
            <p:nvPr userDrawn="1"/>
          </p:nvSpPr>
          <p:spPr>
            <a:xfrm>
              <a:off x="1380744"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89" name="Rectangle 88">
              <a:extLst>
                <a:ext uri="{FF2B5EF4-FFF2-40B4-BE49-F238E27FC236}">
                  <a16:creationId xmlns:a16="http://schemas.microsoft.com/office/drawing/2014/main" id="{CDAD2361-B7DA-C5FB-AC7E-F8C9035B460C}"/>
                </a:ext>
              </a:extLst>
            </p:cNvPr>
            <p:cNvSpPr/>
            <p:nvPr userDrawn="1"/>
          </p:nvSpPr>
          <p:spPr>
            <a:xfrm>
              <a:off x="2210625"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0" name="Rectangle 89">
              <a:extLst>
                <a:ext uri="{FF2B5EF4-FFF2-40B4-BE49-F238E27FC236}">
                  <a16:creationId xmlns:a16="http://schemas.microsoft.com/office/drawing/2014/main" id="{D509E2B2-0C14-D4D7-8C75-848F52276A94}"/>
                </a:ext>
              </a:extLst>
            </p:cNvPr>
            <p:cNvSpPr/>
            <p:nvPr userDrawn="1"/>
          </p:nvSpPr>
          <p:spPr>
            <a:xfrm>
              <a:off x="3040506"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1" name="Rectangle 90">
              <a:extLst>
                <a:ext uri="{FF2B5EF4-FFF2-40B4-BE49-F238E27FC236}">
                  <a16:creationId xmlns:a16="http://schemas.microsoft.com/office/drawing/2014/main" id="{AF117176-97E0-3DE1-6B8D-53ED6570D628}"/>
                </a:ext>
              </a:extLst>
            </p:cNvPr>
            <p:cNvSpPr/>
            <p:nvPr userDrawn="1"/>
          </p:nvSpPr>
          <p:spPr>
            <a:xfrm>
              <a:off x="3870387"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2" name="Rectangle 91">
              <a:extLst>
                <a:ext uri="{FF2B5EF4-FFF2-40B4-BE49-F238E27FC236}">
                  <a16:creationId xmlns:a16="http://schemas.microsoft.com/office/drawing/2014/main" id="{E1C6EC84-A36B-0F0D-9314-57EFE6373608}"/>
                </a:ext>
              </a:extLst>
            </p:cNvPr>
            <p:cNvSpPr/>
            <p:nvPr userDrawn="1"/>
          </p:nvSpPr>
          <p:spPr>
            <a:xfrm>
              <a:off x="4700268"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3" name="Rectangle 92">
              <a:extLst>
                <a:ext uri="{FF2B5EF4-FFF2-40B4-BE49-F238E27FC236}">
                  <a16:creationId xmlns:a16="http://schemas.microsoft.com/office/drawing/2014/main" id="{4DB48AF2-4ACC-EF77-B3B6-9AC433B88C0F}"/>
                </a:ext>
              </a:extLst>
            </p:cNvPr>
            <p:cNvSpPr/>
            <p:nvPr userDrawn="1"/>
          </p:nvSpPr>
          <p:spPr>
            <a:xfrm>
              <a:off x="5530149"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4" name="Rectangle 93">
              <a:extLst>
                <a:ext uri="{FF2B5EF4-FFF2-40B4-BE49-F238E27FC236}">
                  <a16:creationId xmlns:a16="http://schemas.microsoft.com/office/drawing/2014/main" id="{107BBF5D-517C-2047-999B-7BCF6C4BF579}"/>
                </a:ext>
              </a:extLst>
            </p:cNvPr>
            <p:cNvSpPr/>
            <p:nvPr userDrawn="1"/>
          </p:nvSpPr>
          <p:spPr>
            <a:xfrm>
              <a:off x="636003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5" name="Rectangle 94">
              <a:extLst>
                <a:ext uri="{FF2B5EF4-FFF2-40B4-BE49-F238E27FC236}">
                  <a16:creationId xmlns:a16="http://schemas.microsoft.com/office/drawing/2014/main" id="{5ECB1738-AE0B-4A8C-EF62-312E912C4148}"/>
                </a:ext>
              </a:extLst>
            </p:cNvPr>
            <p:cNvSpPr/>
            <p:nvPr userDrawn="1"/>
          </p:nvSpPr>
          <p:spPr>
            <a:xfrm>
              <a:off x="7189390"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6" name="Rectangle 95">
              <a:extLst>
                <a:ext uri="{FF2B5EF4-FFF2-40B4-BE49-F238E27FC236}">
                  <a16:creationId xmlns:a16="http://schemas.microsoft.com/office/drawing/2014/main" id="{F7A7E216-0B18-C0A4-CF7A-95D9984272E3}"/>
                </a:ext>
              </a:extLst>
            </p:cNvPr>
            <p:cNvSpPr/>
            <p:nvPr userDrawn="1"/>
          </p:nvSpPr>
          <p:spPr>
            <a:xfrm>
              <a:off x="8019271"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7" name="Rectangle 96">
              <a:extLst>
                <a:ext uri="{FF2B5EF4-FFF2-40B4-BE49-F238E27FC236}">
                  <a16:creationId xmlns:a16="http://schemas.microsoft.com/office/drawing/2014/main" id="{C8DFCF12-EDB3-52CC-AFC4-B4E6E09913FA}"/>
                </a:ext>
              </a:extLst>
            </p:cNvPr>
            <p:cNvSpPr/>
            <p:nvPr userDrawn="1"/>
          </p:nvSpPr>
          <p:spPr>
            <a:xfrm>
              <a:off x="8849152"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8" name="Rectangle 97">
              <a:extLst>
                <a:ext uri="{FF2B5EF4-FFF2-40B4-BE49-F238E27FC236}">
                  <a16:creationId xmlns:a16="http://schemas.microsoft.com/office/drawing/2014/main" id="{3CF3B04D-837D-F9F4-61A2-BEB075F74A30}"/>
                </a:ext>
              </a:extLst>
            </p:cNvPr>
            <p:cNvSpPr/>
            <p:nvPr userDrawn="1"/>
          </p:nvSpPr>
          <p:spPr>
            <a:xfrm>
              <a:off x="9679033" y="-269922"/>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99" name="Rectangle 98">
              <a:extLst>
                <a:ext uri="{FF2B5EF4-FFF2-40B4-BE49-F238E27FC236}">
                  <a16:creationId xmlns:a16="http://schemas.microsoft.com/office/drawing/2014/main" id="{7C1A5E9C-A13B-B7DA-FD80-DBAB2096ABBD}"/>
                </a:ext>
              </a:extLst>
            </p:cNvPr>
            <p:cNvSpPr/>
            <p:nvPr userDrawn="1"/>
          </p:nvSpPr>
          <p:spPr>
            <a:xfrm>
              <a:off x="55086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0" name="Rectangle 99">
              <a:extLst>
                <a:ext uri="{FF2B5EF4-FFF2-40B4-BE49-F238E27FC236}">
                  <a16:creationId xmlns:a16="http://schemas.microsoft.com/office/drawing/2014/main" id="{01F6E319-5213-302C-9F95-741AB6ABDC2E}"/>
                </a:ext>
              </a:extLst>
            </p:cNvPr>
            <p:cNvSpPr/>
            <p:nvPr userDrawn="1"/>
          </p:nvSpPr>
          <p:spPr>
            <a:xfrm>
              <a:off x="1380744"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1" name="Rectangle 100">
              <a:extLst>
                <a:ext uri="{FF2B5EF4-FFF2-40B4-BE49-F238E27FC236}">
                  <a16:creationId xmlns:a16="http://schemas.microsoft.com/office/drawing/2014/main" id="{3D2A336C-BE03-9509-DF11-BAC9902C7089}"/>
                </a:ext>
              </a:extLst>
            </p:cNvPr>
            <p:cNvSpPr/>
            <p:nvPr userDrawn="1"/>
          </p:nvSpPr>
          <p:spPr>
            <a:xfrm>
              <a:off x="2210625"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2" name="Rectangle 101">
              <a:extLst>
                <a:ext uri="{FF2B5EF4-FFF2-40B4-BE49-F238E27FC236}">
                  <a16:creationId xmlns:a16="http://schemas.microsoft.com/office/drawing/2014/main" id="{0047AC78-183E-FA01-5C36-C0FA9F7110AB}"/>
                </a:ext>
              </a:extLst>
            </p:cNvPr>
            <p:cNvSpPr/>
            <p:nvPr userDrawn="1"/>
          </p:nvSpPr>
          <p:spPr>
            <a:xfrm>
              <a:off x="3040506"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3" name="Rectangle 102">
              <a:extLst>
                <a:ext uri="{FF2B5EF4-FFF2-40B4-BE49-F238E27FC236}">
                  <a16:creationId xmlns:a16="http://schemas.microsoft.com/office/drawing/2014/main" id="{620D71B8-424C-C9B3-D209-20353B95E251}"/>
                </a:ext>
              </a:extLst>
            </p:cNvPr>
            <p:cNvSpPr/>
            <p:nvPr userDrawn="1"/>
          </p:nvSpPr>
          <p:spPr>
            <a:xfrm>
              <a:off x="3870387"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4" name="Rectangle 103">
              <a:extLst>
                <a:ext uri="{FF2B5EF4-FFF2-40B4-BE49-F238E27FC236}">
                  <a16:creationId xmlns:a16="http://schemas.microsoft.com/office/drawing/2014/main" id="{C64960E9-701D-9CD4-3E8E-A81F22A8D68B}"/>
                </a:ext>
              </a:extLst>
            </p:cNvPr>
            <p:cNvSpPr/>
            <p:nvPr userDrawn="1"/>
          </p:nvSpPr>
          <p:spPr>
            <a:xfrm>
              <a:off x="4700268"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5" name="Rectangle 104">
              <a:extLst>
                <a:ext uri="{FF2B5EF4-FFF2-40B4-BE49-F238E27FC236}">
                  <a16:creationId xmlns:a16="http://schemas.microsoft.com/office/drawing/2014/main" id="{71FD9FC2-D26D-35BB-9E1D-295DC5BAB1CD}"/>
                </a:ext>
              </a:extLst>
            </p:cNvPr>
            <p:cNvSpPr/>
            <p:nvPr userDrawn="1"/>
          </p:nvSpPr>
          <p:spPr>
            <a:xfrm>
              <a:off x="5530149"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6" name="Rectangle 105">
              <a:extLst>
                <a:ext uri="{FF2B5EF4-FFF2-40B4-BE49-F238E27FC236}">
                  <a16:creationId xmlns:a16="http://schemas.microsoft.com/office/drawing/2014/main" id="{2E8F9C9D-234A-1FE1-0550-7637634C31F2}"/>
                </a:ext>
              </a:extLst>
            </p:cNvPr>
            <p:cNvSpPr/>
            <p:nvPr userDrawn="1"/>
          </p:nvSpPr>
          <p:spPr>
            <a:xfrm>
              <a:off x="636003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7" name="Rectangle 106">
              <a:extLst>
                <a:ext uri="{FF2B5EF4-FFF2-40B4-BE49-F238E27FC236}">
                  <a16:creationId xmlns:a16="http://schemas.microsoft.com/office/drawing/2014/main" id="{70B021DA-E537-9B3E-C248-6BE624729222}"/>
                </a:ext>
              </a:extLst>
            </p:cNvPr>
            <p:cNvSpPr/>
            <p:nvPr userDrawn="1"/>
          </p:nvSpPr>
          <p:spPr>
            <a:xfrm>
              <a:off x="7189390"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8" name="Rectangle 107">
              <a:extLst>
                <a:ext uri="{FF2B5EF4-FFF2-40B4-BE49-F238E27FC236}">
                  <a16:creationId xmlns:a16="http://schemas.microsoft.com/office/drawing/2014/main" id="{310472D5-8CC2-2B37-04B4-38ABDF4DF73D}"/>
                </a:ext>
              </a:extLst>
            </p:cNvPr>
            <p:cNvSpPr/>
            <p:nvPr userDrawn="1"/>
          </p:nvSpPr>
          <p:spPr>
            <a:xfrm>
              <a:off x="8019271"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09" name="Rectangle 108">
              <a:extLst>
                <a:ext uri="{FF2B5EF4-FFF2-40B4-BE49-F238E27FC236}">
                  <a16:creationId xmlns:a16="http://schemas.microsoft.com/office/drawing/2014/main" id="{56AB6E63-0B57-5E2E-AFFB-72FFAC2FCB26}"/>
                </a:ext>
              </a:extLst>
            </p:cNvPr>
            <p:cNvSpPr/>
            <p:nvPr userDrawn="1"/>
          </p:nvSpPr>
          <p:spPr>
            <a:xfrm>
              <a:off x="8849152"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0" name="Rectangle 109">
              <a:extLst>
                <a:ext uri="{FF2B5EF4-FFF2-40B4-BE49-F238E27FC236}">
                  <a16:creationId xmlns:a16="http://schemas.microsoft.com/office/drawing/2014/main" id="{142EE9A1-0484-F1F3-B8C0-1B7DB70D6B41}"/>
                </a:ext>
              </a:extLst>
            </p:cNvPr>
            <p:cNvSpPr/>
            <p:nvPr userDrawn="1"/>
          </p:nvSpPr>
          <p:spPr>
            <a:xfrm>
              <a:off x="9679033" y="275940"/>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1" name="Rectangle 110">
              <a:extLst>
                <a:ext uri="{FF2B5EF4-FFF2-40B4-BE49-F238E27FC236}">
                  <a16:creationId xmlns:a16="http://schemas.microsoft.com/office/drawing/2014/main" id="{88F3ED68-BAE0-5B85-11AE-B41278C49760}"/>
                </a:ext>
              </a:extLst>
            </p:cNvPr>
            <p:cNvSpPr/>
            <p:nvPr userDrawn="1"/>
          </p:nvSpPr>
          <p:spPr>
            <a:xfrm>
              <a:off x="55086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2" name="Rectangle 111">
              <a:extLst>
                <a:ext uri="{FF2B5EF4-FFF2-40B4-BE49-F238E27FC236}">
                  <a16:creationId xmlns:a16="http://schemas.microsoft.com/office/drawing/2014/main" id="{F144D14E-9595-A602-7CD9-B927F83153ED}"/>
                </a:ext>
              </a:extLst>
            </p:cNvPr>
            <p:cNvSpPr/>
            <p:nvPr userDrawn="1"/>
          </p:nvSpPr>
          <p:spPr>
            <a:xfrm>
              <a:off x="1380744"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3" name="Rectangle 112">
              <a:extLst>
                <a:ext uri="{FF2B5EF4-FFF2-40B4-BE49-F238E27FC236}">
                  <a16:creationId xmlns:a16="http://schemas.microsoft.com/office/drawing/2014/main" id="{154212D0-B58B-DE17-F04C-2F97E6643B91}"/>
                </a:ext>
              </a:extLst>
            </p:cNvPr>
            <p:cNvSpPr/>
            <p:nvPr userDrawn="1"/>
          </p:nvSpPr>
          <p:spPr>
            <a:xfrm>
              <a:off x="2210625"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4" name="Rectangle 113">
              <a:extLst>
                <a:ext uri="{FF2B5EF4-FFF2-40B4-BE49-F238E27FC236}">
                  <a16:creationId xmlns:a16="http://schemas.microsoft.com/office/drawing/2014/main" id="{87E2CCF6-27A9-72D1-426B-D8106D1D3AF9}"/>
                </a:ext>
              </a:extLst>
            </p:cNvPr>
            <p:cNvSpPr/>
            <p:nvPr userDrawn="1"/>
          </p:nvSpPr>
          <p:spPr>
            <a:xfrm>
              <a:off x="3040506"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5" name="Rectangle 114">
              <a:extLst>
                <a:ext uri="{FF2B5EF4-FFF2-40B4-BE49-F238E27FC236}">
                  <a16:creationId xmlns:a16="http://schemas.microsoft.com/office/drawing/2014/main" id="{0E7AD08B-2423-2ED9-B5A6-E4AC6BF6C001}"/>
                </a:ext>
              </a:extLst>
            </p:cNvPr>
            <p:cNvSpPr/>
            <p:nvPr userDrawn="1"/>
          </p:nvSpPr>
          <p:spPr>
            <a:xfrm>
              <a:off x="3870387"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6" name="Rectangle 115">
              <a:extLst>
                <a:ext uri="{FF2B5EF4-FFF2-40B4-BE49-F238E27FC236}">
                  <a16:creationId xmlns:a16="http://schemas.microsoft.com/office/drawing/2014/main" id="{40E8A0EF-44C8-980F-AFFA-90EECB2CDEDD}"/>
                </a:ext>
              </a:extLst>
            </p:cNvPr>
            <p:cNvSpPr/>
            <p:nvPr userDrawn="1"/>
          </p:nvSpPr>
          <p:spPr>
            <a:xfrm>
              <a:off x="4700268"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7" name="Rectangle 116">
              <a:extLst>
                <a:ext uri="{FF2B5EF4-FFF2-40B4-BE49-F238E27FC236}">
                  <a16:creationId xmlns:a16="http://schemas.microsoft.com/office/drawing/2014/main" id="{37E19965-AB4F-378B-4F00-1E4D150A4EF1}"/>
                </a:ext>
              </a:extLst>
            </p:cNvPr>
            <p:cNvSpPr/>
            <p:nvPr userDrawn="1"/>
          </p:nvSpPr>
          <p:spPr>
            <a:xfrm>
              <a:off x="5530149"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8" name="Rectangle 117">
              <a:extLst>
                <a:ext uri="{FF2B5EF4-FFF2-40B4-BE49-F238E27FC236}">
                  <a16:creationId xmlns:a16="http://schemas.microsoft.com/office/drawing/2014/main" id="{6501AA77-791B-7EB8-DB59-85DA8531D2B5}"/>
                </a:ext>
              </a:extLst>
            </p:cNvPr>
            <p:cNvSpPr/>
            <p:nvPr userDrawn="1"/>
          </p:nvSpPr>
          <p:spPr>
            <a:xfrm>
              <a:off x="636003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19" name="Rectangle 118">
              <a:extLst>
                <a:ext uri="{FF2B5EF4-FFF2-40B4-BE49-F238E27FC236}">
                  <a16:creationId xmlns:a16="http://schemas.microsoft.com/office/drawing/2014/main" id="{B918BAC9-790A-51EA-ECDA-4EEDA512AB63}"/>
                </a:ext>
              </a:extLst>
            </p:cNvPr>
            <p:cNvSpPr/>
            <p:nvPr userDrawn="1"/>
          </p:nvSpPr>
          <p:spPr>
            <a:xfrm>
              <a:off x="7189390"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0" name="Rectangle 119">
              <a:extLst>
                <a:ext uri="{FF2B5EF4-FFF2-40B4-BE49-F238E27FC236}">
                  <a16:creationId xmlns:a16="http://schemas.microsoft.com/office/drawing/2014/main" id="{A5ED0249-E6B1-AABD-B17C-0C00A2F3DA57}"/>
                </a:ext>
              </a:extLst>
            </p:cNvPr>
            <p:cNvSpPr/>
            <p:nvPr userDrawn="1"/>
          </p:nvSpPr>
          <p:spPr>
            <a:xfrm>
              <a:off x="8019271"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1" name="Rectangle 120">
              <a:extLst>
                <a:ext uri="{FF2B5EF4-FFF2-40B4-BE49-F238E27FC236}">
                  <a16:creationId xmlns:a16="http://schemas.microsoft.com/office/drawing/2014/main" id="{1B1113B6-A649-C9ED-CA11-26988BCA92D2}"/>
                </a:ext>
              </a:extLst>
            </p:cNvPr>
            <p:cNvSpPr/>
            <p:nvPr userDrawn="1"/>
          </p:nvSpPr>
          <p:spPr>
            <a:xfrm>
              <a:off x="8849152"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2" name="Rectangle 121">
              <a:extLst>
                <a:ext uri="{FF2B5EF4-FFF2-40B4-BE49-F238E27FC236}">
                  <a16:creationId xmlns:a16="http://schemas.microsoft.com/office/drawing/2014/main" id="{3F0FFC97-2C6C-08CE-0047-B90DDE631ED9}"/>
                </a:ext>
              </a:extLst>
            </p:cNvPr>
            <p:cNvSpPr/>
            <p:nvPr userDrawn="1"/>
          </p:nvSpPr>
          <p:spPr>
            <a:xfrm>
              <a:off x="9679033" y="822205"/>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3" name="Rectangle 122">
              <a:extLst>
                <a:ext uri="{FF2B5EF4-FFF2-40B4-BE49-F238E27FC236}">
                  <a16:creationId xmlns:a16="http://schemas.microsoft.com/office/drawing/2014/main" id="{714B7402-6A13-66E4-4C95-4435635350A4}"/>
                </a:ext>
              </a:extLst>
            </p:cNvPr>
            <p:cNvSpPr/>
            <p:nvPr userDrawn="1"/>
          </p:nvSpPr>
          <p:spPr>
            <a:xfrm>
              <a:off x="55086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4" name="Rectangle 123">
              <a:extLst>
                <a:ext uri="{FF2B5EF4-FFF2-40B4-BE49-F238E27FC236}">
                  <a16:creationId xmlns:a16="http://schemas.microsoft.com/office/drawing/2014/main" id="{B4D160FA-D681-875B-0647-1349A68FD52F}"/>
                </a:ext>
              </a:extLst>
            </p:cNvPr>
            <p:cNvSpPr/>
            <p:nvPr userDrawn="1"/>
          </p:nvSpPr>
          <p:spPr>
            <a:xfrm>
              <a:off x="1380744"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5" name="Rectangle 124">
              <a:extLst>
                <a:ext uri="{FF2B5EF4-FFF2-40B4-BE49-F238E27FC236}">
                  <a16:creationId xmlns:a16="http://schemas.microsoft.com/office/drawing/2014/main" id="{B0D813A9-2468-3C92-7FE3-B436A4E351DE}"/>
                </a:ext>
              </a:extLst>
            </p:cNvPr>
            <p:cNvSpPr/>
            <p:nvPr userDrawn="1"/>
          </p:nvSpPr>
          <p:spPr>
            <a:xfrm>
              <a:off x="2210625"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6" name="Rectangle 125">
              <a:extLst>
                <a:ext uri="{FF2B5EF4-FFF2-40B4-BE49-F238E27FC236}">
                  <a16:creationId xmlns:a16="http://schemas.microsoft.com/office/drawing/2014/main" id="{14350AD2-4C65-FCBB-0AEC-04BC86999E92}"/>
                </a:ext>
              </a:extLst>
            </p:cNvPr>
            <p:cNvSpPr/>
            <p:nvPr userDrawn="1"/>
          </p:nvSpPr>
          <p:spPr>
            <a:xfrm>
              <a:off x="3040506"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7" name="Rectangle 126">
              <a:extLst>
                <a:ext uri="{FF2B5EF4-FFF2-40B4-BE49-F238E27FC236}">
                  <a16:creationId xmlns:a16="http://schemas.microsoft.com/office/drawing/2014/main" id="{3D86D544-D125-3A77-A250-2B45A7A4DC7D}"/>
                </a:ext>
              </a:extLst>
            </p:cNvPr>
            <p:cNvSpPr/>
            <p:nvPr userDrawn="1"/>
          </p:nvSpPr>
          <p:spPr>
            <a:xfrm>
              <a:off x="3870387"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8" name="Rectangle 127">
              <a:extLst>
                <a:ext uri="{FF2B5EF4-FFF2-40B4-BE49-F238E27FC236}">
                  <a16:creationId xmlns:a16="http://schemas.microsoft.com/office/drawing/2014/main" id="{1E06D5BD-DB7C-3058-327A-B15DE2FB232E}"/>
                </a:ext>
              </a:extLst>
            </p:cNvPr>
            <p:cNvSpPr/>
            <p:nvPr userDrawn="1"/>
          </p:nvSpPr>
          <p:spPr>
            <a:xfrm>
              <a:off x="4700268"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29" name="Rectangle 128">
              <a:extLst>
                <a:ext uri="{FF2B5EF4-FFF2-40B4-BE49-F238E27FC236}">
                  <a16:creationId xmlns:a16="http://schemas.microsoft.com/office/drawing/2014/main" id="{0172EEB7-7616-F505-B26E-8994DF0D2270}"/>
                </a:ext>
              </a:extLst>
            </p:cNvPr>
            <p:cNvSpPr/>
            <p:nvPr userDrawn="1"/>
          </p:nvSpPr>
          <p:spPr>
            <a:xfrm>
              <a:off x="5530149"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0" name="Rectangle 129">
              <a:extLst>
                <a:ext uri="{FF2B5EF4-FFF2-40B4-BE49-F238E27FC236}">
                  <a16:creationId xmlns:a16="http://schemas.microsoft.com/office/drawing/2014/main" id="{BF6F3D04-B563-09A9-C3D4-5E8EA005EBAC}"/>
                </a:ext>
              </a:extLst>
            </p:cNvPr>
            <p:cNvSpPr/>
            <p:nvPr userDrawn="1"/>
          </p:nvSpPr>
          <p:spPr>
            <a:xfrm>
              <a:off x="636003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1" name="Rectangle 130">
              <a:extLst>
                <a:ext uri="{FF2B5EF4-FFF2-40B4-BE49-F238E27FC236}">
                  <a16:creationId xmlns:a16="http://schemas.microsoft.com/office/drawing/2014/main" id="{621100FF-7F61-DF04-3496-CB6A1CA5989B}"/>
                </a:ext>
              </a:extLst>
            </p:cNvPr>
            <p:cNvSpPr/>
            <p:nvPr userDrawn="1"/>
          </p:nvSpPr>
          <p:spPr>
            <a:xfrm>
              <a:off x="7189390"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2" name="Rectangle 131">
              <a:extLst>
                <a:ext uri="{FF2B5EF4-FFF2-40B4-BE49-F238E27FC236}">
                  <a16:creationId xmlns:a16="http://schemas.microsoft.com/office/drawing/2014/main" id="{A5C4147F-AAC4-9F41-F7C2-7FA81790A15F}"/>
                </a:ext>
              </a:extLst>
            </p:cNvPr>
            <p:cNvSpPr/>
            <p:nvPr userDrawn="1"/>
          </p:nvSpPr>
          <p:spPr>
            <a:xfrm>
              <a:off x="8019271"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3" name="Rectangle 132">
              <a:extLst>
                <a:ext uri="{FF2B5EF4-FFF2-40B4-BE49-F238E27FC236}">
                  <a16:creationId xmlns:a16="http://schemas.microsoft.com/office/drawing/2014/main" id="{88EB2FD8-41B6-6C5B-60ED-F722AF98995C}"/>
                </a:ext>
              </a:extLst>
            </p:cNvPr>
            <p:cNvSpPr/>
            <p:nvPr userDrawn="1"/>
          </p:nvSpPr>
          <p:spPr>
            <a:xfrm>
              <a:off x="8849152"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4" name="Rectangle 133">
              <a:extLst>
                <a:ext uri="{FF2B5EF4-FFF2-40B4-BE49-F238E27FC236}">
                  <a16:creationId xmlns:a16="http://schemas.microsoft.com/office/drawing/2014/main" id="{3E625364-6A0F-30C1-BF5F-ADABDBFABB64}"/>
                </a:ext>
              </a:extLst>
            </p:cNvPr>
            <p:cNvSpPr/>
            <p:nvPr userDrawn="1"/>
          </p:nvSpPr>
          <p:spPr>
            <a:xfrm>
              <a:off x="9679033" y="1368067"/>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5" name="Rectangle 134">
              <a:extLst>
                <a:ext uri="{FF2B5EF4-FFF2-40B4-BE49-F238E27FC236}">
                  <a16:creationId xmlns:a16="http://schemas.microsoft.com/office/drawing/2014/main" id="{6FADE4F4-55CB-A468-331C-3C5A6430B0BD}"/>
                </a:ext>
              </a:extLst>
            </p:cNvPr>
            <p:cNvSpPr/>
            <p:nvPr userDrawn="1"/>
          </p:nvSpPr>
          <p:spPr>
            <a:xfrm>
              <a:off x="55086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6" name="Rectangle 135">
              <a:extLst>
                <a:ext uri="{FF2B5EF4-FFF2-40B4-BE49-F238E27FC236}">
                  <a16:creationId xmlns:a16="http://schemas.microsoft.com/office/drawing/2014/main" id="{849722F6-B71C-101E-47E3-37D44615B436}"/>
                </a:ext>
              </a:extLst>
            </p:cNvPr>
            <p:cNvSpPr/>
            <p:nvPr userDrawn="1"/>
          </p:nvSpPr>
          <p:spPr>
            <a:xfrm>
              <a:off x="1380744"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7" name="Rectangle 136">
              <a:extLst>
                <a:ext uri="{FF2B5EF4-FFF2-40B4-BE49-F238E27FC236}">
                  <a16:creationId xmlns:a16="http://schemas.microsoft.com/office/drawing/2014/main" id="{A42AA786-B7D3-16F5-15C0-4A971A7277FC}"/>
                </a:ext>
              </a:extLst>
            </p:cNvPr>
            <p:cNvSpPr/>
            <p:nvPr userDrawn="1"/>
          </p:nvSpPr>
          <p:spPr>
            <a:xfrm>
              <a:off x="2210625"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8" name="Rectangle 137">
              <a:extLst>
                <a:ext uri="{FF2B5EF4-FFF2-40B4-BE49-F238E27FC236}">
                  <a16:creationId xmlns:a16="http://schemas.microsoft.com/office/drawing/2014/main" id="{42A2993A-4872-2EFD-8B0D-0A64F77A7C78}"/>
                </a:ext>
              </a:extLst>
            </p:cNvPr>
            <p:cNvSpPr/>
            <p:nvPr userDrawn="1"/>
          </p:nvSpPr>
          <p:spPr>
            <a:xfrm>
              <a:off x="3040506"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39" name="Rectangle 138">
              <a:extLst>
                <a:ext uri="{FF2B5EF4-FFF2-40B4-BE49-F238E27FC236}">
                  <a16:creationId xmlns:a16="http://schemas.microsoft.com/office/drawing/2014/main" id="{7E2999D3-93BA-AF0B-B6D0-9DE13C0E61BE}"/>
                </a:ext>
              </a:extLst>
            </p:cNvPr>
            <p:cNvSpPr/>
            <p:nvPr userDrawn="1"/>
          </p:nvSpPr>
          <p:spPr>
            <a:xfrm>
              <a:off x="3870387"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0" name="Rectangle 139">
              <a:extLst>
                <a:ext uri="{FF2B5EF4-FFF2-40B4-BE49-F238E27FC236}">
                  <a16:creationId xmlns:a16="http://schemas.microsoft.com/office/drawing/2014/main" id="{14F33A16-19E1-B521-1CC3-11419D8B15F6}"/>
                </a:ext>
              </a:extLst>
            </p:cNvPr>
            <p:cNvSpPr/>
            <p:nvPr userDrawn="1"/>
          </p:nvSpPr>
          <p:spPr>
            <a:xfrm>
              <a:off x="4700268"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1" name="Rectangle 140">
              <a:extLst>
                <a:ext uri="{FF2B5EF4-FFF2-40B4-BE49-F238E27FC236}">
                  <a16:creationId xmlns:a16="http://schemas.microsoft.com/office/drawing/2014/main" id="{A3E8DD1F-AF82-B507-1D69-570D04CD6F1B}"/>
                </a:ext>
              </a:extLst>
            </p:cNvPr>
            <p:cNvSpPr/>
            <p:nvPr userDrawn="1"/>
          </p:nvSpPr>
          <p:spPr>
            <a:xfrm>
              <a:off x="5530149"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2" name="Rectangle 141">
              <a:extLst>
                <a:ext uri="{FF2B5EF4-FFF2-40B4-BE49-F238E27FC236}">
                  <a16:creationId xmlns:a16="http://schemas.microsoft.com/office/drawing/2014/main" id="{30D0D3AE-E430-BBB3-E45C-EBBD6EAEDEB9}"/>
                </a:ext>
              </a:extLst>
            </p:cNvPr>
            <p:cNvSpPr/>
            <p:nvPr userDrawn="1"/>
          </p:nvSpPr>
          <p:spPr>
            <a:xfrm>
              <a:off x="636003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3" name="Rectangle 142">
              <a:extLst>
                <a:ext uri="{FF2B5EF4-FFF2-40B4-BE49-F238E27FC236}">
                  <a16:creationId xmlns:a16="http://schemas.microsoft.com/office/drawing/2014/main" id="{EB3343C8-CE06-3956-535E-EE4B9EBD4921}"/>
                </a:ext>
              </a:extLst>
            </p:cNvPr>
            <p:cNvSpPr/>
            <p:nvPr userDrawn="1"/>
          </p:nvSpPr>
          <p:spPr>
            <a:xfrm>
              <a:off x="7189390"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4" name="Rectangle 143">
              <a:extLst>
                <a:ext uri="{FF2B5EF4-FFF2-40B4-BE49-F238E27FC236}">
                  <a16:creationId xmlns:a16="http://schemas.microsoft.com/office/drawing/2014/main" id="{E8787676-1E35-62D5-7AD0-9A047A612A43}"/>
                </a:ext>
              </a:extLst>
            </p:cNvPr>
            <p:cNvSpPr/>
            <p:nvPr userDrawn="1"/>
          </p:nvSpPr>
          <p:spPr>
            <a:xfrm>
              <a:off x="8019271"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5" name="Rectangle 144">
              <a:extLst>
                <a:ext uri="{FF2B5EF4-FFF2-40B4-BE49-F238E27FC236}">
                  <a16:creationId xmlns:a16="http://schemas.microsoft.com/office/drawing/2014/main" id="{3DAAC763-62A9-A61A-D657-6D9D7B1835BF}"/>
                </a:ext>
              </a:extLst>
            </p:cNvPr>
            <p:cNvSpPr/>
            <p:nvPr userDrawn="1"/>
          </p:nvSpPr>
          <p:spPr>
            <a:xfrm>
              <a:off x="8849152"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6" name="Rectangle 145">
              <a:extLst>
                <a:ext uri="{FF2B5EF4-FFF2-40B4-BE49-F238E27FC236}">
                  <a16:creationId xmlns:a16="http://schemas.microsoft.com/office/drawing/2014/main" id="{017AE7F7-CF41-A69B-BDE5-3B433FC1AFDA}"/>
                </a:ext>
              </a:extLst>
            </p:cNvPr>
            <p:cNvSpPr/>
            <p:nvPr userDrawn="1"/>
          </p:nvSpPr>
          <p:spPr>
            <a:xfrm>
              <a:off x="9679033" y="1913929"/>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7" name="Rectangle 146">
              <a:extLst>
                <a:ext uri="{FF2B5EF4-FFF2-40B4-BE49-F238E27FC236}">
                  <a16:creationId xmlns:a16="http://schemas.microsoft.com/office/drawing/2014/main" id="{477C83AB-F882-E109-3F6C-5575CF3890B7}"/>
                </a:ext>
              </a:extLst>
            </p:cNvPr>
            <p:cNvSpPr/>
            <p:nvPr userDrawn="1"/>
          </p:nvSpPr>
          <p:spPr>
            <a:xfrm>
              <a:off x="55086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8" name="Rectangle 147">
              <a:extLst>
                <a:ext uri="{FF2B5EF4-FFF2-40B4-BE49-F238E27FC236}">
                  <a16:creationId xmlns:a16="http://schemas.microsoft.com/office/drawing/2014/main" id="{3E0EB1E1-B44D-6C24-0109-5586410AEEDB}"/>
                </a:ext>
              </a:extLst>
            </p:cNvPr>
            <p:cNvSpPr/>
            <p:nvPr userDrawn="1"/>
          </p:nvSpPr>
          <p:spPr>
            <a:xfrm>
              <a:off x="1380744"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49" name="Rectangle 148">
              <a:extLst>
                <a:ext uri="{FF2B5EF4-FFF2-40B4-BE49-F238E27FC236}">
                  <a16:creationId xmlns:a16="http://schemas.microsoft.com/office/drawing/2014/main" id="{B075F409-05D3-C9F1-B100-FE91107EA0B1}"/>
                </a:ext>
              </a:extLst>
            </p:cNvPr>
            <p:cNvSpPr/>
            <p:nvPr userDrawn="1"/>
          </p:nvSpPr>
          <p:spPr>
            <a:xfrm>
              <a:off x="2210625"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0" name="Rectangle 149">
              <a:extLst>
                <a:ext uri="{FF2B5EF4-FFF2-40B4-BE49-F238E27FC236}">
                  <a16:creationId xmlns:a16="http://schemas.microsoft.com/office/drawing/2014/main" id="{B29A0B9D-4286-9793-0C15-584197D77C45}"/>
                </a:ext>
              </a:extLst>
            </p:cNvPr>
            <p:cNvSpPr/>
            <p:nvPr userDrawn="1"/>
          </p:nvSpPr>
          <p:spPr>
            <a:xfrm>
              <a:off x="3040506"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1" name="Rectangle 150">
              <a:extLst>
                <a:ext uri="{FF2B5EF4-FFF2-40B4-BE49-F238E27FC236}">
                  <a16:creationId xmlns:a16="http://schemas.microsoft.com/office/drawing/2014/main" id="{2B668398-CBBB-8CFE-627C-1B813FF47462}"/>
                </a:ext>
              </a:extLst>
            </p:cNvPr>
            <p:cNvSpPr/>
            <p:nvPr userDrawn="1"/>
          </p:nvSpPr>
          <p:spPr>
            <a:xfrm>
              <a:off x="3870387"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2" name="Rectangle 151">
              <a:extLst>
                <a:ext uri="{FF2B5EF4-FFF2-40B4-BE49-F238E27FC236}">
                  <a16:creationId xmlns:a16="http://schemas.microsoft.com/office/drawing/2014/main" id="{8255EF4C-6510-535E-A6C8-8390A9E6B742}"/>
                </a:ext>
              </a:extLst>
            </p:cNvPr>
            <p:cNvSpPr/>
            <p:nvPr userDrawn="1"/>
          </p:nvSpPr>
          <p:spPr>
            <a:xfrm>
              <a:off x="4700268"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3" name="Rectangle 152">
              <a:extLst>
                <a:ext uri="{FF2B5EF4-FFF2-40B4-BE49-F238E27FC236}">
                  <a16:creationId xmlns:a16="http://schemas.microsoft.com/office/drawing/2014/main" id="{B27C065F-1C23-41DB-75F3-C5F0B62577C4}"/>
                </a:ext>
              </a:extLst>
            </p:cNvPr>
            <p:cNvSpPr/>
            <p:nvPr userDrawn="1"/>
          </p:nvSpPr>
          <p:spPr>
            <a:xfrm>
              <a:off x="5530149"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4" name="Rectangle 153">
              <a:extLst>
                <a:ext uri="{FF2B5EF4-FFF2-40B4-BE49-F238E27FC236}">
                  <a16:creationId xmlns:a16="http://schemas.microsoft.com/office/drawing/2014/main" id="{298F13F1-5168-56A8-B601-83CBF38251B2}"/>
                </a:ext>
              </a:extLst>
            </p:cNvPr>
            <p:cNvSpPr/>
            <p:nvPr userDrawn="1"/>
          </p:nvSpPr>
          <p:spPr>
            <a:xfrm>
              <a:off x="636003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5" name="Rectangle 154">
              <a:extLst>
                <a:ext uri="{FF2B5EF4-FFF2-40B4-BE49-F238E27FC236}">
                  <a16:creationId xmlns:a16="http://schemas.microsoft.com/office/drawing/2014/main" id="{674B7525-BB73-DA06-7CBD-E53472B7E5B9}"/>
                </a:ext>
              </a:extLst>
            </p:cNvPr>
            <p:cNvSpPr/>
            <p:nvPr userDrawn="1"/>
          </p:nvSpPr>
          <p:spPr>
            <a:xfrm>
              <a:off x="7189390"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6" name="Rectangle 155">
              <a:extLst>
                <a:ext uri="{FF2B5EF4-FFF2-40B4-BE49-F238E27FC236}">
                  <a16:creationId xmlns:a16="http://schemas.microsoft.com/office/drawing/2014/main" id="{F5F4AE79-CED7-74A3-0900-58D671EF2504}"/>
                </a:ext>
              </a:extLst>
            </p:cNvPr>
            <p:cNvSpPr/>
            <p:nvPr userDrawn="1"/>
          </p:nvSpPr>
          <p:spPr>
            <a:xfrm>
              <a:off x="8019271"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7" name="Rectangle 156">
              <a:extLst>
                <a:ext uri="{FF2B5EF4-FFF2-40B4-BE49-F238E27FC236}">
                  <a16:creationId xmlns:a16="http://schemas.microsoft.com/office/drawing/2014/main" id="{CE2BE48C-CDDA-D60A-A3B7-51CA66C4E242}"/>
                </a:ext>
              </a:extLst>
            </p:cNvPr>
            <p:cNvSpPr/>
            <p:nvPr userDrawn="1"/>
          </p:nvSpPr>
          <p:spPr>
            <a:xfrm>
              <a:off x="8849152"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158" name="Rectangle 157">
              <a:extLst>
                <a:ext uri="{FF2B5EF4-FFF2-40B4-BE49-F238E27FC236}">
                  <a16:creationId xmlns:a16="http://schemas.microsoft.com/office/drawing/2014/main" id="{C56558FF-C14B-DE3F-D21E-8B4596C0B71C}"/>
                </a:ext>
              </a:extLst>
            </p:cNvPr>
            <p:cNvSpPr/>
            <p:nvPr userDrawn="1"/>
          </p:nvSpPr>
          <p:spPr>
            <a:xfrm>
              <a:off x="9679033" y="2459791"/>
              <a:ext cx="829881" cy="545862"/>
            </a:xfrm>
            <a:prstGeom prst="rect">
              <a:avLst/>
            </a:prstGeom>
            <a:noFill/>
            <a:ln w="3175">
              <a:solidFill>
                <a:srgbClr val="FF816E"/>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sp>
        <p:nvSpPr>
          <p:cNvPr id="162" name="Title Placeholder 4">
            <a:extLst>
              <a:ext uri="{FF2B5EF4-FFF2-40B4-BE49-F238E27FC236}">
                <a16:creationId xmlns:a16="http://schemas.microsoft.com/office/drawing/2014/main" id="{38F91F77-6499-5A9A-B0F7-1CFEE7612153}"/>
              </a:ext>
            </a:extLst>
          </p:cNvPr>
          <p:cNvSpPr>
            <a:spLocks noGrp="1"/>
          </p:cNvSpPr>
          <p:nvPr>
            <p:ph type="title"/>
          </p:nvPr>
        </p:nvSpPr>
        <p:spPr>
          <a:xfrm>
            <a:off x="551384" y="549274"/>
            <a:ext cx="11089754" cy="1079526"/>
          </a:xfrm>
          <a:prstGeom prst="rect">
            <a:avLst/>
          </a:prstGeom>
        </p:spPr>
        <p:txBody>
          <a:bodyPr vert="horz" lIns="0" tIns="0" rIns="0" bIns="180000" rtlCol="0" anchor="t" anchorCtr="0">
            <a:noAutofit/>
          </a:bodyPr>
          <a:lstStyle/>
          <a:p>
            <a:r>
              <a:rPr lang="en-US"/>
              <a:t>Click to edit </a:t>
            </a:r>
            <a:br>
              <a:rPr lang="en-US"/>
            </a:br>
            <a:r>
              <a:rPr lang="en-US"/>
              <a:t>Master title style</a:t>
            </a:r>
            <a:endParaRPr lang="de-DE"/>
          </a:p>
        </p:txBody>
      </p:sp>
      <p:grpSp>
        <p:nvGrpSpPr>
          <p:cNvPr id="164" name="Group 37">
            <a:extLst>
              <a:ext uri="{FF2B5EF4-FFF2-40B4-BE49-F238E27FC236}">
                <a16:creationId xmlns:a16="http://schemas.microsoft.com/office/drawing/2014/main" id="{E8E7C8B3-3A54-13AA-D1EF-A3B4D724CE4F}"/>
              </a:ext>
            </a:extLst>
          </p:cNvPr>
          <p:cNvGrpSpPr/>
          <p:nvPr userDrawn="1"/>
        </p:nvGrpSpPr>
        <p:grpSpPr>
          <a:xfrm>
            <a:off x="11770322" y="176700"/>
            <a:ext cx="260230" cy="240782"/>
            <a:chOff x="5481638" y="2859088"/>
            <a:chExt cx="1231900" cy="1139825"/>
          </a:xfrm>
          <a:solidFill>
            <a:schemeClr val="bg1"/>
          </a:solidFill>
        </p:grpSpPr>
        <p:sp>
          <p:nvSpPr>
            <p:cNvPr id="165" name="Freeform 320">
              <a:extLst>
                <a:ext uri="{FF2B5EF4-FFF2-40B4-BE49-F238E27FC236}">
                  <a16:creationId xmlns:a16="http://schemas.microsoft.com/office/drawing/2014/main" id="{1D3B0473-271D-9D4C-1EAF-583AF0F8752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6" name="Freeform 321">
              <a:extLst>
                <a:ext uri="{FF2B5EF4-FFF2-40B4-BE49-F238E27FC236}">
                  <a16:creationId xmlns:a16="http://schemas.microsoft.com/office/drawing/2014/main" id="{C623AEAF-26FC-97CD-3895-F6B0804E1210}"/>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19" name="Text Placeholder 18">
            <a:extLst>
              <a:ext uri="{FF2B5EF4-FFF2-40B4-BE49-F238E27FC236}">
                <a16:creationId xmlns:a16="http://schemas.microsoft.com/office/drawing/2014/main" id="{F173AB37-111F-156B-5C0E-5CD9274D579A}"/>
              </a:ext>
            </a:extLst>
          </p:cNvPr>
          <p:cNvSpPr>
            <a:spLocks noGrp="1"/>
          </p:cNvSpPr>
          <p:nvPr>
            <p:ph type="body" idx="1"/>
          </p:nvPr>
        </p:nvSpPr>
        <p:spPr>
          <a:xfrm>
            <a:off x="550339" y="1628800"/>
            <a:ext cx="11089752" cy="4679926"/>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67" name="Rectangle 166">
            <a:extLst>
              <a:ext uri="{FF2B5EF4-FFF2-40B4-BE49-F238E27FC236}">
                <a16:creationId xmlns:a16="http://schemas.microsoft.com/office/drawing/2014/main" id="{3D030529-E7D1-F337-9F33-EB0B727E492D}"/>
              </a:ext>
            </a:extLst>
          </p:cNvPr>
          <p:cNvSpPr/>
          <p:nvPr userDrawn="1"/>
        </p:nvSpPr>
        <p:spPr>
          <a:xfrm>
            <a:off x="221942" y="6551720"/>
            <a:ext cx="2716567" cy="195309"/>
          </a:xfrm>
          <a:prstGeom prst="rect">
            <a:avLst/>
          </a:prstGeom>
        </p:spPr>
        <p:txBody>
          <a:bodyPr wrap="none" lIns="0" tIns="0" rIns="0" bIns="0" anchor="ctr" anchorCtr="0">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kern="1200">
                <a:solidFill>
                  <a:schemeClr val="bg1">
                    <a:lumMod val="65000"/>
                  </a:schemeClr>
                </a:solidFill>
                <a:latin typeface="+mn-lt"/>
                <a:ea typeface="+mn-ea"/>
                <a:cs typeface="Arial" panose="020B0604020202020204" pitchFamily="34" charset="0"/>
              </a:rPr>
              <a:t>Trusted Data Assets</a:t>
            </a:r>
            <a:r>
              <a:rPr lang="it-IT" sz="700" kern="1200" noProof="0">
                <a:solidFill>
                  <a:schemeClr val="bg1">
                    <a:lumMod val="65000"/>
                  </a:schemeClr>
                </a:solidFill>
                <a:latin typeface="+mn-lt"/>
                <a:ea typeface="+mn-ea"/>
                <a:cs typeface="Arial" panose="020B0604020202020204" pitchFamily="34" charset="0"/>
              </a:rPr>
              <a:t> | 2025</a:t>
            </a:r>
            <a:endParaRPr lang="en-PL" sz="800">
              <a:solidFill>
                <a:schemeClr val="bg1">
                  <a:lumMod val="65000"/>
                </a:schemeClr>
              </a:solidFill>
            </a:endParaRPr>
          </a:p>
        </p:txBody>
      </p:sp>
      <p:sp>
        <p:nvSpPr>
          <p:cNvPr id="3" name="Rectangle 27">
            <a:extLst>
              <a:ext uri="{FF2B5EF4-FFF2-40B4-BE49-F238E27FC236}">
                <a16:creationId xmlns:a16="http://schemas.microsoft.com/office/drawing/2014/main" id="{0F10E4BA-3E84-62E9-A0E7-A1AD411C18BF}"/>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kern="1200">
                <a:solidFill>
                  <a:schemeClr val="bg1">
                    <a:lumMod val="65000"/>
                  </a:schemeClr>
                </a:solidFill>
                <a:latin typeface="+mn-lt"/>
                <a:ea typeface="+mn-ea"/>
                <a:cs typeface="Arial" panose="020B0604020202020204" pitchFamily="34" charset="0"/>
              </a:rPr>
              <a:t> </a:t>
            </a:r>
            <a:r>
              <a:rPr lang="en-GB" sz="700" kern="1200" noProof="0">
                <a:solidFill>
                  <a:schemeClr val="bg1">
                    <a:lumMod val="65000"/>
                  </a:schemeClr>
                </a:solidFill>
                <a:latin typeface="+mn-lt"/>
                <a:ea typeface="+mn-ea"/>
                <a:cs typeface="Arial" panose="020B0604020202020204" pitchFamily="34" charset="0"/>
              </a:rPr>
              <a:t> </a:t>
            </a:r>
            <a:r>
              <a:rPr lang="en-GB" sz="700" kern="1200">
                <a:solidFill>
                  <a:schemeClr val="bg1">
                    <a:lumMod val="65000"/>
                  </a:schemeClr>
                </a:solidFill>
                <a:latin typeface="+mn-lt"/>
                <a:ea typeface="+mn-ea"/>
                <a:cs typeface="Arial" panose="020B0604020202020204" pitchFamily="34" charset="0"/>
              </a:rPr>
              <a:t>© Capgemini </a:t>
            </a:r>
            <a:r>
              <a:rPr lang="en-GB" sz="700">
                <a:solidFill>
                  <a:schemeClr val="bg1">
                    <a:lumMod val="65000"/>
                  </a:schemeClr>
                </a:solidFill>
                <a:latin typeface="+mn-lt"/>
                <a:cs typeface="Arial" panose="020B0604020202020204" pitchFamily="34" charset="0"/>
              </a:rPr>
              <a:t>2025. All rights reserved  |</a:t>
            </a:r>
          </a:p>
        </p:txBody>
      </p:sp>
      <p:sp>
        <p:nvSpPr>
          <p:cNvPr id="4" name="Rectangle 43">
            <a:extLst>
              <a:ext uri="{FF2B5EF4-FFF2-40B4-BE49-F238E27FC236}">
                <a16:creationId xmlns:a16="http://schemas.microsoft.com/office/drawing/2014/main" id="{D98B57D3-8444-F496-7DB7-B7C10ADEF34A}"/>
              </a:ext>
            </a:extLst>
          </p:cNvPr>
          <p:cNvSpPr/>
          <p:nvPr userDrawn="1"/>
        </p:nvSpPr>
        <p:spPr>
          <a:xfrm>
            <a:off x="11648878" y="6521883"/>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232373164"/>
      </p:ext>
    </p:extLst>
  </p:cSld>
  <p:clrMap bg1="lt1" tx1="dk1" bg2="lt2" tx2="dk2" accent1="accent1" accent2="accent2" accent3="accent3" accent4="accent4" accent5="accent5" accent6="accent6" hlink="hlink" folHlink="folHlink"/>
  <p:sldLayoutIdLst>
    <p:sldLayoutId id="214748367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accent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1"/>
        </a:buClr>
        <a:buFont typeface="Arial" panose="020B0604020202020204" pitchFamily="34" charset="0"/>
        <a:buChar char="•"/>
        <a:tabLst/>
        <a:defRPr sz="14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guide id="26" orient="horz" pos="39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7.png"/><Relationship Id="rId18" Type="http://schemas.microsoft.com/office/2007/relationships/hdphoto" Target="../media/hdphoto8.wdp"/><Relationship Id="rId3" Type="http://schemas.openxmlformats.org/officeDocument/2006/relationships/image" Target="../media/image12.png"/><Relationship Id="rId21" Type="http://schemas.openxmlformats.org/officeDocument/2006/relationships/image" Target="../media/image22.png"/><Relationship Id="rId7" Type="http://schemas.openxmlformats.org/officeDocument/2006/relationships/image" Target="../media/image14.png"/><Relationship Id="rId12" Type="http://schemas.microsoft.com/office/2007/relationships/hdphoto" Target="../media/hdphoto5.wdp"/><Relationship Id="rId17" Type="http://schemas.openxmlformats.org/officeDocument/2006/relationships/image" Target="../media/image19.png"/><Relationship Id="rId2" Type="http://schemas.openxmlformats.org/officeDocument/2006/relationships/image" Target="../media/image11.jpeg"/><Relationship Id="rId16" Type="http://schemas.microsoft.com/office/2007/relationships/hdphoto" Target="../media/hdphoto7.wdp"/><Relationship Id="rId20" Type="http://schemas.openxmlformats.org/officeDocument/2006/relationships/image" Target="../media/image21.png"/><Relationship Id="rId1" Type="http://schemas.openxmlformats.org/officeDocument/2006/relationships/slideLayout" Target="../slideLayouts/slideLayout1.xml"/><Relationship Id="rId6" Type="http://schemas.microsoft.com/office/2007/relationships/hdphoto" Target="../media/hdphoto2.wdp"/><Relationship Id="rId11" Type="http://schemas.openxmlformats.org/officeDocument/2006/relationships/image" Target="../media/image16.png"/><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24.png"/><Relationship Id="rId10" Type="http://schemas.microsoft.com/office/2007/relationships/hdphoto" Target="../media/hdphoto4.wdp"/><Relationship Id="rId19" Type="http://schemas.openxmlformats.org/officeDocument/2006/relationships/image" Target="../media/image20.png"/><Relationship Id="rId4" Type="http://schemas.microsoft.com/office/2007/relationships/hdphoto" Target="../media/hdphoto1.wdp"/><Relationship Id="rId9" Type="http://schemas.openxmlformats.org/officeDocument/2006/relationships/image" Target="../media/image15.png"/><Relationship Id="rId14" Type="http://schemas.microsoft.com/office/2007/relationships/hdphoto" Target="../media/hdphoto6.wdp"/><Relationship Id="rId22" Type="http://schemas.openxmlformats.org/officeDocument/2006/relationships/image" Target="../media/image23.png"/></Relationships>
</file>

<file path=ppt/slides/_rels/slide4.xml.rels><?xml version="1.0" encoding="UTF-8" standalone="yes"?>
<Relationships xmlns="http://schemas.openxmlformats.org/package/2006/relationships"><Relationship Id="rId2" Type="http://schemas.microsoft.com/office/2018/10/relationships/comments" Target="../comments/modernComment_7FFE5E2C_9F6F4698.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microsoft.com/office/2018/10/relationships/comments" Target="../comments/modernComment_7FFE5E74_AEB9928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794F8-1602-98B7-6D67-FA89EC1DD9D8}"/>
            </a:ext>
          </a:extLst>
        </p:cNvPr>
        <p:cNvGrpSpPr/>
        <p:nvPr/>
      </p:nvGrpSpPr>
      <p:grpSpPr>
        <a:xfrm>
          <a:off x="0" y="0"/>
          <a:ext cx="0" cy="0"/>
          <a:chOff x="0" y="0"/>
          <a:chExt cx="0" cy="0"/>
        </a:xfrm>
      </p:grpSpPr>
      <p:pic>
        <p:nvPicPr>
          <p:cNvPr id="12" name="Picture Placeholder 12" descr="A group of people walking in front of tall buildings">
            <a:extLst>
              <a:ext uri="{FF2B5EF4-FFF2-40B4-BE49-F238E27FC236}">
                <a16:creationId xmlns:a16="http://schemas.microsoft.com/office/drawing/2014/main" id="{2515A436-0BE9-B2D4-A47D-98F703494351}"/>
              </a:ext>
            </a:extLst>
          </p:cNvPr>
          <p:cNvPicPr>
            <a:picLocks noChangeAspect="1"/>
          </p:cNvPicPr>
          <p:nvPr/>
        </p:nvPicPr>
        <p:blipFill>
          <a:blip r:embed="rId2" cstate="screen">
            <a:extLst>
              <a:ext uri="{28A0092B-C50C-407E-A947-70E740481C1C}">
                <a14:useLocalDpi xmlns:a14="http://schemas.microsoft.com/office/drawing/2010/main"/>
              </a:ext>
            </a:extLst>
          </a:blip>
          <a:srcRect t="15" r="40672" b="15"/>
          <a:stretch>
            <a:fillRect/>
          </a:stretch>
        </p:blipFill>
        <p:spPr>
          <a:xfrm>
            <a:off x="1" y="0"/>
            <a:ext cx="7306490" cy="6858000"/>
          </a:xfrm>
          <a:prstGeom prst="rect">
            <a:avLst/>
          </a:prstGeom>
        </p:spPr>
      </p:pic>
      <p:sp>
        <p:nvSpPr>
          <p:cNvPr id="6" name="Title 10">
            <a:extLst>
              <a:ext uri="{FF2B5EF4-FFF2-40B4-BE49-F238E27FC236}">
                <a16:creationId xmlns:a16="http://schemas.microsoft.com/office/drawing/2014/main" id="{F3092779-F97B-F889-EED4-6F905D37E78B}"/>
              </a:ext>
            </a:extLst>
          </p:cNvPr>
          <p:cNvSpPr txBox="1">
            <a:spLocks/>
          </p:cNvSpPr>
          <p:nvPr/>
        </p:nvSpPr>
        <p:spPr>
          <a:xfrm>
            <a:off x="7848000" y="1799999"/>
            <a:ext cx="3971925" cy="3695827"/>
          </a:xfrm>
          <a:prstGeom prst="rect">
            <a:avLst/>
          </a:prstGeom>
        </p:spPr>
        <p:txBody>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200" b="0" i="0" u="none" strike="noStrike" kern="1200" cap="none" spc="0" normalizeH="0" baseline="0" noProof="0" dirty="0">
                <a:ln>
                  <a:noFill/>
                </a:ln>
                <a:solidFill>
                  <a:schemeClr val="bg1"/>
                </a:solidFill>
                <a:effectLst/>
                <a:uLnTx/>
                <a:uFillTx/>
                <a:latin typeface="+mj-lt"/>
                <a:ea typeface="+mj-ea"/>
                <a:cs typeface="+mj-cs"/>
              </a:defRPr>
            </a:lvl1pPr>
          </a:lstStyle>
          <a:p>
            <a:pPr lvl="0">
              <a:lnSpc>
                <a:spcPct val="100000"/>
              </a:lnSpc>
            </a:pPr>
            <a:r>
              <a:rPr kumimoji="0" lang="en-US" sz="2400" b="0" i="1" u="none" strike="noStrike" kern="1200" cap="none" spc="0" normalizeH="0" baseline="0" noProof="0">
                <a:ln>
                  <a:noFill/>
                </a:ln>
                <a:solidFill>
                  <a:srgbClr val="FFFFFF"/>
                </a:solidFill>
                <a:effectLst/>
                <a:uLnTx/>
                <a:uFillTx/>
                <a:latin typeface="Ubuntu Medium"/>
                <a:ea typeface="+mj-ea"/>
                <a:cs typeface="+mj-cs"/>
              </a:rPr>
              <a:t>Agentic AI Solutions </a:t>
            </a:r>
            <a:br>
              <a:rPr kumimoji="0" lang="en-US" sz="2400" b="0" i="1" u="none" strike="noStrike" kern="1200" cap="none" spc="0" normalizeH="0" baseline="0" noProof="0">
                <a:ln>
                  <a:noFill/>
                </a:ln>
                <a:solidFill>
                  <a:srgbClr val="FFFFFF"/>
                </a:solidFill>
                <a:effectLst/>
                <a:uLnTx/>
                <a:uFillTx/>
                <a:latin typeface="Ubuntu Medium"/>
                <a:ea typeface="+mj-ea"/>
                <a:cs typeface="+mj-cs"/>
              </a:rPr>
            </a:br>
            <a:r>
              <a:rPr kumimoji="0" lang="en-US" sz="2400" b="0" i="1" u="none" strike="noStrike" kern="1200" cap="none" spc="0" normalizeH="0" baseline="0" noProof="0">
                <a:ln>
                  <a:noFill/>
                </a:ln>
                <a:solidFill>
                  <a:srgbClr val="FFFFFF"/>
                </a:solidFill>
                <a:effectLst/>
                <a:uLnTx/>
                <a:uFillTx/>
                <a:latin typeface="Ubuntu Medium"/>
                <a:ea typeface="+mj-ea"/>
                <a:cs typeface="+mj-cs"/>
              </a:rPr>
              <a:t>for Data Trust #05:</a:t>
            </a:r>
            <a:br>
              <a:rPr kumimoji="0" lang="en-US" sz="2400" b="0" i="1" u="none" strike="noStrike" kern="1200" cap="none" spc="0" normalizeH="0" baseline="0" noProof="0">
                <a:ln>
                  <a:noFill/>
                </a:ln>
                <a:solidFill>
                  <a:srgbClr val="FFFFFF"/>
                </a:solidFill>
                <a:effectLst/>
                <a:uLnTx/>
                <a:uFillTx/>
                <a:latin typeface="Ubuntu Medium"/>
                <a:ea typeface="+mj-ea"/>
                <a:cs typeface="+mj-cs"/>
              </a:rPr>
            </a:br>
            <a:br>
              <a:rPr kumimoji="0" lang="en-US" sz="1200" b="0" i="1" u="none" strike="noStrike" kern="1200" cap="none" spc="0" normalizeH="0" baseline="0" noProof="0">
                <a:ln>
                  <a:noFill/>
                </a:ln>
                <a:solidFill>
                  <a:srgbClr val="FFFFFF"/>
                </a:solidFill>
                <a:effectLst/>
                <a:uLnTx/>
                <a:uFillTx/>
                <a:latin typeface="Ubuntu Medium"/>
                <a:ea typeface="+mj-ea"/>
                <a:cs typeface="+mj-cs"/>
              </a:rPr>
            </a:br>
            <a:r>
              <a:rPr lang="en-US" sz="3600"/>
              <a:t>Data Lineage Stitching Agent</a:t>
            </a:r>
            <a:br>
              <a:rPr kumimoji="0" lang="en-US" sz="3600" b="0" i="0" u="none" strike="noStrike" kern="1200" cap="none" spc="0" normalizeH="0" baseline="0" noProof="0">
                <a:ln>
                  <a:noFill/>
                </a:ln>
                <a:solidFill>
                  <a:srgbClr val="FFFFFF"/>
                </a:solidFill>
                <a:effectLst/>
                <a:uLnTx/>
                <a:uFillTx/>
                <a:latin typeface="Ubuntu Medium"/>
                <a:ea typeface="+mj-ea"/>
                <a:cs typeface="+mj-cs"/>
              </a:rPr>
            </a:br>
            <a:br>
              <a:rPr kumimoji="0" lang="en-US" sz="1100" b="0" i="0" u="none" strike="noStrike" kern="1200" cap="none" spc="0" normalizeH="0" baseline="0" noProof="0">
                <a:ln>
                  <a:noFill/>
                </a:ln>
                <a:solidFill>
                  <a:srgbClr val="FFFFFF"/>
                </a:solidFill>
                <a:effectLst/>
                <a:uLnTx/>
                <a:uFillTx/>
                <a:latin typeface="Ubuntu Medium"/>
                <a:ea typeface="+mj-ea"/>
                <a:cs typeface="+mj-cs"/>
              </a:rPr>
            </a:br>
            <a:r>
              <a:rPr kumimoji="0" lang="en-US" sz="2400" b="0" i="1" u="none" strike="noStrike" kern="1200" cap="none" spc="0" normalizeH="0" baseline="0" noProof="0">
                <a:ln>
                  <a:noFill/>
                </a:ln>
                <a:solidFill>
                  <a:srgbClr val="FFFFFF"/>
                </a:solidFill>
                <a:effectLst/>
                <a:uLnTx/>
                <a:uFillTx/>
                <a:latin typeface="Ubuntu Medium"/>
                <a:ea typeface="+mj-ea"/>
                <a:cs typeface="+mj-cs"/>
              </a:rPr>
              <a:t>Specifications</a:t>
            </a:r>
            <a:br>
              <a:rPr kumimoji="0" lang="en-US" sz="3600" b="0" i="1" u="none" strike="noStrike" kern="1200" cap="none" spc="0" normalizeH="0" baseline="0" noProof="0">
                <a:ln>
                  <a:noFill/>
                </a:ln>
                <a:solidFill>
                  <a:srgbClr val="FFFFFF"/>
                </a:solidFill>
                <a:effectLst/>
                <a:uLnTx/>
                <a:uFillTx/>
                <a:latin typeface="Ubuntu Medium"/>
                <a:ea typeface="+mj-ea"/>
                <a:cs typeface="+mj-cs"/>
              </a:rPr>
            </a:br>
            <a:br>
              <a:rPr kumimoji="0" lang="en-US" sz="1800" b="0" i="0" u="none" strike="noStrike" kern="1200" cap="none" spc="0" normalizeH="0" baseline="0" noProof="0">
                <a:ln>
                  <a:noFill/>
                </a:ln>
                <a:solidFill>
                  <a:srgbClr val="FFFFFF"/>
                </a:solidFill>
                <a:effectLst/>
                <a:uLnTx/>
                <a:uFillTx/>
                <a:latin typeface="Ubuntu Medium"/>
                <a:ea typeface="+mj-ea"/>
                <a:cs typeface="+mj-cs"/>
              </a:rPr>
            </a:br>
            <a:r>
              <a:rPr kumimoji="0" lang="en-US" sz="1400" b="0" i="0" u="none" strike="noStrike" kern="1200" cap="none" spc="0" normalizeH="0" baseline="0" noProof="0">
                <a:ln>
                  <a:noFill/>
                </a:ln>
                <a:solidFill>
                  <a:srgbClr val="FFFFFF"/>
                </a:solidFill>
                <a:effectLst/>
                <a:uLnTx/>
                <a:uFillTx/>
                <a:latin typeface="Ubuntu Medium"/>
                <a:ea typeface="+mj-ea"/>
                <a:cs typeface="+mj-cs"/>
              </a:rPr>
              <a:t>Capgemini Insights &amp; Data, </a:t>
            </a:r>
            <a:br>
              <a:rPr kumimoji="0" lang="en-US" sz="1400" b="0" i="0" u="none" strike="noStrike" kern="1200" cap="none" spc="0" normalizeH="0" baseline="0" noProof="0">
                <a:ln>
                  <a:noFill/>
                </a:ln>
                <a:solidFill>
                  <a:srgbClr val="FFFFFF"/>
                </a:solidFill>
                <a:effectLst/>
                <a:uLnTx/>
                <a:uFillTx/>
                <a:latin typeface="Ubuntu Medium"/>
                <a:ea typeface="+mj-ea"/>
                <a:cs typeface="+mj-cs"/>
              </a:rPr>
            </a:br>
            <a:r>
              <a:rPr kumimoji="0" lang="en-US" sz="1400" b="0" i="0" u="none" strike="noStrike" kern="1200" cap="none" spc="0" normalizeH="0" baseline="0" noProof="0">
                <a:ln>
                  <a:noFill/>
                </a:ln>
                <a:solidFill>
                  <a:srgbClr val="FFFFFF"/>
                </a:solidFill>
                <a:effectLst/>
                <a:uLnTx/>
                <a:uFillTx/>
                <a:latin typeface="Ubuntu Medium"/>
                <a:ea typeface="+mj-ea"/>
                <a:cs typeface="+mj-cs"/>
              </a:rPr>
              <a:t>December 2025</a:t>
            </a:r>
            <a:endParaRPr kumimoji="0" lang="en-US" sz="1800" b="0" i="0" u="none" strike="noStrike" kern="1200" cap="none" spc="0" normalizeH="0" baseline="0" noProof="0">
              <a:ln>
                <a:noFill/>
              </a:ln>
              <a:solidFill>
                <a:srgbClr val="FFFFFF"/>
              </a:solidFill>
              <a:effectLst/>
              <a:uLnTx/>
              <a:uFillTx/>
              <a:latin typeface="Ubuntu Medium"/>
              <a:ea typeface="+mj-ea"/>
              <a:cs typeface="+mj-cs"/>
            </a:endParaRPr>
          </a:p>
        </p:txBody>
      </p:sp>
      <p:sp>
        <p:nvSpPr>
          <p:cNvPr id="8" name="Title 2">
            <a:extLst>
              <a:ext uri="{FF2B5EF4-FFF2-40B4-BE49-F238E27FC236}">
                <a16:creationId xmlns:a16="http://schemas.microsoft.com/office/drawing/2014/main" id="{6F933C50-DE14-0632-9D3B-B02C8B478D7F}"/>
              </a:ext>
            </a:extLst>
          </p:cNvPr>
          <p:cNvSpPr txBox="1">
            <a:spLocks/>
          </p:cNvSpPr>
          <p:nvPr/>
        </p:nvSpPr>
        <p:spPr>
          <a:xfrm>
            <a:off x="365648" y="1822994"/>
            <a:ext cx="5284767" cy="1677988"/>
          </a:xfrm>
          <a:prstGeom prst="rect">
            <a:avLst/>
          </a:prstGeom>
          <a:noFill/>
        </p:spPr>
        <p:txBody>
          <a:bodyPr vert="horz" lIns="0" tIns="0" rIns="0" bIns="126000" rtlCol="0" anchor="b" anchorCtr="0">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baseline="0" noProof="0">
                <a:ln>
                  <a:noFill/>
                </a:ln>
                <a:solidFill>
                  <a:srgbClr val="FFFFFF"/>
                </a:solidFill>
                <a:effectLst/>
                <a:uLnTx/>
                <a:uFillTx/>
                <a:latin typeface="Ubuntu"/>
                <a:ea typeface="+mj-ea"/>
                <a:cs typeface="+mj-cs"/>
              </a:rPr>
              <a:t>Make Agentic Data Trust </a:t>
            </a:r>
            <a:r>
              <a:rPr kumimoji="0" lang="en-US" sz="5400" b="0" i="1" u="none" strike="noStrike" kern="1200" cap="none" spc="0" normalizeH="0" baseline="0" noProof="0">
                <a:ln>
                  <a:noFill/>
                </a:ln>
                <a:solidFill>
                  <a:srgbClr val="1DB6F3"/>
                </a:solidFill>
                <a:effectLst/>
                <a:uLnTx/>
                <a:uFillTx/>
                <a:latin typeface="Ubuntu"/>
                <a:ea typeface="+mj-ea"/>
                <a:cs typeface="+mj-cs"/>
              </a:rPr>
              <a:t>real</a:t>
            </a:r>
            <a:r>
              <a:rPr kumimoji="0" lang="en-US" sz="5400" b="0" i="0" u="none" strike="noStrike" kern="1200" cap="none" spc="0" normalizeH="0" baseline="0" noProof="0">
                <a:ln>
                  <a:noFill/>
                </a:ln>
                <a:solidFill>
                  <a:srgbClr val="1DB6F3"/>
                </a:solidFill>
                <a:effectLst/>
                <a:uLnTx/>
                <a:uFillTx/>
                <a:latin typeface="Ubuntu"/>
                <a:ea typeface="+mj-ea"/>
                <a:cs typeface="+mj-cs"/>
              </a:rPr>
              <a:t>.</a:t>
            </a:r>
          </a:p>
        </p:txBody>
      </p:sp>
      <p:grpSp>
        <p:nvGrpSpPr>
          <p:cNvPr id="13" name="Group 37">
            <a:extLst>
              <a:ext uri="{FF2B5EF4-FFF2-40B4-BE49-F238E27FC236}">
                <a16:creationId xmlns:a16="http://schemas.microsoft.com/office/drawing/2014/main" id="{B5BB1653-A964-DDA4-E954-064E09352A94}"/>
              </a:ext>
            </a:extLst>
          </p:cNvPr>
          <p:cNvGrpSpPr/>
          <p:nvPr/>
        </p:nvGrpSpPr>
        <p:grpSpPr>
          <a:xfrm>
            <a:off x="11770322" y="176700"/>
            <a:ext cx="260230" cy="240782"/>
            <a:chOff x="5481638" y="2859088"/>
            <a:chExt cx="1231900" cy="1139825"/>
          </a:xfrm>
          <a:solidFill>
            <a:schemeClr val="bg1"/>
          </a:solidFill>
        </p:grpSpPr>
        <p:sp>
          <p:nvSpPr>
            <p:cNvPr id="14" name="Freeform 320">
              <a:extLst>
                <a:ext uri="{FF2B5EF4-FFF2-40B4-BE49-F238E27FC236}">
                  <a16:creationId xmlns:a16="http://schemas.microsoft.com/office/drawing/2014/main" id="{6CFE7524-C62B-1FE4-6B44-79F02875C7B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57AB"/>
                </a:solidFill>
                <a:effectLst/>
                <a:uLnTx/>
                <a:uFillTx/>
                <a:latin typeface="Ubuntu"/>
                <a:ea typeface="+mn-ea"/>
                <a:cs typeface="+mn-cs"/>
              </a:endParaRPr>
            </a:p>
          </p:txBody>
        </p:sp>
        <p:sp>
          <p:nvSpPr>
            <p:cNvPr id="15" name="Freeform 321">
              <a:extLst>
                <a:ext uri="{FF2B5EF4-FFF2-40B4-BE49-F238E27FC236}">
                  <a16:creationId xmlns:a16="http://schemas.microsoft.com/office/drawing/2014/main" id="{6849BE18-BF48-F299-5D62-195782430240}"/>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57AB"/>
                </a:solidFill>
                <a:effectLst/>
                <a:uLnTx/>
                <a:uFillTx/>
                <a:latin typeface="Ubuntu"/>
                <a:ea typeface="+mn-ea"/>
                <a:cs typeface="+mn-cs"/>
              </a:endParaRPr>
            </a:p>
          </p:txBody>
        </p:sp>
      </p:grpSp>
    </p:spTree>
    <p:extLst>
      <p:ext uri="{BB962C8B-B14F-4D97-AF65-F5344CB8AC3E}">
        <p14:creationId xmlns:p14="http://schemas.microsoft.com/office/powerpoint/2010/main" val="3901002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30E03F-37F6-17C3-D36C-EEF6CA84B4A9}"/>
              </a:ext>
            </a:extLst>
          </p:cNvPr>
          <p:cNvSpPr>
            <a:spLocks noGrp="1"/>
          </p:cNvSpPr>
          <p:nvPr>
            <p:ph type="body" sz="quarter" idx="10"/>
          </p:nvPr>
        </p:nvSpPr>
        <p:spPr/>
        <p:txBody>
          <a:bodyPr vert="horz" lIns="0" tIns="0" rIns="0" bIns="0" rtlCol="0" anchor="t">
            <a:normAutofit/>
          </a:bodyPr>
          <a:lstStyle/>
          <a:p>
            <a:r>
              <a:rPr lang="en-US">
                <a:latin typeface="Ubuntu"/>
              </a:rPr>
              <a:t>Most Data Catalog tools can </a:t>
            </a:r>
            <a:r>
              <a:rPr lang="en-US" b="1">
                <a:latin typeface="Ubuntu"/>
              </a:rPr>
              <a:t>parse lineage within a single system</a:t>
            </a:r>
            <a:r>
              <a:rPr lang="en-US">
                <a:latin typeface="Ubuntu"/>
              </a:rPr>
              <a:t> (e.g., inside Snowflake or inside Power BI). But when data moves across systems—say from an S3 bucket → Spark job → Snowflake table → BI dashboard—those tools struggle to connect the dots. The result? You get isolated lineage chains instead of a </a:t>
            </a:r>
            <a:r>
              <a:rPr lang="en-US" b="1">
                <a:latin typeface="Ubuntu"/>
              </a:rPr>
              <a:t>complete end-to-end view</a:t>
            </a:r>
            <a:r>
              <a:rPr lang="en-US">
                <a:latin typeface="Ubuntu"/>
              </a:rPr>
              <a:t>.</a:t>
            </a:r>
          </a:p>
          <a:p>
            <a:r>
              <a:rPr lang="en-US" b="1">
                <a:latin typeface="Ubuntu"/>
              </a:rPr>
              <a:t>The Agent should be able to...</a:t>
            </a:r>
            <a:endParaRPr lang="en-US">
              <a:latin typeface="Ubuntu"/>
            </a:endParaRPr>
          </a:p>
          <a:p>
            <a:pPr marL="457200" indent="-457200">
              <a:buAutoNum type="arabicPeriod"/>
            </a:pPr>
            <a:r>
              <a:rPr lang="en-US" b="1">
                <a:latin typeface="Ubuntu"/>
              </a:rPr>
              <a:t>...collect lineage fragments from various sources</a:t>
            </a:r>
            <a:endParaRPr lang="en-US"/>
          </a:p>
          <a:p>
            <a:pPr marL="457200" indent="-457200">
              <a:buAutoNum type="arabicPeriod"/>
            </a:pPr>
            <a:r>
              <a:rPr lang="en-US" b="1">
                <a:latin typeface="Ubuntu"/>
              </a:rPr>
              <a:t>...normalize and understand context and similarities between systems</a:t>
            </a:r>
            <a:endParaRPr lang="en-US"/>
          </a:p>
          <a:p>
            <a:pPr marL="457200" indent="-457200">
              <a:buAutoNum type="arabicPeriod"/>
            </a:pPr>
            <a:r>
              <a:rPr lang="en-US" b="1">
                <a:latin typeface="Ubuntu"/>
              </a:rPr>
              <a:t>...stitch the fragments from across systems into a unified graph</a:t>
            </a:r>
            <a:endParaRPr lang="en-US"/>
          </a:p>
          <a:p>
            <a:pPr marL="457200" indent="-457200">
              <a:buAutoNum type="arabicPeriod"/>
            </a:pPr>
            <a:r>
              <a:rPr lang="en-US" b="1">
                <a:latin typeface="Ubuntu"/>
              </a:rPr>
              <a:t>...generate a visual map via a cross-system lineage diagram</a:t>
            </a:r>
            <a:endParaRPr lang="en-US"/>
          </a:p>
          <a:p>
            <a:pPr marL="457200" indent="-457200">
              <a:buAutoNum type="arabicPeriod"/>
            </a:pPr>
            <a:r>
              <a:rPr lang="en-US" b="1">
                <a:latin typeface="Ubuntu"/>
              </a:rPr>
              <a:t>...validate maps with SMEs and publish them to the Catalog</a:t>
            </a:r>
            <a:endParaRPr lang="en-US"/>
          </a:p>
          <a:p>
            <a:endParaRPr lang="en-US">
              <a:latin typeface="Ubuntu"/>
            </a:endParaRPr>
          </a:p>
        </p:txBody>
      </p:sp>
      <p:sp>
        <p:nvSpPr>
          <p:cNvPr id="3" name="Title 2">
            <a:extLst>
              <a:ext uri="{FF2B5EF4-FFF2-40B4-BE49-F238E27FC236}">
                <a16:creationId xmlns:a16="http://schemas.microsoft.com/office/drawing/2014/main" id="{71840D0B-3736-FD4B-936E-82D1CD3D112B}"/>
              </a:ext>
            </a:extLst>
          </p:cNvPr>
          <p:cNvSpPr>
            <a:spLocks noGrp="1"/>
          </p:cNvSpPr>
          <p:nvPr>
            <p:ph type="title"/>
          </p:nvPr>
        </p:nvSpPr>
        <p:spPr/>
        <p:txBody>
          <a:bodyPr/>
          <a:lstStyle/>
          <a:p>
            <a:r>
              <a:rPr lang="en-US" cap="none"/>
              <a:t>Problem statement</a:t>
            </a:r>
          </a:p>
        </p:txBody>
      </p:sp>
    </p:spTree>
    <p:extLst>
      <p:ext uri="{BB962C8B-B14F-4D97-AF65-F5344CB8AC3E}">
        <p14:creationId xmlns:p14="http://schemas.microsoft.com/office/powerpoint/2010/main" val="4122517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BC12-A6CF-0C2B-878D-124532F332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E3BBF9-E9FC-6BDE-B913-568A212264A6}"/>
              </a:ext>
            </a:extLst>
          </p:cNvPr>
          <p:cNvSpPr>
            <a:spLocks noGrp="1"/>
          </p:cNvSpPr>
          <p:nvPr>
            <p:ph type="title"/>
          </p:nvPr>
        </p:nvSpPr>
        <p:spPr>
          <a:xfrm>
            <a:off x="482446" y="388188"/>
            <a:ext cx="11616509" cy="716711"/>
          </a:xfrm>
        </p:spPr>
        <p:txBody>
          <a:bodyPr/>
          <a:lstStyle/>
          <a:p>
            <a:r>
              <a:rPr lang="en-GB" cap="none">
                <a:latin typeface="Ubuntu Medium" panose="020B0604030602030204" pitchFamily="34" charset="0"/>
              </a:rPr>
              <a:t>Capgemini’s Agentic End-to-End Data Lineage Stitching</a:t>
            </a:r>
          </a:p>
        </p:txBody>
      </p:sp>
      <p:sp>
        <p:nvSpPr>
          <p:cNvPr id="7" name="TextBox 6">
            <a:extLst>
              <a:ext uri="{FF2B5EF4-FFF2-40B4-BE49-F238E27FC236}">
                <a16:creationId xmlns:a16="http://schemas.microsoft.com/office/drawing/2014/main" id="{6D34BD36-55AB-AEF1-F02D-86CBCCE8BF10}"/>
              </a:ext>
            </a:extLst>
          </p:cNvPr>
          <p:cNvSpPr txBox="1"/>
          <p:nvPr/>
        </p:nvSpPr>
        <p:spPr>
          <a:xfrm>
            <a:off x="8379149" y="4085701"/>
            <a:ext cx="339358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12ABDB">
                    <a:lumMod val="20000"/>
                    <a:lumOff val="80000"/>
                  </a:srgbClr>
                </a:solidFill>
                <a:effectLst/>
                <a:uLnTx/>
                <a:uFillTx/>
                <a:latin typeface="Ubuntu"/>
                <a:ea typeface="+mn-ea"/>
                <a:cs typeface="+mn-cs"/>
              </a:rPr>
              <a:t>Sample </a:t>
            </a:r>
            <a:r>
              <a:rPr lang="en-GB" sz="1400">
                <a:solidFill>
                  <a:srgbClr val="12ABDB">
                    <a:lumMod val="20000"/>
                    <a:lumOff val="80000"/>
                  </a:srgbClr>
                </a:solidFill>
                <a:latin typeface="Ubuntu"/>
              </a:rPr>
              <a:t>end-to-end data lineage </a:t>
            </a:r>
            <a:br>
              <a:rPr lang="en-GB" sz="1400">
                <a:solidFill>
                  <a:srgbClr val="12ABDB">
                    <a:lumMod val="20000"/>
                    <a:lumOff val="80000"/>
                  </a:srgbClr>
                </a:solidFill>
                <a:latin typeface="Ubuntu"/>
              </a:rPr>
            </a:br>
            <a:r>
              <a:rPr lang="en-GB" sz="1400">
                <a:solidFill>
                  <a:srgbClr val="12ABDB">
                    <a:lumMod val="20000"/>
                    <a:lumOff val="80000"/>
                  </a:srgbClr>
                </a:solidFill>
                <a:latin typeface="Ubuntu"/>
              </a:rPr>
              <a:t>for Customer Status</a:t>
            </a:r>
            <a:r>
              <a:rPr lang="en-GB" sz="1400">
                <a:solidFill>
                  <a:srgbClr val="FF0000"/>
                </a:solidFill>
                <a:latin typeface="Ubuntu"/>
              </a:rPr>
              <a:t> </a:t>
            </a:r>
            <a:r>
              <a:rPr lang="en-GB" sz="1400">
                <a:solidFill>
                  <a:srgbClr val="12ABDB">
                    <a:lumMod val="20000"/>
                    <a:lumOff val="80000"/>
                  </a:srgbClr>
                </a:solidFill>
                <a:latin typeface="Ubuntu"/>
              </a:rPr>
              <a:t>data</a:t>
            </a:r>
            <a:endParaRPr kumimoji="0" lang="en-GB" sz="1800" b="0" i="0" u="none" strike="noStrike" kern="1200" cap="none" spc="0" normalizeH="0" baseline="0" noProof="0">
              <a:ln>
                <a:noFill/>
              </a:ln>
              <a:solidFill>
                <a:srgbClr val="12ABDB">
                  <a:lumMod val="20000"/>
                  <a:lumOff val="80000"/>
                </a:srgbClr>
              </a:solidFill>
              <a:effectLst/>
              <a:uLnTx/>
              <a:uFillTx/>
              <a:latin typeface="Ubuntu"/>
              <a:ea typeface="+mn-ea"/>
              <a:cs typeface="+mn-cs"/>
            </a:endParaRPr>
          </a:p>
        </p:txBody>
      </p:sp>
      <p:sp>
        <p:nvSpPr>
          <p:cNvPr id="26" name="TextBox 25">
            <a:extLst>
              <a:ext uri="{FF2B5EF4-FFF2-40B4-BE49-F238E27FC236}">
                <a16:creationId xmlns:a16="http://schemas.microsoft.com/office/drawing/2014/main" id="{E2B4B989-A221-98ED-57C3-909A7A50A089}"/>
              </a:ext>
            </a:extLst>
          </p:cNvPr>
          <p:cNvSpPr txBox="1"/>
          <p:nvPr/>
        </p:nvSpPr>
        <p:spPr>
          <a:xfrm>
            <a:off x="4217298" y="1160923"/>
            <a:ext cx="3115169" cy="2970044"/>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chemeClr val="bg1"/>
                </a:solidFill>
                <a:effectLst/>
                <a:uLnTx/>
                <a:uFillTx/>
                <a:latin typeface="Ubuntu"/>
                <a:ea typeface="+mn-ea"/>
                <a:cs typeface="+mn-cs"/>
              </a:rPr>
              <a:t>The corporate LLM loaded with authoritative enterprise documentation enables </a:t>
            </a:r>
            <a:r>
              <a:rPr kumimoji="0" lang="en-GB" sz="1400" b="0" i="0" u="none" strike="noStrike" kern="1200" cap="none" spc="0" normalizeH="0" baseline="0" noProof="0">
                <a:ln>
                  <a:noFill/>
                </a:ln>
                <a:solidFill>
                  <a:srgbClr val="FF0000"/>
                </a:solidFill>
                <a:effectLst/>
                <a:uLnTx/>
                <a:uFillTx/>
                <a:latin typeface="Ubuntu"/>
                <a:ea typeface="+mn-ea"/>
                <a:cs typeface="+mn-cs"/>
              </a:rPr>
              <a:t>5</a:t>
            </a:r>
            <a:r>
              <a:rPr kumimoji="0" lang="en-GB" sz="1400" b="0" i="0" u="none" strike="noStrike" kern="1200" cap="none" spc="0" normalizeH="0" baseline="0" noProof="0">
                <a:ln>
                  <a:noFill/>
                </a:ln>
                <a:solidFill>
                  <a:schemeClr val="bg1"/>
                </a:solidFill>
                <a:effectLst/>
                <a:uLnTx/>
                <a:uFillTx/>
                <a:latin typeface="Ubuntu"/>
                <a:ea typeface="+mn-ea"/>
                <a:cs typeface="+mn-cs"/>
              </a:rPr>
              <a:t> AI Agents:</a:t>
            </a:r>
          </a:p>
          <a:p>
            <a:pPr marL="0" marR="0" lvl="0" indent="0" defTabSz="914400" rtl="0" eaLnBrk="1" fontAlgn="auto" latinLnBrk="0" hangingPunct="1">
              <a:lnSpc>
                <a:spcPct val="100000"/>
              </a:lnSpc>
              <a:spcBef>
                <a:spcPts val="1800"/>
              </a:spcBef>
              <a:spcAft>
                <a:spcPts val="0"/>
              </a:spcAft>
              <a:buClrTx/>
              <a:buSzTx/>
              <a:buFontTx/>
              <a:buNone/>
              <a:tabLst/>
              <a:defRPr/>
            </a:pPr>
            <a:r>
              <a:rPr kumimoji="0" lang="en-GB" sz="1400" b="0" i="1" u="none" strike="noStrike" kern="1200" cap="none" spc="0" normalizeH="0" baseline="0" noProof="0">
                <a:ln>
                  <a:noFill/>
                </a:ln>
                <a:solidFill>
                  <a:schemeClr val="bg1"/>
                </a:solidFill>
                <a:effectLst/>
                <a:uLnTx/>
                <a:uFillTx/>
                <a:latin typeface="Ubuntu"/>
                <a:ea typeface="+mn-ea"/>
                <a:cs typeface="+mn-cs"/>
              </a:rPr>
              <a:t>           Agent 1:</a:t>
            </a:r>
            <a:r>
              <a:rPr kumimoji="0" lang="en-GB" sz="1400" b="0" i="0" u="none" strike="noStrike" kern="1200" cap="none" spc="0" normalizeH="0" baseline="0" noProof="0">
                <a:ln>
                  <a:noFill/>
                </a:ln>
                <a:solidFill>
                  <a:schemeClr val="bg1"/>
                </a:solidFill>
                <a:effectLst/>
                <a:uLnTx/>
                <a:uFillTx/>
                <a:latin typeface="Ubuntu"/>
                <a:ea typeface="+mn-ea"/>
                <a:cs typeface="+mn-cs"/>
              </a:rPr>
              <a:t> </a:t>
            </a:r>
            <a:r>
              <a:rPr kumimoji="0" lang="en-GB" sz="1400" b="0" i="0" u="none" strike="noStrike" kern="1200" cap="none" spc="0" normalizeH="0" baseline="0" noProof="0">
                <a:ln>
                  <a:noFill/>
                </a:ln>
                <a:solidFill>
                  <a:srgbClr val="FF0000"/>
                </a:solidFill>
                <a:effectLst/>
                <a:uLnTx/>
                <a:uFillTx/>
                <a:latin typeface="Ubuntu"/>
                <a:ea typeface="+mn-ea"/>
                <a:cs typeface="+mn-cs"/>
              </a:rPr>
              <a:t>Parse</a:t>
            </a:r>
          </a:p>
          <a:p>
            <a:pPr marL="0" marR="0" lvl="0" indent="0" defTabSz="914400" rtl="0" eaLnBrk="1" fontAlgn="auto" latinLnBrk="0" hangingPunct="1">
              <a:lnSpc>
                <a:spcPct val="100000"/>
              </a:lnSpc>
              <a:spcBef>
                <a:spcPts val="1800"/>
              </a:spcBef>
              <a:spcAft>
                <a:spcPts val="0"/>
              </a:spcAft>
              <a:buClrTx/>
              <a:buSzTx/>
              <a:buFontTx/>
              <a:buNone/>
              <a:tabLst/>
              <a:defRPr/>
            </a:pPr>
            <a:r>
              <a:rPr lang="en-GB" sz="1400" i="1">
                <a:solidFill>
                  <a:schemeClr val="bg1"/>
                </a:solidFill>
                <a:latin typeface="Ubuntu"/>
              </a:rPr>
              <a:t>           Agent 2:</a:t>
            </a:r>
            <a:r>
              <a:rPr lang="en-GB" sz="1400">
                <a:solidFill>
                  <a:schemeClr val="bg1"/>
                </a:solidFill>
                <a:latin typeface="Ubuntu"/>
              </a:rPr>
              <a:t> </a:t>
            </a:r>
            <a:r>
              <a:rPr lang="en-GB" sz="1400">
                <a:solidFill>
                  <a:srgbClr val="FF0000"/>
                </a:solidFill>
                <a:latin typeface="Ubuntu"/>
              </a:rPr>
              <a:t>Draft</a:t>
            </a:r>
          </a:p>
          <a:p>
            <a:pPr marL="0" marR="0" lvl="0" indent="0" defTabSz="914400" rtl="0" eaLnBrk="1" fontAlgn="auto" latinLnBrk="0" hangingPunct="1">
              <a:lnSpc>
                <a:spcPct val="100000"/>
              </a:lnSpc>
              <a:spcBef>
                <a:spcPts val="1800"/>
              </a:spcBef>
              <a:spcAft>
                <a:spcPts val="0"/>
              </a:spcAft>
              <a:buClrTx/>
              <a:buSzTx/>
              <a:buFontTx/>
              <a:buNone/>
              <a:tabLst/>
              <a:defRPr/>
            </a:pPr>
            <a:r>
              <a:rPr kumimoji="0" lang="en-GB" sz="1400" b="0" i="1" u="none" strike="noStrike" kern="1200" cap="none" spc="0" normalizeH="0" baseline="0" noProof="0">
                <a:ln>
                  <a:noFill/>
                </a:ln>
                <a:solidFill>
                  <a:schemeClr val="bg1"/>
                </a:solidFill>
                <a:effectLst/>
                <a:uLnTx/>
                <a:uFillTx/>
                <a:latin typeface="Ubuntu"/>
                <a:ea typeface="+mn-ea"/>
                <a:cs typeface="+mn-cs"/>
              </a:rPr>
              <a:t>           Agent 3:</a:t>
            </a:r>
            <a:r>
              <a:rPr kumimoji="0" lang="en-GB" sz="1400" b="0" i="0" u="none" strike="noStrike" kern="1200" cap="none" spc="0" normalizeH="0" baseline="0" noProof="0">
                <a:ln>
                  <a:noFill/>
                </a:ln>
                <a:solidFill>
                  <a:schemeClr val="bg1"/>
                </a:solidFill>
                <a:effectLst/>
                <a:uLnTx/>
                <a:uFillTx/>
                <a:latin typeface="Ubuntu"/>
                <a:ea typeface="+mn-ea"/>
                <a:cs typeface="+mn-cs"/>
              </a:rPr>
              <a:t> </a:t>
            </a:r>
            <a:r>
              <a:rPr kumimoji="0" lang="en-GB" sz="1400" b="0" i="0" u="none" strike="noStrike" kern="1200" cap="none" spc="0" normalizeH="0" baseline="0" noProof="0">
                <a:ln>
                  <a:noFill/>
                </a:ln>
                <a:solidFill>
                  <a:srgbClr val="FF0000"/>
                </a:solidFill>
                <a:effectLst/>
                <a:uLnTx/>
                <a:uFillTx/>
                <a:latin typeface="Ubuntu"/>
                <a:ea typeface="+mn-ea"/>
                <a:cs typeface="+mn-cs"/>
              </a:rPr>
              <a:t>Gap analysis</a:t>
            </a:r>
          </a:p>
          <a:p>
            <a:pPr marL="0" marR="0" lvl="0" indent="0" defTabSz="914400" rtl="0" eaLnBrk="1" fontAlgn="auto" latinLnBrk="0" hangingPunct="1">
              <a:lnSpc>
                <a:spcPct val="100000"/>
              </a:lnSpc>
              <a:spcBef>
                <a:spcPts val="1800"/>
              </a:spcBef>
              <a:spcAft>
                <a:spcPts val="0"/>
              </a:spcAft>
              <a:buClrTx/>
              <a:buSzTx/>
              <a:buFontTx/>
              <a:buNone/>
              <a:tabLst/>
              <a:defRPr/>
            </a:pPr>
            <a:r>
              <a:rPr lang="en-GB" sz="1400" i="1">
                <a:solidFill>
                  <a:schemeClr val="bg1"/>
                </a:solidFill>
                <a:latin typeface="Ubuntu"/>
              </a:rPr>
              <a:t>           Agent 4: </a:t>
            </a:r>
            <a:r>
              <a:rPr lang="en-GB" sz="1400">
                <a:solidFill>
                  <a:srgbClr val="FF0000"/>
                </a:solidFill>
                <a:latin typeface="Ubuntu"/>
              </a:rPr>
              <a:t>Final draft</a:t>
            </a:r>
          </a:p>
          <a:p>
            <a:pPr marL="0" marR="0" lvl="0" indent="0" defTabSz="914400" rtl="0" eaLnBrk="1" fontAlgn="auto" latinLnBrk="0" hangingPunct="1">
              <a:lnSpc>
                <a:spcPct val="100000"/>
              </a:lnSpc>
              <a:spcBef>
                <a:spcPts val="1800"/>
              </a:spcBef>
              <a:spcAft>
                <a:spcPts val="0"/>
              </a:spcAft>
              <a:buClrTx/>
              <a:buSzTx/>
              <a:buFontTx/>
              <a:buNone/>
              <a:tabLst/>
              <a:defRPr/>
            </a:pPr>
            <a:r>
              <a:rPr kumimoji="0" lang="en-GB" sz="1400" b="0" i="1" u="none" strike="noStrike" kern="1200" cap="none" spc="0" normalizeH="0" baseline="0" noProof="0">
                <a:ln>
                  <a:noFill/>
                </a:ln>
                <a:solidFill>
                  <a:schemeClr val="bg1"/>
                </a:solidFill>
                <a:effectLst/>
                <a:uLnTx/>
                <a:uFillTx/>
                <a:latin typeface="Ubuntu"/>
                <a:ea typeface="+mn-ea"/>
                <a:cs typeface="+mn-cs"/>
              </a:rPr>
              <a:t>           Agent</a:t>
            </a:r>
            <a:r>
              <a:rPr lang="en-GB" sz="1400" i="1">
                <a:solidFill>
                  <a:schemeClr val="bg1"/>
                </a:solidFill>
                <a:latin typeface="Ubuntu"/>
              </a:rPr>
              <a:t> 5: </a:t>
            </a:r>
            <a:r>
              <a:rPr lang="en-GB" sz="1400">
                <a:solidFill>
                  <a:srgbClr val="FF0000"/>
                </a:solidFill>
                <a:latin typeface="Ubuntu"/>
              </a:rPr>
              <a:t>Load to Data Catalog </a:t>
            </a:r>
            <a:endParaRPr kumimoji="0" lang="en-GB" sz="1800" b="0" i="0" u="none" strike="noStrike" kern="1200" cap="none" spc="0" normalizeH="0" baseline="0" noProof="0">
              <a:ln>
                <a:noFill/>
              </a:ln>
              <a:solidFill>
                <a:srgbClr val="FF0000"/>
              </a:solidFill>
              <a:effectLst/>
              <a:uLnTx/>
              <a:uFillTx/>
              <a:latin typeface="Ubuntu"/>
              <a:ea typeface="+mn-ea"/>
              <a:cs typeface="+mn-cs"/>
            </a:endParaRPr>
          </a:p>
        </p:txBody>
      </p:sp>
      <p:pic>
        <p:nvPicPr>
          <p:cNvPr id="54" name="Google Shape;637;p51">
            <a:extLst>
              <a:ext uri="{FF2B5EF4-FFF2-40B4-BE49-F238E27FC236}">
                <a16:creationId xmlns:a16="http://schemas.microsoft.com/office/drawing/2014/main" id="{2770C762-66FC-DF99-CBAF-928D29E34F1E}"/>
              </a:ext>
            </a:extLst>
          </p:cNvPr>
          <p:cNvPicPr preferRelativeResize="0">
            <a:picLocks noChangeAspect="1"/>
          </p:cNvPicPr>
          <p:nvPr/>
        </p:nvPicPr>
        <p:blipFill rotWithShape="1">
          <a:blip r:embed="rId2">
            <a:alphaModFix/>
          </a:blip>
          <a:srcRect l="5728" t="10800" r="50174" b="51184"/>
          <a:stretch/>
        </p:blipFill>
        <p:spPr>
          <a:xfrm>
            <a:off x="4322141" y="1975463"/>
            <a:ext cx="360000" cy="310345"/>
          </a:xfrm>
          <a:prstGeom prst="rect">
            <a:avLst/>
          </a:prstGeom>
          <a:noFill/>
          <a:ln>
            <a:noFill/>
          </a:ln>
        </p:spPr>
      </p:pic>
      <p:pic>
        <p:nvPicPr>
          <p:cNvPr id="55" name="Google Shape;638;p51">
            <a:extLst>
              <a:ext uri="{FF2B5EF4-FFF2-40B4-BE49-F238E27FC236}">
                <a16:creationId xmlns:a16="http://schemas.microsoft.com/office/drawing/2014/main" id="{12C6BD1C-7380-2DCF-DF8B-0416030BD06D}"/>
              </a:ext>
            </a:extLst>
          </p:cNvPr>
          <p:cNvPicPr preferRelativeResize="0">
            <a:picLocks noChangeAspect="1"/>
          </p:cNvPicPr>
          <p:nvPr/>
        </p:nvPicPr>
        <p:blipFill rotWithShape="1">
          <a:blip r:embed="rId2">
            <a:alphaModFix/>
          </a:blip>
          <a:srcRect l="51042" t="47412" r="4859" b="8362"/>
          <a:stretch/>
        </p:blipFill>
        <p:spPr>
          <a:xfrm>
            <a:off x="4322141" y="3024991"/>
            <a:ext cx="360000" cy="361025"/>
          </a:xfrm>
          <a:prstGeom prst="rect">
            <a:avLst/>
          </a:prstGeom>
          <a:noFill/>
          <a:ln>
            <a:noFill/>
          </a:ln>
        </p:spPr>
      </p:pic>
      <p:pic>
        <p:nvPicPr>
          <p:cNvPr id="56" name="Google Shape;643;p51">
            <a:extLst>
              <a:ext uri="{FF2B5EF4-FFF2-40B4-BE49-F238E27FC236}">
                <a16:creationId xmlns:a16="http://schemas.microsoft.com/office/drawing/2014/main" id="{96D81054-5BF2-9FBF-E9E5-4EC8A587FD57}"/>
              </a:ext>
            </a:extLst>
          </p:cNvPr>
          <p:cNvPicPr preferRelativeResize="0">
            <a:picLocks noChangeAspect="1"/>
          </p:cNvPicPr>
          <p:nvPr/>
        </p:nvPicPr>
        <p:blipFill rotWithShape="1">
          <a:blip r:embed="rId2">
            <a:alphaModFix/>
          </a:blip>
          <a:srcRect l="48763" t="8362" r="7139" b="47412"/>
          <a:stretch/>
        </p:blipFill>
        <p:spPr>
          <a:xfrm>
            <a:off x="4322141" y="2474887"/>
            <a:ext cx="360000" cy="361025"/>
          </a:xfrm>
          <a:prstGeom prst="rect">
            <a:avLst/>
          </a:prstGeom>
          <a:noFill/>
          <a:ln>
            <a:noFill/>
          </a:ln>
        </p:spPr>
      </p:pic>
      <p:pic>
        <p:nvPicPr>
          <p:cNvPr id="57" name="Google Shape;644;p51">
            <a:extLst>
              <a:ext uri="{FF2B5EF4-FFF2-40B4-BE49-F238E27FC236}">
                <a16:creationId xmlns:a16="http://schemas.microsoft.com/office/drawing/2014/main" id="{73B28055-9257-AC36-298A-7C128BE104DF}"/>
              </a:ext>
            </a:extLst>
          </p:cNvPr>
          <p:cNvPicPr preferRelativeResize="0">
            <a:picLocks noChangeAspect="1"/>
          </p:cNvPicPr>
          <p:nvPr/>
        </p:nvPicPr>
        <p:blipFill rotWithShape="1">
          <a:blip r:embed="rId2">
            <a:alphaModFix/>
          </a:blip>
          <a:srcRect l="5053" t="47412" r="50848" b="8362"/>
          <a:stretch/>
        </p:blipFill>
        <p:spPr>
          <a:xfrm>
            <a:off x="4322141" y="3575095"/>
            <a:ext cx="360000" cy="361025"/>
          </a:xfrm>
          <a:prstGeom prst="rect">
            <a:avLst/>
          </a:prstGeom>
          <a:noFill/>
          <a:ln>
            <a:noFill/>
          </a:ln>
        </p:spPr>
      </p:pic>
      <p:pic>
        <p:nvPicPr>
          <p:cNvPr id="58" name="Google Shape;645;p51">
            <a:extLst>
              <a:ext uri="{FF2B5EF4-FFF2-40B4-BE49-F238E27FC236}">
                <a16:creationId xmlns:a16="http://schemas.microsoft.com/office/drawing/2014/main" id="{06AEAF72-1147-888C-0113-902C7A622369}"/>
              </a:ext>
            </a:extLst>
          </p:cNvPr>
          <p:cNvPicPr preferRelativeResize="0">
            <a:picLocks noChangeAspect="1"/>
          </p:cNvPicPr>
          <p:nvPr/>
        </p:nvPicPr>
        <p:blipFill rotWithShape="1">
          <a:blip r:embed="rId2">
            <a:alphaModFix/>
          </a:blip>
          <a:srcRect l="48763" t="8362" r="7139" b="47412"/>
          <a:stretch/>
        </p:blipFill>
        <p:spPr>
          <a:xfrm>
            <a:off x="4322141" y="4125200"/>
            <a:ext cx="360000" cy="361025"/>
          </a:xfrm>
          <a:prstGeom prst="rect">
            <a:avLst/>
          </a:prstGeom>
          <a:noFill/>
          <a:ln>
            <a:noFill/>
          </a:ln>
        </p:spPr>
      </p:pic>
      <p:cxnSp>
        <p:nvCxnSpPr>
          <p:cNvPr id="2" name="Straight Arrow Connector 1">
            <a:extLst>
              <a:ext uri="{FF2B5EF4-FFF2-40B4-BE49-F238E27FC236}">
                <a16:creationId xmlns:a16="http://schemas.microsoft.com/office/drawing/2014/main" id="{1E99620D-CEA9-0117-D97D-DFBC29B9124E}"/>
              </a:ext>
            </a:extLst>
          </p:cNvPr>
          <p:cNvCxnSpPr>
            <a:cxnSpLocks/>
          </p:cNvCxnSpPr>
          <p:nvPr/>
        </p:nvCxnSpPr>
        <p:spPr>
          <a:xfrm>
            <a:off x="1790809" y="2068549"/>
            <a:ext cx="2375441" cy="716711"/>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5EDB018D-712B-C23A-51B4-AB7827551E96}"/>
              </a:ext>
            </a:extLst>
          </p:cNvPr>
          <p:cNvCxnSpPr>
            <a:cxnSpLocks/>
            <a:stCxn id="15" idx="3"/>
          </p:cNvCxnSpPr>
          <p:nvPr/>
        </p:nvCxnSpPr>
        <p:spPr>
          <a:xfrm>
            <a:off x="1542384" y="3681391"/>
            <a:ext cx="2609469" cy="144465"/>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5268CA6-2D87-1206-0813-4C4D9FBC2492}"/>
              </a:ext>
            </a:extLst>
          </p:cNvPr>
          <p:cNvCxnSpPr>
            <a:cxnSpLocks/>
            <a:stCxn id="18" idx="3"/>
          </p:cNvCxnSpPr>
          <p:nvPr/>
        </p:nvCxnSpPr>
        <p:spPr>
          <a:xfrm flipV="1">
            <a:off x="1578013" y="4754880"/>
            <a:ext cx="2588237" cy="808921"/>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07DF3924-4089-A7A6-8719-0024CAFADA6A}"/>
              </a:ext>
            </a:extLst>
          </p:cNvPr>
          <p:cNvGrpSpPr/>
          <p:nvPr/>
        </p:nvGrpSpPr>
        <p:grpSpPr>
          <a:xfrm>
            <a:off x="2641076" y="1028249"/>
            <a:ext cx="1033799" cy="1456542"/>
            <a:chOff x="1888901" y="1095555"/>
            <a:chExt cx="1033799" cy="1456542"/>
          </a:xfrm>
        </p:grpSpPr>
        <p:pic>
          <p:nvPicPr>
            <p:cNvPr id="9" name="Picture 8">
              <a:extLst>
                <a:ext uri="{FF2B5EF4-FFF2-40B4-BE49-F238E27FC236}">
                  <a16:creationId xmlns:a16="http://schemas.microsoft.com/office/drawing/2014/main" id="{3E25317D-7E7A-1F32-A176-74ACA940AC4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888901" y="1095555"/>
              <a:ext cx="1033799" cy="1456542"/>
            </a:xfrm>
            <a:prstGeom prst="rect">
              <a:avLst/>
            </a:prstGeom>
          </p:spPr>
        </p:pic>
        <p:sp>
          <p:nvSpPr>
            <p:cNvPr id="10" name="Rectangle 9">
              <a:extLst>
                <a:ext uri="{FF2B5EF4-FFF2-40B4-BE49-F238E27FC236}">
                  <a16:creationId xmlns:a16="http://schemas.microsoft.com/office/drawing/2014/main" id="{0CB687F6-4FC6-C8B6-8776-8B68EFACAE20}"/>
                </a:ext>
              </a:extLst>
            </p:cNvPr>
            <p:cNvSpPr/>
            <p:nvPr/>
          </p:nvSpPr>
          <p:spPr>
            <a:xfrm>
              <a:off x="1907456" y="1557612"/>
              <a:ext cx="1002890" cy="5870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Business Glossary</a:t>
              </a:r>
              <a:endParaRPr lang="en-US" sz="1300" b="1" err="1">
                <a:solidFill>
                  <a:srgbClr val="FF0000"/>
                </a:solidFill>
              </a:endParaRPr>
            </a:p>
          </p:txBody>
        </p:sp>
      </p:grpSp>
      <p:grpSp>
        <p:nvGrpSpPr>
          <p:cNvPr id="11" name="Group 10">
            <a:extLst>
              <a:ext uri="{FF2B5EF4-FFF2-40B4-BE49-F238E27FC236}">
                <a16:creationId xmlns:a16="http://schemas.microsoft.com/office/drawing/2014/main" id="{BE7EF5BB-86E8-7979-89CD-653ED5E19AA7}"/>
              </a:ext>
            </a:extLst>
          </p:cNvPr>
          <p:cNvGrpSpPr/>
          <p:nvPr/>
        </p:nvGrpSpPr>
        <p:grpSpPr>
          <a:xfrm>
            <a:off x="1620421" y="4085701"/>
            <a:ext cx="1120746" cy="1214404"/>
            <a:chOff x="1645135" y="4176319"/>
            <a:chExt cx="1120746" cy="1214404"/>
          </a:xfrm>
        </p:grpSpPr>
        <p:pic>
          <p:nvPicPr>
            <p:cNvPr id="12" name="Picture 11">
              <a:extLst>
                <a:ext uri="{FF2B5EF4-FFF2-40B4-BE49-F238E27FC236}">
                  <a16:creationId xmlns:a16="http://schemas.microsoft.com/office/drawing/2014/main" id="{54C5B23C-D6CF-FCF4-0A32-D4C17404AB00}"/>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a:off x="1645135" y="4176319"/>
              <a:ext cx="1118455" cy="1214404"/>
            </a:xfrm>
            <a:prstGeom prst="rect">
              <a:avLst/>
            </a:prstGeom>
          </p:spPr>
        </p:pic>
        <p:sp>
          <p:nvSpPr>
            <p:cNvPr id="13" name="Rectangle 12">
              <a:extLst>
                <a:ext uri="{FF2B5EF4-FFF2-40B4-BE49-F238E27FC236}">
                  <a16:creationId xmlns:a16="http://schemas.microsoft.com/office/drawing/2014/main" id="{F968BF8E-8333-C441-5371-F6FBFAB145E9}"/>
                </a:ext>
              </a:extLst>
            </p:cNvPr>
            <p:cNvSpPr/>
            <p:nvPr/>
          </p:nvSpPr>
          <p:spPr>
            <a:xfrm>
              <a:off x="1649881" y="4586088"/>
              <a:ext cx="1116000" cy="659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Confluence / Slack</a:t>
              </a:r>
              <a:endParaRPr lang="en-US" sz="1300" b="1" err="1">
                <a:solidFill>
                  <a:srgbClr val="FF0000"/>
                </a:solidFill>
              </a:endParaRPr>
            </a:p>
          </p:txBody>
        </p:sp>
      </p:grpSp>
      <p:grpSp>
        <p:nvGrpSpPr>
          <p:cNvPr id="14" name="Group 13">
            <a:extLst>
              <a:ext uri="{FF2B5EF4-FFF2-40B4-BE49-F238E27FC236}">
                <a16:creationId xmlns:a16="http://schemas.microsoft.com/office/drawing/2014/main" id="{FA2078DA-3636-63FC-3887-1E5004481904}"/>
              </a:ext>
            </a:extLst>
          </p:cNvPr>
          <p:cNvGrpSpPr/>
          <p:nvPr/>
        </p:nvGrpSpPr>
        <p:grpSpPr>
          <a:xfrm>
            <a:off x="394861" y="3039947"/>
            <a:ext cx="1147523" cy="1282888"/>
            <a:chOff x="410130" y="3349731"/>
            <a:chExt cx="1147523" cy="1282888"/>
          </a:xfrm>
        </p:grpSpPr>
        <p:pic>
          <p:nvPicPr>
            <p:cNvPr id="15" name="Picture 14">
              <a:extLst>
                <a:ext uri="{FF2B5EF4-FFF2-40B4-BE49-F238E27FC236}">
                  <a16:creationId xmlns:a16="http://schemas.microsoft.com/office/drawing/2014/main" id="{674999C5-217A-CA5F-B27A-C56EE4C23A5D}"/>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40000" contrast="20000"/>
                      </a14:imgEffect>
                    </a14:imgLayer>
                  </a14:imgProps>
                </a:ext>
              </a:extLst>
            </a:blip>
            <a:stretch>
              <a:fillRect/>
            </a:stretch>
          </p:blipFill>
          <p:spPr>
            <a:xfrm>
              <a:off x="410130" y="3349731"/>
              <a:ext cx="1147523" cy="1282888"/>
            </a:xfrm>
            <a:prstGeom prst="rect">
              <a:avLst/>
            </a:prstGeom>
          </p:spPr>
        </p:pic>
        <p:sp>
          <p:nvSpPr>
            <p:cNvPr id="16" name="Rectangle 15">
              <a:extLst>
                <a:ext uri="{FF2B5EF4-FFF2-40B4-BE49-F238E27FC236}">
                  <a16:creationId xmlns:a16="http://schemas.microsoft.com/office/drawing/2014/main" id="{BF8EC57E-8FA7-756E-AE73-460CF3D18059}"/>
                </a:ext>
              </a:extLst>
            </p:cNvPr>
            <p:cNvSpPr/>
            <p:nvPr/>
          </p:nvSpPr>
          <p:spPr>
            <a:xfrm>
              <a:off x="410130" y="3703415"/>
              <a:ext cx="1147523" cy="5813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Data Dictionaries</a:t>
              </a:r>
              <a:endParaRPr lang="en-US" sz="1300" b="1" err="1">
                <a:solidFill>
                  <a:srgbClr val="FF0000"/>
                </a:solidFill>
              </a:endParaRPr>
            </a:p>
          </p:txBody>
        </p:sp>
      </p:grpSp>
      <p:grpSp>
        <p:nvGrpSpPr>
          <p:cNvPr id="17" name="Group 16">
            <a:extLst>
              <a:ext uri="{FF2B5EF4-FFF2-40B4-BE49-F238E27FC236}">
                <a16:creationId xmlns:a16="http://schemas.microsoft.com/office/drawing/2014/main" id="{D838D431-470A-DC1C-A520-8AD14A217609}"/>
              </a:ext>
            </a:extLst>
          </p:cNvPr>
          <p:cNvGrpSpPr/>
          <p:nvPr/>
        </p:nvGrpSpPr>
        <p:grpSpPr>
          <a:xfrm>
            <a:off x="603395" y="4882213"/>
            <a:ext cx="1002890" cy="1363175"/>
            <a:chOff x="392228" y="4880179"/>
            <a:chExt cx="1002890" cy="1363175"/>
          </a:xfrm>
        </p:grpSpPr>
        <p:pic>
          <p:nvPicPr>
            <p:cNvPr id="18" name="Picture 17">
              <a:extLst>
                <a:ext uri="{FF2B5EF4-FFF2-40B4-BE49-F238E27FC236}">
                  <a16:creationId xmlns:a16="http://schemas.microsoft.com/office/drawing/2014/main" id="{2ACC7DD2-5A50-7A95-5EB8-6249E9526260}"/>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40000"/>
                      </a14:imgEffect>
                    </a14:imgLayer>
                  </a14:imgProps>
                </a:ext>
              </a:extLst>
            </a:blip>
            <a:stretch>
              <a:fillRect/>
            </a:stretch>
          </p:blipFill>
          <p:spPr>
            <a:xfrm>
              <a:off x="402786" y="4880179"/>
              <a:ext cx="964060" cy="1363175"/>
            </a:xfrm>
            <a:prstGeom prst="rect">
              <a:avLst/>
            </a:prstGeom>
          </p:spPr>
        </p:pic>
        <p:sp>
          <p:nvSpPr>
            <p:cNvPr id="19" name="Rectangle 18">
              <a:extLst>
                <a:ext uri="{FF2B5EF4-FFF2-40B4-BE49-F238E27FC236}">
                  <a16:creationId xmlns:a16="http://schemas.microsoft.com/office/drawing/2014/main" id="{D2E8F8E3-0D89-56C9-29FC-2486D7AD0CC0}"/>
                </a:ext>
              </a:extLst>
            </p:cNvPr>
            <p:cNvSpPr/>
            <p:nvPr/>
          </p:nvSpPr>
          <p:spPr>
            <a:xfrm>
              <a:off x="392228" y="5310293"/>
              <a:ext cx="1002890" cy="4672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Data Models</a:t>
              </a:r>
              <a:endParaRPr lang="en-US" sz="1300" b="1" err="1">
                <a:solidFill>
                  <a:srgbClr val="FF0000"/>
                </a:solidFill>
              </a:endParaRPr>
            </a:p>
          </p:txBody>
        </p:sp>
      </p:grpSp>
      <p:grpSp>
        <p:nvGrpSpPr>
          <p:cNvPr id="20" name="Group 19">
            <a:extLst>
              <a:ext uri="{FF2B5EF4-FFF2-40B4-BE49-F238E27FC236}">
                <a16:creationId xmlns:a16="http://schemas.microsoft.com/office/drawing/2014/main" id="{84EA0244-767A-F110-9C14-AF4A3EA9729E}"/>
              </a:ext>
            </a:extLst>
          </p:cNvPr>
          <p:cNvGrpSpPr/>
          <p:nvPr/>
        </p:nvGrpSpPr>
        <p:grpSpPr>
          <a:xfrm>
            <a:off x="444796" y="1073961"/>
            <a:ext cx="1346013" cy="1255235"/>
            <a:chOff x="3171925" y="3999383"/>
            <a:chExt cx="1346013" cy="1255235"/>
          </a:xfrm>
        </p:grpSpPr>
        <p:pic>
          <p:nvPicPr>
            <p:cNvPr id="21" name="Picture 20">
              <a:extLst>
                <a:ext uri="{FF2B5EF4-FFF2-40B4-BE49-F238E27FC236}">
                  <a16:creationId xmlns:a16="http://schemas.microsoft.com/office/drawing/2014/main" id="{84346EE4-DCB9-68E6-B71E-0D4D92F3EBEA}"/>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40000" contrast="20000"/>
                      </a14:imgEffect>
                    </a14:imgLayer>
                  </a14:imgProps>
                </a:ext>
              </a:extLst>
            </a:blip>
            <a:stretch>
              <a:fillRect/>
            </a:stretch>
          </p:blipFill>
          <p:spPr>
            <a:xfrm>
              <a:off x="3171925" y="3999383"/>
              <a:ext cx="1346013" cy="1255235"/>
            </a:xfrm>
            <a:prstGeom prst="rect">
              <a:avLst/>
            </a:prstGeom>
          </p:spPr>
        </p:pic>
        <p:sp>
          <p:nvSpPr>
            <p:cNvPr id="22" name="Rectangle 21">
              <a:extLst>
                <a:ext uri="{FF2B5EF4-FFF2-40B4-BE49-F238E27FC236}">
                  <a16:creationId xmlns:a16="http://schemas.microsoft.com/office/drawing/2014/main" id="{3A566D3F-45D4-87D8-F854-E47F6EB6D1D9}"/>
                </a:ext>
              </a:extLst>
            </p:cNvPr>
            <p:cNvSpPr/>
            <p:nvPr/>
          </p:nvSpPr>
          <p:spPr>
            <a:xfrm>
              <a:off x="3250512" y="4298984"/>
              <a:ext cx="1178632" cy="508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Interface Control Documents</a:t>
              </a:r>
              <a:endParaRPr lang="en-US" sz="1300" b="1">
                <a:solidFill>
                  <a:srgbClr val="FF0000"/>
                </a:solidFill>
              </a:endParaRPr>
            </a:p>
          </p:txBody>
        </p:sp>
      </p:grpSp>
      <p:cxnSp>
        <p:nvCxnSpPr>
          <p:cNvPr id="23" name="Straight Arrow Connector 22">
            <a:extLst>
              <a:ext uri="{FF2B5EF4-FFF2-40B4-BE49-F238E27FC236}">
                <a16:creationId xmlns:a16="http://schemas.microsoft.com/office/drawing/2014/main" id="{B5D425A1-9B4C-24C3-F467-11C35D17F513}"/>
              </a:ext>
            </a:extLst>
          </p:cNvPr>
          <p:cNvCxnSpPr>
            <a:cxnSpLocks/>
          </p:cNvCxnSpPr>
          <p:nvPr/>
        </p:nvCxnSpPr>
        <p:spPr>
          <a:xfrm>
            <a:off x="3662521" y="2068549"/>
            <a:ext cx="489332" cy="194653"/>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9FD0465-D48B-D453-22C7-7129CEC9D0FA}"/>
              </a:ext>
            </a:extLst>
          </p:cNvPr>
          <p:cNvCxnSpPr>
            <a:cxnSpLocks/>
          </p:cNvCxnSpPr>
          <p:nvPr/>
        </p:nvCxnSpPr>
        <p:spPr>
          <a:xfrm>
            <a:off x="3511685" y="3275752"/>
            <a:ext cx="654565" cy="17866"/>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CAB39FF-A23D-DD76-3126-F95F6D2BC988}"/>
              </a:ext>
            </a:extLst>
          </p:cNvPr>
          <p:cNvCxnSpPr>
            <a:cxnSpLocks/>
          </p:cNvCxnSpPr>
          <p:nvPr/>
        </p:nvCxnSpPr>
        <p:spPr>
          <a:xfrm flipV="1">
            <a:off x="2738876" y="4322835"/>
            <a:ext cx="1412977" cy="273093"/>
          </a:xfrm>
          <a:prstGeom prst="straightConnector1">
            <a:avLst/>
          </a:prstGeom>
          <a:ln w="38100">
            <a:solidFill>
              <a:srgbClr val="F07300"/>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E3F1E3EE-BCBC-873C-025E-2B1238976899}"/>
              </a:ext>
            </a:extLst>
          </p:cNvPr>
          <p:cNvGrpSpPr/>
          <p:nvPr/>
        </p:nvGrpSpPr>
        <p:grpSpPr>
          <a:xfrm>
            <a:off x="2341267" y="5073983"/>
            <a:ext cx="1512001" cy="1274115"/>
            <a:chOff x="435580" y="2054939"/>
            <a:chExt cx="1578917" cy="1363276"/>
          </a:xfrm>
        </p:grpSpPr>
        <p:pic>
          <p:nvPicPr>
            <p:cNvPr id="28" name="Picture 27">
              <a:extLst>
                <a:ext uri="{FF2B5EF4-FFF2-40B4-BE49-F238E27FC236}">
                  <a16:creationId xmlns:a16="http://schemas.microsoft.com/office/drawing/2014/main" id="{E88C0A27-F3C3-F647-1325-E90889B65C36}"/>
                </a:ext>
              </a:extLst>
            </p:cNvPr>
            <p:cNvPicPr>
              <a:picLocks noChangeAspect="1"/>
            </p:cNvPicPr>
            <p:nvPr/>
          </p:nvPicPr>
          <p:blipFill>
            <a:blip r:embed="rId13">
              <a:extLst>
                <a:ext uri="{BEBA8EAE-BF5A-486C-A8C5-ECC9F3942E4B}">
                  <a14:imgProps xmlns:a14="http://schemas.microsoft.com/office/drawing/2010/main">
                    <a14:imgLayer r:embed="rId14">
                      <a14:imgEffect>
                        <a14:brightnessContrast bright="40000" contrast="40000"/>
                      </a14:imgEffect>
                    </a14:imgLayer>
                  </a14:imgProps>
                </a:ext>
              </a:extLst>
            </a:blip>
            <a:stretch>
              <a:fillRect/>
            </a:stretch>
          </p:blipFill>
          <p:spPr>
            <a:xfrm>
              <a:off x="482448" y="2054939"/>
              <a:ext cx="1492452" cy="1363276"/>
            </a:xfrm>
            <a:prstGeom prst="rect">
              <a:avLst/>
            </a:prstGeom>
          </p:spPr>
        </p:pic>
        <p:sp>
          <p:nvSpPr>
            <p:cNvPr id="29" name="Rectangle 28">
              <a:extLst>
                <a:ext uri="{FF2B5EF4-FFF2-40B4-BE49-F238E27FC236}">
                  <a16:creationId xmlns:a16="http://schemas.microsoft.com/office/drawing/2014/main" id="{B9D7BDBF-95A9-E7F7-3B70-0E84D6C6A840}"/>
                </a:ext>
              </a:extLst>
            </p:cNvPr>
            <p:cNvSpPr/>
            <p:nvPr/>
          </p:nvSpPr>
          <p:spPr>
            <a:xfrm>
              <a:off x="435580" y="2624528"/>
              <a:ext cx="1578917" cy="5813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Data Policies</a:t>
              </a:r>
              <a:endParaRPr lang="en-US" sz="1300" b="1" err="1">
                <a:solidFill>
                  <a:srgbClr val="FF0000"/>
                </a:solidFill>
              </a:endParaRPr>
            </a:p>
          </p:txBody>
        </p:sp>
      </p:grpSp>
      <p:grpSp>
        <p:nvGrpSpPr>
          <p:cNvPr id="30" name="Group 29">
            <a:extLst>
              <a:ext uri="{FF2B5EF4-FFF2-40B4-BE49-F238E27FC236}">
                <a16:creationId xmlns:a16="http://schemas.microsoft.com/office/drawing/2014/main" id="{B0D7BD18-C10A-04FB-4083-DA0C643180E1}"/>
              </a:ext>
            </a:extLst>
          </p:cNvPr>
          <p:cNvGrpSpPr/>
          <p:nvPr/>
        </p:nvGrpSpPr>
        <p:grpSpPr>
          <a:xfrm>
            <a:off x="2569672" y="2910836"/>
            <a:ext cx="1090478" cy="1317109"/>
            <a:chOff x="2730215" y="4505771"/>
            <a:chExt cx="1090478" cy="1317109"/>
          </a:xfrm>
        </p:grpSpPr>
        <p:pic>
          <p:nvPicPr>
            <p:cNvPr id="31" name="Picture 30">
              <a:extLst>
                <a:ext uri="{FF2B5EF4-FFF2-40B4-BE49-F238E27FC236}">
                  <a16:creationId xmlns:a16="http://schemas.microsoft.com/office/drawing/2014/main" id="{39B9299D-2C76-83DC-EF5A-62891D30F80E}"/>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contrast="20000"/>
                      </a14:imgEffect>
                    </a14:imgLayer>
                  </a14:imgProps>
                </a:ext>
              </a:extLst>
            </a:blip>
            <a:stretch>
              <a:fillRect/>
            </a:stretch>
          </p:blipFill>
          <p:spPr>
            <a:xfrm>
              <a:off x="2730215" y="4505771"/>
              <a:ext cx="1078960" cy="1317109"/>
            </a:xfrm>
            <a:prstGeom prst="rect">
              <a:avLst/>
            </a:prstGeom>
          </p:spPr>
        </p:pic>
        <p:sp>
          <p:nvSpPr>
            <p:cNvPr id="32" name="Rectangle 31">
              <a:extLst>
                <a:ext uri="{FF2B5EF4-FFF2-40B4-BE49-F238E27FC236}">
                  <a16:creationId xmlns:a16="http://schemas.microsoft.com/office/drawing/2014/main" id="{4C75EEE2-14E0-F3A0-7BC0-661890D914F3}"/>
                </a:ext>
              </a:extLst>
            </p:cNvPr>
            <p:cNvSpPr/>
            <p:nvPr/>
          </p:nvSpPr>
          <p:spPr>
            <a:xfrm>
              <a:off x="2740693" y="4925258"/>
              <a:ext cx="1080000" cy="544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GB" sz="1300" b="1">
                  <a:solidFill>
                    <a:srgbClr val="FF0000"/>
                  </a:solidFill>
                </a:rPr>
                <a:t>SME interviews</a:t>
              </a:r>
              <a:endParaRPr lang="en-US" sz="1300" b="1" err="1">
                <a:solidFill>
                  <a:srgbClr val="FF0000"/>
                </a:solidFill>
              </a:endParaRPr>
            </a:p>
          </p:txBody>
        </p:sp>
      </p:grpSp>
      <p:grpSp>
        <p:nvGrpSpPr>
          <p:cNvPr id="41" name="Group 40">
            <a:extLst>
              <a:ext uri="{FF2B5EF4-FFF2-40B4-BE49-F238E27FC236}">
                <a16:creationId xmlns:a16="http://schemas.microsoft.com/office/drawing/2014/main" id="{43E73CB0-359D-3E2C-9279-FD06F15B8804}"/>
              </a:ext>
            </a:extLst>
          </p:cNvPr>
          <p:cNvGrpSpPr/>
          <p:nvPr/>
        </p:nvGrpSpPr>
        <p:grpSpPr>
          <a:xfrm>
            <a:off x="1232361" y="2200203"/>
            <a:ext cx="1800000" cy="1214404"/>
            <a:chOff x="1232361" y="2149869"/>
            <a:chExt cx="1800000" cy="1214404"/>
          </a:xfrm>
        </p:grpSpPr>
        <p:pic>
          <p:nvPicPr>
            <p:cNvPr id="40" name="Picture 39" descr="SAP S/4 HANA 1809 complete Installation on SUSE Li... - SAP Community">
              <a:extLst>
                <a:ext uri="{FF2B5EF4-FFF2-40B4-BE49-F238E27FC236}">
                  <a16:creationId xmlns:a16="http://schemas.microsoft.com/office/drawing/2014/main" id="{60CB059F-6F5B-EEC0-FB6D-CBC562C8665B}"/>
                </a:ext>
              </a:extLst>
            </p:cNvPr>
            <p:cNvPicPr>
              <a:picLocks noChangeAspect="1"/>
            </p:cNvPicPr>
            <p:nvPr/>
          </p:nvPicPr>
          <p:blipFill>
            <a:blip r:embed="rId17">
              <a:extLst>
                <a:ext uri="{BEBA8EAE-BF5A-486C-A8C5-ECC9F3942E4B}">
                  <a14:imgProps xmlns:a14="http://schemas.microsoft.com/office/drawing/2010/main">
                    <a14:imgLayer r:embed="rId18">
                      <a14:imgEffect>
                        <a14:colorTemperature colorTemp="64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313149" y="2149869"/>
              <a:ext cx="1622665" cy="1214404"/>
            </a:xfrm>
            <a:prstGeom prst="rect">
              <a:avLst/>
            </a:prstGeom>
            <a:noFill/>
            <a:ln>
              <a:noFill/>
            </a:ln>
          </p:spPr>
        </p:pic>
        <p:sp>
          <p:nvSpPr>
            <p:cNvPr id="35" name="Rectangle 34">
              <a:extLst>
                <a:ext uri="{FF2B5EF4-FFF2-40B4-BE49-F238E27FC236}">
                  <a16:creationId xmlns:a16="http://schemas.microsoft.com/office/drawing/2014/main" id="{E059D8A7-F73E-2592-F489-1E4B1ACC9F7A}"/>
                </a:ext>
              </a:extLst>
            </p:cNvPr>
            <p:cNvSpPr/>
            <p:nvPr/>
          </p:nvSpPr>
          <p:spPr>
            <a:xfrm>
              <a:off x="1232361" y="2582394"/>
              <a:ext cx="1800000" cy="544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0" bIns="0" rtlCol="0" anchor="t" anchorCtr="0"/>
            <a:lstStyle/>
            <a:p>
              <a:pPr algn="ctr"/>
              <a:r>
                <a:rPr lang="en-GB" sz="1300" b="1">
                  <a:solidFill>
                    <a:srgbClr val="FF0000"/>
                  </a:solidFill>
                </a:rPr>
                <a:t>Video recordings of </a:t>
              </a:r>
              <a:br>
                <a:rPr lang="en-GB" sz="1300" b="1">
                  <a:solidFill>
                    <a:srgbClr val="FF0000"/>
                  </a:solidFill>
                </a:rPr>
              </a:br>
              <a:r>
                <a:rPr lang="en-GB" sz="1300" b="1">
                  <a:solidFill>
                    <a:srgbClr val="FF0000"/>
                  </a:solidFill>
                </a:rPr>
                <a:t>XXX</a:t>
              </a:r>
              <a:endParaRPr lang="en-US" sz="1300" b="1" err="1">
                <a:solidFill>
                  <a:srgbClr val="FF0000"/>
                </a:solidFill>
              </a:endParaRPr>
            </a:p>
          </p:txBody>
        </p:sp>
      </p:grpSp>
      <p:sp>
        <p:nvSpPr>
          <p:cNvPr id="33" name="Arrow: Bent 32">
            <a:extLst>
              <a:ext uri="{FF2B5EF4-FFF2-40B4-BE49-F238E27FC236}">
                <a16:creationId xmlns:a16="http://schemas.microsoft.com/office/drawing/2014/main" id="{8030548D-6D87-A578-24D1-331A2A450C98}"/>
              </a:ext>
            </a:extLst>
          </p:cNvPr>
          <p:cNvSpPr/>
          <p:nvPr/>
        </p:nvSpPr>
        <p:spPr>
          <a:xfrm rot="5400000">
            <a:off x="7187879" y="3275526"/>
            <a:ext cx="1301315" cy="1180567"/>
          </a:xfrm>
          <a:prstGeom prst="bentArrow">
            <a:avLst>
              <a:gd name="adj1" fmla="val 9313"/>
              <a:gd name="adj2" fmla="val 16666"/>
              <a:gd name="adj3" fmla="val 19117"/>
              <a:gd name="adj4" fmla="val 43750"/>
            </a:avLst>
          </a:prstGeom>
          <a:solidFill>
            <a:srgbClr val="F07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solidFill>
                <a:schemeClr val="tx1"/>
              </a:solidFill>
            </a:endParaRPr>
          </a:p>
        </p:txBody>
      </p:sp>
      <p:grpSp>
        <p:nvGrpSpPr>
          <p:cNvPr id="42" name="Group 41">
            <a:extLst>
              <a:ext uri="{FF2B5EF4-FFF2-40B4-BE49-F238E27FC236}">
                <a16:creationId xmlns:a16="http://schemas.microsoft.com/office/drawing/2014/main" id="{75720442-D936-F978-542A-4DAA8C6024A9}"/>
              </a:ext>
            </a:extLst>
          </p:cNvPr>
          <p:cNvGrpSpPr/>
          <p:nvPr/>
        </p:nvGrpSpPr>
        <p:grpSpPr>
          <a:xfrm>
            <a:off x="5269418" y="4742735"/>
            <a:ext cx="6144669" cy="1293538"/>
            <a:chOff x="5269418" y="4742735"/>
            <a:chExt cx="6144669" cy="1293538"/>
          </a:xfrm>
        </p:grpSpPr>
        <p:pic>
          <p:nvPicPr>
            <p:cNvPr id="6" name="Picture 5">
              <a:extLst>
                <a:ext uri="{FF2B5EF4-FFF2-40B4-BE49-F238E27FC236}">
                  <a16:creationId xmlns:a16="http://schemas.microsoft.com/office/drawing/2014/main" id="{7C9B78CE-C370-C0AD-8B4C-B547C81A159E}"/>
                </a:ext>
              </a:extLst>
            </p:cNvPr>
            <p:cNvPicPr>
              <a:picLocks noChangeAspect="1"/>
            </p:cNvPicPr>
            <p:nvPr/>
          </p:nvPicPr>
          <p:blipFill>
            <a:blip r:embed="rId19">
              <a:extLst>
                <a:ext uri="{28A0092B-C50C-407E-A947-70E740481C1C}">
                  <a14:useLocalDpi xmlns:a14="http://schemas.microsoft.com/office/drawing/2010/main" val="0"/>
                </a:ext>
              </a:extLst>
            </a:blip>
            <a:srcRect/>
            <a:stretch>
              <a:fillRect/>
            </a:stretch>
          </p:blipFill>
          <p:spPr bwMode="auto">
            <a:xfrm>
              <a:off x="5269418" y="4742735"/>
              <a:ext cx="6138631" cy="1293538"/>
            </a:xfrm>
            <a:prstGeom prst="rect">
              <a:avLst/>
            </a:prstGeom>
            <a:noFill/>
            <a:ln>
              <a:noFill/>
            </a:ln>
          </p:spPr>
        </p:pic>
        <p:pic>
          <p:nvPicPr>
            <p:cNvPr id="34" name="Picture 2" descr="Salesforce-Logo-PNG-File - BUFF">
              <a:extLst>
                <a:ext uri="{FF2B5EF4-FFF2-40B4-BE49-F238E27FC236}">
                  <a16:creationId xmlns:a16="http://schemas.microsoft.com/office/drawing/2014/main" id="{BFCAAC62-F052-24B9-D677-279419D7719E}"/>
                </a:ext>
              </a:extLst>
            </p:cNvPr>
            <p:cNvPicPr>
              <a:picLocks noChangeAspect="1" noChangeArrowheads="1"/>
            </p:cNvPicPr>
            <p:nvPr/>
          </p:nvPicPr>
          <p:blipFill rotWithShape="1">
            <a:blip r:embed="rId20">
              <a:extLst>
                <a:ext uri="{28A0092B-C50C-407E-A947-70E740481C1C}">
                  <a14:useLocalDpi xmlns:a14="http://schemas.microsoft.com/office/drawing/2010/main" val="0"/>
                </a:ext>
              </a:extLst>
            </a:blip>
            <a:srcRect r="35538"/>
            <a:stretch>
              <a:fillRect/>
            </a:stretch>
          </p:blipFill>
          <p:spPr bwMode="auto">
            <a:xfrm>
              <a:off x="5952883" y="4824338"/>
              <a:ext cx="393512" cy="27271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ower BI Logo, symbol, meaning, history, PNG, brand">
              <a:extLst>
                <a:ext uri="{FF2B5EF4-FFF2-40B4-BE49-F238E27FC236}">
                  <a16:creationId xmlns:a16="http://schemas.microsoft.com/office/drawing/2014/main" id="{AF9F8639-185D-2C64-B4F1-447C23CDA6F2}"/>
                </a:ext>
              </a:extLst>
            </p:cNvPr>
            <p:cNvPicPr>
              <a:picLocks noChangeAspect="1" noChangeArrowheads="1"/>
            </p:cNvPicPr>
            <p:nvPr/>
          </p:nvPicPr>
          <p:blipFill rotWithShape="1">
            <a:blip r:embed="rId21">
              <a:extLst>
                <a:ext uri="{28A0092B-C50C-407E-A947-70E740481C1C}">
                  <a14:useLocalDpi xmlns:a14="http://schemas.microsoft.com/office/drawing/2010/main" val="0"/>
                </a:ext>
              </a:extLst>
            </a:blip>
            <a:srcRect l="23964" r="25665"/>
            <a:stretch>
              <a:fillRect/>
            </a:stretch>
          </p:blipFill>
          <p:spPr bwMode="auto">
            <a:xfrm>
              <a:off x="11123948" y="5126628"/>
              <a:ext cx="290139" cy="3240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atabricks logo transparent PNG - StickPNG">
              <a:extLst>
                <a:ext uri="{FF2B5EF4-FFF2-40B4-BE49-F238E27FC236}">
                  <a16:creationId xmlns:a16="http://schemas.microsoft.com/office/drawing/2014/main" id="{ACAB8A3D-02A2-7066-97AC-A771AF0D17E9}"/>
                </a:ext>
              </a:extLst>
            </p:cNvPr>
            <p:cNvPicPr>
              <a:picLocks noChangeAspect="1" noChangeArrowheads="1"/>
            </p:cNvPicPr>
            <p:nvPr/>
          </p:nvPicPr>
          <p:blipFill rotWithShape="1">
            <a:blip r:embed="rId22">
              <a:extLst>
                <a:ext uri="{28A0092B-C50C-407E-A947-70E740481C1C}">
                  <a14:useLocalDpi xmlns:a14="http://schemas.microsoft.com/office/drawing/2010/main" val="0"/>
                </a:ext>
              </a:extLst>
            </a:blip>
            <a:srcRect l="7498" t="30272" r="7990" b="29988"/>
            <a:stretch>
              <a:fillRect/>
            </a:stretch>
          </p:blipFill>
          <p:spPr bwMode="auto">
            <a:xfrm>
              <a:off x="8318093" y="4761830"/>
              <a:ext cx="1021991" cy="253508"/>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552479C3-0FB4-03FD-D1E8-987DFAFE7312}"/>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667607" y="4882213"/>
              <a:ext cx="724918" cy="154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236137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5D5E9-C93C-02FC-EF45-B0E4559152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64ACDA-A94A-6396-843C-5423C5AC2563}"/>
              </a:ext>
            </a:extLst>
          </p:cNvPr>
          <p:cNvSpPr>
            <a:spLocks noGrp="1"/>
          </p:cNvSpPr>
          <p:nvPr>
            <p:ph type="title"/>
          </p:nvPr>
        </p:nvSpPr>
        <p:spPr>
          <a:xfrm>
            <a:off x="482446" y="407625"/>
            <a:ext cx="11616509" cy="716711"/>
          </a:xfrm>
        </p:spPr>
        <p:txBody>
          <a:bodyPr/>
          <a:lstStyle/>
          <a:p>
            <a:r>
              <a:rPr lang="en-GB" cap="none">
                <a:latin typeface="Ubuntu Medium"/>
              </a:rPr>
              <a:t>High-level steps to be performed by “Data Lineage Stitching Agent” (1/2)</a:t>
            </a:r>
          </a:p>
        </p:txBody>
      </p:sp>
      <p:sp>
        <p:nvSpPr>
          <p:cNvPr id="96" name="TextBox 95">
            <a:extLst>
              <a:ext uri="{FF2B5EF4-FFF2-40B4-BE49-F238E27FC236}">
                <a16:creationId xmlns:a16="http://schemas.microsoft.com/office/drawing/2014/main" id="{7ECD7CFD-9CA2-E567-C9C1-FA7C6834E064}"/>
              </a:ext>
            </a:extLst>
          </p:cNvPr>
          <p:cNvSpPr txBox="1"/>
          <p:nvPr/>
        </p:nvSpPr>
        <p:spPr>
          <a:xfrm>
            <a:off x="404813" y="925766"/>
            <a:ext cx="11382373" cy="830997"/>
          </a:xfrm>
          <a:prstGeom prst="rect">
            <a:avLst/>
          </a:prstGeom>
          <a:noFill/>
        </p:spPr>
        <p:txBody>
          <a:bodyPr wrap="square" lIns="91440" tIns="45720" rIns="91440" bIns="45720" anchor="t">
            <a:spAutoFit/>
          </a:bodyPr>
          <a:lstStyle/>
          <a:p>
            <a:pPr>
              <a:defRPr/>
            </a:pPr>
            <a:r>
              <a:rPr kumimoji="0" lang="en-GB" sz="1600" b="0" i="0" u="none" strike="noStrike" kern="1200" cap="none" spc="0" normalizeH="0" baseline="0" noProof="0">
                <a:ln>
                  <a:noFill/>
                </a:ln>
                <a:solidFill>
                  <a:srgbClr val="12ABDB">
                    <a:lumMod val="20000"/>
                    <a:lumOff val="80000"/>
                  </a:srgbClr>
                </a:solidFill>
                <a:effectLst/>
                <a:uLnTx/>
                <a:uFillTx/>
                <a:latin typeface="Ubuntu"/>
                <a:ea typeface="+mn-ea"/>
                <a:cs typeface="+mn-cs"/>
              </a:rPr>
              <a:t>Overall AI Agent objective: </a:t>
            </a:r>
            <a:r>
              <a:rPr lang="en-GB" sz="1600">
                <a:solidFill>
                  <a:srgbClr val="12ABDB">
                    <a:lumMod val="20000"/>
                    <a:lumOff val="80000"/>
                  </a:srgbClr>
                </a:solidFill>
                <a:ea typeface="+mn-lt"/>
                <a:cs typeface="+mn-lt"/>
              </a:rPr>
              <a:t>Enable a human‑in‑the‑loop AI agent to extract, complete, and stitch end‑to‑end data lineage and source‑to‑target mappings across multiple systems, producing validated mappings and clear visuals that can be published to the </a:t>
            </a:r>
            <a:r>
              <a:rPr lang="en-GB" sz="1600" err="1">
                <a:solidFill>
                  <a:srgbClr val="12ABDB">
                    <a:lumMod val="20000"/>
                    <a:lumOff val="80000"/>
                  </a:srgbClr>
                </a:solidFill>
                <a:ea typeface="+mn-lt"/>
                <a:cs typeface="+mn-lt"/>
              </a:rPr>
              <a:t>catalog</a:t>
            </a:r>
            <a:r>
              <a:rPr lang="en-GB" sz="1600">
                <a:solidFill>
                  <a:srgbClr val="12ABDB">
                    <a:lumMod val="20000"/>
                    <a:lumOff val="80000"/>
                  </a:srgbClr>
                </a:solidFill>
                <a:ea typeface="+mn-lt"/>
                <a:cs typeface="+mn-lt"/>
              </a:rPr>
              <a:t>—with confidence scores, audit trail, and SME approvals.</a:t>
            </a:r>
            <a:endParaRPr kumimoji="0" lang="en-US" sz="1800" b="0" i="0" u="none" strike="noStrike" kern="1200" cap="none" spc="0" normalizeH="0" baseline="0" noProof="0">
              <a:ln>
                <a:noFill/>
              </a:ln>
              <a:solidFill>
                <a:srgbClr val="00B050"/>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TextBox 3">
            <a:extLst>
              <a:ext uri="{FF2B5EF4-FFF2-40B4-BE49-F238E27FC236}">
                <a16:creationId xmlns:a16="http://schemas.microsoft.com/office/drawing/2014/main" id="{5A8415AC-6B26-D59C-6909-34BA03000FF0}"/>
              </a:ext>
            </a:extLst>
          </p:cNvPr>
          <p:cNvSpPr txBox="1"/>
          <p:nvPr/>
        </p:nvSpPr>
        <p:spPr>
          <a:xfrm>
            <a:off x="527256" y="1831545"/>
            <a:ext cx="11259471" cy="4644000"/>
          </a:xfrm>
          <a:prstGeom prst="rect">
            <a:avLst/>
          </a:prstGeom>
          <a:noFill/>
        </p:spPr>
        <p:txBody>
          <a:bodyPr wrap="square" lIns="91440" tIns="45720" rIns="91440" bIns="45720" numCol="2" spcCol="144000" anchor="t">
            <a:spAutoFit/>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defines what constitutes valid lineage mapping</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Clarify rules for source-to-target relationships, transformation logic, and confidence scoring</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Document standards for system IDs, dataset IDs, and column naming conventions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trains the </a:t>
            </a:r>
            <a:r>
              <a:rPr kumimoji="0" lang="en-US" sz="1400" b="1" i="0" u="none" strike="noStrike" kern="1200" cap="none" spc="0" normalizeH="0" baseline="0" noProof="0">
                <a:ln>
                  <a:noFill/>
                </a:ln>
                <a:solidFill>
                  <a:srgbClr val="FFC000"/>
                </a:solidFill>
                <a:effectLst/>
                <a:uLnTx/>
                <a:uFillTx/>
                <a:latin typeface="Ubuntu"/>
                <a:ea typeface="+mn-ea"/>
                <a:cs typeface="+mn-cs"/>
              </a:rPr>
              <a:t>LLM</a:t>
            </a:r>
            <a:r>
              <a:rPr kumimoji="0" lang="en-US" sz="1400" b="1" i="0" u="none" strike="noStrike" kern="1200" cap="none" spc="0" normalizeH="0" baseline="0" noProof="0">
                <a:ln>
                  <a:noFill/>
                </a:ln>
                <a:solidFill>
                  <a:srgbClr val="FFFFFF"/>
                </a:solidFill>
                <a:effectLst/>
                <a:uLnTx/>
                <a:uFillTx/>
                <a:latin typeface="Ubuntu"/>
                <a:ea typeface="+mn-ea"/>
                <a:cs typeface="+mn-cs"/>
              </a:rPr>
              <a:t> on dozens of high-quality, best-practice lineage examples, including: </a:t>
            </a:r>
            <a:endParaRPr kumimoji="0" lang="en-US" sz="1400" b="0" i="0" u="none" strike="noStrike" kern="1200" cap="none" spc="0" normalizeH="0" baseline="0" noProof="0">
              <a:ln>
                <a:noFill/>
              </a:ln>
              <a:solidFill>
                <a:srgbClr val="FFFFFF"/>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Source and target mappings</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Transformation expressions</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Synonyms and naming variations</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Business context and domain ownership</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Common exceptions and ambiguous cases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sources authoritative artifacts from </a:t>
            </a:r>
            <a:r>
              <a:rPr kumimoji="0" lang="en-US" sz="1400" b="1" i="0" u="none" strike="noStrike" kern="1200" cap="none" spc="0" normalizeH="0" baseline="0" noProof="0">
                <a:ln>
                  <a:noFill/>
                </a:ln>
                <a:solidFill>
                  <a:srgbClr val="00B050"/>
                </a:solidFill>
                <a:effectLst/>
                <a:uLnTx/>
                <a:uFillTx/>
                <a:latin typeface="Ubuntu"/>
                <a:ea typeface="+mn-ea"/>
                <a:cs typeface="+mn-cs"/>
              </a:rPr>
              <a:t>SMEs</a:t>
            </a:r>
            <a:endParaRPr kumimoji="0" lang="en-US" sz="1400" b="0" i="0" u="none" strike="noStrike" kern="1200" cap="none" spc="0" normalizeH="0" baseline="0" noProof="0">
              <a:ln>
                <a:noFill/>
              </a:ln>
              <a:solidFill>
                <a:srgbClr val="00B050"/>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Collect SQL scripts, ETL configs, BI definitions, data contracts, and process documentation</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Load these into the </a:t>
            </a:r>
            <a:r>
              <a:rPr kumimoji="0" lang="en-US" sz="1400" b="0" i="0" u="none" strike="noStrike" kern="1200" cap="none" spc="0" normalizeH="0" baseline="0" noProof="0">
                <a:ln>
                  <a:noFill/>
                </a:ln>
                <a:solidFill>
                  <a:srgbClr val="FFC000"/>
                </a:solidFill>
                <a:effectLst/>
                <a:uLnTx/>
                <a:uFillTx/>
                <a:latin typeface="Ubuntu"/>
                <a:ea typeface="+mn-ea"/>
                <a:cs typeface="+mn-cs"/>
              </a:rPr>
              <a:t>LLM</a:t>
            </a:r>
            <a:r>
              <a:rPr kumimoji="0" lang="en-US" sz="1400" b="0" i="0" u="none" strike="noStrike" kern="1200" cap="none" spc="0" normalizeH="0" baseline="0" noProof="0">
                <a:ln>
                  <a:noFill/>
                </a:ln>
                <a:solidFill>
                  <a:srgbClr val="FFFFFF"/>
                </a:solidFill>
                <a:effectLst/>
                <a:uLnTx/>
                <a:uFillTx/>
                <a:latin typeface="Ubuntu"/>
                <a:ea typeface="+mn-ea"/>
                <a:cs typeface="+mn-cs"/>
              </a:rPr>
              <a:t> as reference material for retrieval or fine-tuning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00B0F0"/>
                </a:solidFill>
                <a:effectLst/>
                <a:uLnTx/>
                <a:uFillTx/>
                <a:latin typeface="Ubuntu"/>
                <a:ea typeface="+mn-ea"/>
                <a:cs typeface="+mn-cs"/>
              </a:rPr>
              <a:t>AI Agent 1 </a:t>
            </a:r>
            <a:r>
              <a:rPr kumimoji="0" lang="en-US" sz="1400" b="1" i="0" u="none" strike="noStrike" kern="1200" cap="none" spc="0" normalizeH="0" baseline="0" noProof="0">
                <a:ln>
                  <a:noFill/>
                </a:ln>
                <a:solidFill>
                  <a:srgbClr val="FFFFFF"/>
                </a:solidFill>
                <a:effectLst/>
                <a:uLnTx/>
                <a:uFillTx/>
                <a:latin typeface="Ubuntu"/>
                <a:ea typeface="+mn-ea"/>
                <a:cs typeface="+mn-cs"/>
              </a:rPr>
              <a:t>to parse lineage fragments from authoritative sources</a:t>
            </a:r>
            <a:endParaRPr kumimoji="0" lang="en-US" sz="1400" b="0" i="0" u="none" strike="noStrike" kern="1200" cap="none" spc="0" normalizeH="0" baseline="0" noProof="0">
              <a:ln>
                <a:noFill/>
              </a:ln>
              <a:solidFill>
                <a:srgbClr val="FFFFFF"/>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Extract source tables, target tables, and transformation logic</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Validate parsed fragments with </a:t>
            </a:r>
            <a:r>
              <a:rPr kumimoji="0" lang="en-US" sz="1400" b="0" i="0" u="none" strike="noStrike" kern="1200" cap="none" spc="0" normalizeH="0" baseline="0" noProof="0">
                <a:ln>
                  <a:noFill/>
                </a:ln>
                <a:solidFill>
                  <a:srgbClr val="00B050"/>
                </a:solidFill>
                <a:effectLst/>
                <a:uLnTx/>
                <a:uFillTx/>
                <a:latin typeface="Ubuntu"/>
                <a:ea typeface="+mn-ea"/>
                <a:cs typeface="+mn-cs"/>
              </a:rPr>
              <a:t>SMEs</a:t>
            </a:r>
            <a:r>
              <a:rPr kumimoji="0" lang="en-US" sz="1400" b="0" i="0" u="none" strike="noStrike" kern="1200" cap="none" spc="0" normalizeH="0" baseline="0" noProof="0">
                <a:ln>
                  <a:noFill/>
                </a:ln>
                <a:solidFill>
                  <a:srgbClr val="FFFFFF"/>
                </a:solidFill>
                <a:effectLst/>
                <a:uLnTx/>
                <a:uFillTx/>
                <a:latin typeface="Ubuntu"/>
                <a:ea typeface="+mn-ea"/>
                <a:cs typeface="+mn-cs"/>
              </a:rPr>
              <a:t> for accuracy</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interviews </a:t>
            </a:r>
            <a:r>
              <a:rPr kumimoji="0" lang="en-US" sz="1400" b="1" i="0" u="none" strike="noStrike" kern="1200" cap="none" spc="0" normalizeH="0" baseline="0" noProof="0">
                <a:ln>
                  <a:noFill/>
                </a:ln>
                <a:solidFill>
                  <a:srgbClr val="00B050"/>
                </a:solidFill>
                <a:effectLst/>
                <a:uLnTx/>
                <a:uFillTx/>
                <a:latin typeface="Ubuntu"/>
                <a:ea typeface="+mn-ea"/>
                <a:cs typeface="+mn-cs"/>
              </a:rPr>
              <a:t>SMEs</a:t>
            </a:r>
            <a:r>
              <a:rPr kumimoji="0" lang="en-US" sz="1400" b="1" i="0" u="none" strike="noStrike" kern="1200" cap="none" spc="0" normalizeH="0" baseline="0" noProof="0">
                <a:ln>
                  <a:noFill/>
                </a:ln>
                <a:solidFill>
                  <a:srgbClr val="FFFFFF"/>
                </a:solidFill>
                <a:effectLst/>
                <a:uLnTx/>
                <a:uFillTx/>
                <a:latin typeface="Ubuntu"/>
                <a:ea typeface="+mn-ea"/>
                <a:cs typeface="+mn-cs"/>
              </a:rPr>
              <a:t> to capture domain-specific lineage knowledge</a:t>
            </a:r>
            <a:endParaRPr kumimoji="0" lang="en-US" sz="1400" b="0" i="0" u="none" strike="noStrike" kern="1200" cap="none" spc="0" normalizeH="0" baseline="0" noProof="0">
              <a:ln>
                <a:noFill/>
              </a:ln>
              <a:solidFill>
                <a:srgbClr val="FFFFFF"/>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Document expertise (who knows which systems and flows).</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Feed transcripts into the </a:t>
            </a:r>
            <a:r>
              <a:rPr kumimoji="0" lang="en-US" sz="1400" b="0" i="0" u="none" strike="noStrike" kern="1200" cap="none" spc="0" normalizeH="0" baseline="0" noProof="0">
                <a:ln>
                  <a:noFill/>
                </a:ln>
                <a:solidFill>
                  <a:srgbClr val="FFC000"/>
                </a:solidFill>
                <a:effectLst/>
                <a:uLnTx/>
                <a:uFillTx/>
                <a:latin typeface="Ubuntu"/>
                <a:ea typeface="+mn-ea"/>
                <a:cs typeface="+mn-cs"/>
              </a:rPr>
              <a:t>LLM</a:t>
            </a:r>
            <a:r>
              <a:rPr kumimoji="0" lang="en-US" sz="1400" b="0" i="0" u="none" strike="noStrike" kern="1200" cap="none" spc="0" normalizeH="0" baseline="0" noProof="0">
                <a:ln>
                  <a:noFill/>
                </a:ln>
                <a:solidFill>
                  <a:srgbClr val="FFFFFF"/>
                </a:solidFill>
                <a:effectLst/>
                <a:uLnTx/>
                <a:uFillTx/>
                <a:latin typeface="Ubuntu"/>
                <a:ea typeface="+mn-ea"/>
                <a:cs typeface="+mn-cs"/>
              </a:rPr>
              <a:t> for contextual understanding</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2 </a:t>
            </a:r>
            <a:r>
              <a:rPr kumimoji="0" lang="en-US" sz="1400" b="1" i="0" u="none" strike="noStrike" kern="1200" cap="none" spc="0" normalizeH="0" baseline="0" noProof="0">
                <a:ln>
                  <a:noFill/>
                </a:ln>
                <a:solidFill>
                  <a:srgbClr val="FFFFFF"/>
                </a:solidFill>
                <a:effectLst/>
                <a:uLnTx/>
                <a:uFillTx/>
                <a:latin typeface="Ubuntu"/>
                <a:ea typeface="+mn-ea"/>
                <a:cs typeface="+mn-cs"/>
              </a:rPr>
              <a:t>to create first-draft lineage mappings</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Combine parsed fragments with authoritative metadata.</a:t>
            </a: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Ensure at least 50% coverage of source-target relationships</a:t>
            </a:r>
          </a:p>
          <a:p>
            <a:pPr marL="323850" marR="0" lvl="0" indent="-32385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400" b="1" i="0" u="none" strike="noStrike" kern="1200" cap="none" spc="0" normalizeH="0" baseline="0" noProof="0">
                <a:ln>
                  <a:noFill/>
                </a:ln>
                <a:solidFill>
                  <a:srgbClr val="FF0000"/>
                </a:solidFill>
                <a:effectLst/>
                <a:uLnTx/>
                <a:uFillTx/>
                <a:latin typeface="Ubuntu"/>
                <a:ea typeface="+mn-ea"/>
                <a:cs typeface="+mn-cs"/>
              </a:rPr>
              <a:t>7. 	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3 </a:t>
            </a:r>
            <a:r>
              <a:rPr kumimoji="0" lang="en-US" sz="1400" b="1" i="0" u="none" strike="noStrike" kern="1200" cap="none" spc="0" normalizeH="0" baseline="0" noProof="0">
                <a:ln>
                  <a:noFill/>
                </a:ln>
                <a:solidFill>
                  <a:srgbClr val="FFFFFF"/>
                </a:solidFill>
                <a:effectLst/>
                <a:uLnTx/>
                <a:uFillTx/>
                <a:latin typeface="Ubuntu"/>
                <a:ea typeface="+mn-ea"/>
                <a:cs typeface="+mn-cs"/>
              </a:rPr>
              <a:t>to identify missing elements in mappings</a:t>
            </a:r>
            <a:endParaRPr kumimoji="0" lang="en-US" sz="2800" b="0" i="0" u="none" strike="noStrike" kern="1200" cap="none" spc="0" normalizeH="0" baseline="0" noProof="0">
              <a:ln>
                <a:noFill/>
              </a:ln>
              <a:solidFill>
                <a:srgbClr val="FFFFFF"/>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Highlight gaps such as unknown transformations, missing source fields, or unclear joins</a:t>
            </a:r>
          </a:p>
          <a:p>
            <a:pPr marL="323850" marR="0" lvl="0" indent="-32385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8. </a:t>
            </a: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3 </a:t>
            </a:r>
            <a:r>
              <a:rPr kumimoji="0" lang="en-US" sz="1400" b="1" i="0" u="none" strike="noStrike" kern="1200" cap="none" spc="0" normalizeH="0" baseline="0" noProof="0">
                <a:ln>
                  <a:noFill/>
                </a:ln>
                <a:solidFill>
                  <a:srgbClr val="FFFFFF"/>
                </a:solidFill>
                <a:effectLst/>
                <a:uLnTx/>
                <a:uFillTx/>
                <a:latin typeface="Ubuntu"/>
                <a:ea typeface="+mn-ea"/>
                <a:cs typeface="+mn-cs"/>
              </a:rPr>
              <a:t>to query </a:t>
            </a:r>
            <a:r>
              <a:rPr kumimoji="0" lang="en-US" sz="1400" b="1" i="0" u="none" strike="noStrike" kern="1200" cap="none" spc="0" normalizeH="0" baseline="0" noProof="0">
                <a:ln>
                  <a:noFill/>
                </a:ln>
                <a:solidFill>
                  <a:srgbClr val="00B050"/>
                </a:solidFill>
                <a:effectLst/>
                <a:uLnTx/>
                <a:uFillTx/>
                <a:latin typeface="Ubuntu"/>
                <a:ea typeface="+mn-ea"/>
                <a:cs typeface="+mn-cs"/>
              </a:rPr>
              <a:t>SMEs</a:t>
            </a:r>
            <a:r>
              <a:rPr kumimoji="0" lang="en-US" sz="1400" b="1" i="0" u="none" strike="noStrike" kern="1200" cap="none" spc="0" normalizeH="0" baseline="0" noProof="0">
                <a:ln>
                  <a:noFill/>
                </a:ln>
                <a:solidFill>
                  <a:srgbClr val="FFFFFF"/>
                </a:solidFill>
                <a:effectLst/>
                <a:uLnTx/>
                <a:uFillTx/>
                <a:latin typeface="Ubuntu"/>
                <a:ea typeface="+mn-ea"/>
                <a:cs typeface="+mn-cs"/>
              </a:rPr>
              <a:t> about missing lineage details</a:t>
            </a:r>
            <a:endParaRPr kumimoji="0" lang="en-US" sz="2800" b="0" i="0" u="none" strike="noStrike" kern="1200" cap="none" spc="0" normalizeH="0" baseline="0" noProof="0">
              <a:ln>
                <a:noFill/>
              </a:ln>
              <a:solidFill>
                <a:srgbClr val="FFFFFF"/>
              </a:solidFill>
              <a:effectLst/>
              <a:uLnTx/>
              <a:uFillTx/>
              <a:latin typeface="Ubuntu"/>
              <a:ea typeface="+mn-ea"/>
              <a:cs typeface="+mn-cs"/>
            </a:endParaRPr>
          </a:p>
          <a:p>
            <a:pPr marL="539750"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Generate structured questions and friendly follow-ups for clarification</a:t>
            </a:r>
          </a:p>
        </p:txBody>
      </p:sp>
    </p:spTree>
    <p:extLst>
      <p:ext uri="{BB962C8B-B14F-4D97-AF65-F5344CB8AC3E}">
        <p14:creationId xmlns:p14="http://schemas.microsoft.com/office/powerpoint/2010/main" val="267486991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C9DA5-4A6C-DB5E-7CC0-93D0543AFE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1058043-DF2D-E5C6-57E3-DF0C5D972990}"/>
              </a:ext>
            </a:extLst>
          </p:cNvPr>
          <p:cNvSpPr>
            <a:spLocks noGrp="1"/>
          </p:cNvSpPr>
          <p:nvPr>
            <p:ph type="title"/>
          </p:nvPr>
        </p:nvSpPr>
        <p:spPr>
          <a:xfrm>
            <a:off x="482446" y="407625"/>
            <a:ext cx="11616509" cy="716711"/>
          </a:xfrm>
        </p:spPr>
        <p:txBody>
          <a:bodyPr/>
          <a:lstStyle/>
          <a:p>
            <a:r>
              <a:rPr lang="en-GB" cap="none">
                <a:latin typeface="Ubuntu Medium"/>
              </a:rPr>
              <a:t>High-level steps to be performed by “Data Lineage Stitching Agent” (2/2)</a:t>
            </a:r>
          </a:p>
        </p:txBody>
      </p:sp>
      <p:sp>
        <p:nvSpPr>
          <p:cNvPr id="96" name="TextBox 95">
            <a:extLst>
              <a:ext uri="{FF2B5EF4-FFF2-40B4-BE49-F238E27FC236}">
                <a16:creationId xmlns:a16="http://schemas.microsoft.com/office/drawing/2014/main" id="{01C2991D-BF09-310D-746A-EE304C13EDCC}"/>
              </a:ext>
            </a:extLst>
          </p:cNvPr>
          <p:cNvSpPr txBox="1"/>
          <p:nvPr/>
        </p:nvSpPr>
        <p:spPr>
          <a:xfrm>
            <a:off x="404813" y="925766"/>
            <a:ext cx="11382373" cy="830997"/>
          </a:xfrm>
          <a:prstGeom prst="rect">
            <a:avLst/>
          </a:prstGeom>
          <a:noFill/>
        </p:spPr>
        <p:txBody>
          <a:bodyPr wrap="square" lIns="91440" tIns="45720" rIns="91440" bIns="45720" anchor="t">
            <a:spAutoFit/>
          </a:bodyPr>
          <a:lstStyle/>
          <a:p>
            <a:pPr>
              <a:defRPr/>
            </a:pPr>
            <a:r>
              <a:rPr kumimoji="0" lang="en-GB" sz="1600" b="0" i="0" u="none" strike="noStrike" kern="1200" cap="none" spc="0" normalizeH="0" baseline="0" noProof="0">
                <a:ln>
                  <a:noFill/>
                </a:ln>
                <a:solidFill>
                  <a:srgbClr val="12ABDB">
                    <a:lumMod val="20000"/>
                    <a:lumOff val="80000"/>
                  </a:srgbClr>
                </a:solidFill>
                <a:effectLst/>
                <a:uLnTx/>
                <a:uFillTx/>
                <a:latin typeface="Ubuntu"/>
                <a:ea typeface="+mn-ea"/>
                <a:cs typeface="+mn-cs"/>
              </a:rPr>
              <a:t>Overall AI Agent objective: </a:t>
            </a:r>
            <a:r>
              <a:rPr lang="en-GB" sz="1600">
                <a:solidFill>
                  <a:srgbClr val="12ABDB">
                    <a:lumMod val="20000"/>
                    <a:lumOff val="80000"/>
                  </a:srgbClr>
                </a:solidFill>
                <a:ea typeface="+mn-lt"/>
                <a:cs typeface="+mn-lt"/>
              </a:rPr>
              <a:t>Enable a human‑in‑the‑loop AI agent to extract, complete, and stitch end‑to‑end data lineage and source‑to‑target mappings across multiple systems, producing validated mappings and clear visuals that can be published to the </a:t>
            </a:r>
            <a:r>
              <a:rPr lang="en-GB" sz="1600" err="1">
                <a:solidFill>
                  <a:srgbClr val="12ABDB">
                    <a:lumMod val="20000"/>
                    <a:lumOff val="80000"/>
                  </a:srgbClr>
                </a:solidFill>
                <a:ea typeface="+mn-lt"/>
                <a:cs typeface="+mn-lt"/>
              </a:rPr>
              <a:t>catalog</a:t>
            </a:r>
            <a:r>
              <a:rPr lang="en-GB" sz="1600">
                <a:solidFill>
                  <a:srgbClr val="12ABDB">
                    <a:lumMod val="20000"/>
                    <a:lumOff val="80000"/>
                  </a:srgbClr>
                </a:solidFill>
                <a:ea typeface="+mn-lt"/>
                <a:cs typeface="+mn-lt"/>
              </a:rPr>
              <a:t>—with confidence scores, audit trail, and SME approvals.</a:t>
            </a:r>
            <a:endParaRPr kumimoji="0" lang="en-US" sz="1800" b="0" i="0" u="none" strike="noStrike" kern="1200" cap="none" spc="0" normalizeH="0" baseline="0" noProof="0">
              <a:ln>
                <a:noFill/>
              </a:ln>
              <a:solidFill>
                <a:srgbClr val="00B050"/>
              </a:solidFill>
              <a:effectLst/>
              <a:uLnTx/>
              <a:uFillTx/>
              <a:latin typeface="Aptos" panose="020B0004020202020204" pitchFamily="34" charset="0"/>
              <a:ea typeface="Aptos" panose="020B0004020202020204" pitchFamily="34" charset="0"/>
              <a:cs typeface="Aptos" panose="020B0004020202020204" pitchFamily="34" charset="0"/>
            </a:endParaRPr>
          </a:p>
        </p:txBody>
      </p:sp>
      <p:sp>
        <p:nvSpPr>
          <p:cNvPr id="4" name="TextBox 3">
            <a:extLst>
              <a:ext uri="{FF2B5EF4-FFF2-40B4-BE49-F238E27FC236}">
                <a16:creationId xmlns:a16="http://schemas.microsoft.com/office/drawing/2014/main" id="{489F5309-49B4-44F1-7C60-9805D4460A2A}"/>
              </a:ext>
            </a:extLst>
          </p:cNvPr>
          <p:cNvSpPr txBox="1"/>
          <p:nvPr/>
        </p:nvSpPr>
        <p:spPr>
          <a:xfrm>
            <a:off x="405875" y="1893848"/>
            <a:ext cx="11259471" cy="4212000"/>
          </a:xfrm>
          <a:prstGeom prst="rect">
            <a:avLst/>
          </a:prstGeom>
          <a:noFill/>
        </p:spPr>
        <p:txBody>
          <a:bodyPr wrap="square" lIns="91440" tIns="45720" rIns="91440" bIns="45720" numCol="2" spcCol="108000" anchor="t">
            <a:spAutoFit/>
          </a:bodyPr>
          <a:lstStyle/>
          <a:p>
            <a:pPr marL="432000" lvl="0" indent="-432000">
              <a:buFont typeface="+mj-lt"/>
              <a:buAutoNum type="arabicPeriod" startAt="9"/>
              <a:tabLst>
                <a:tab pos="457200" algn="l"/>
              </a:tabLst>
              <a:defRPr/>
            </a:pPr>
            <a:r>
              <a:rPr lang="en-US" sz="1400" b="1">
                <a:solidFill>
                  <a:srgbClr val="FF0000"/>
                </a:solidFill>
              </a:rPr>
              <a:t>DG Team </a:t>
            </a:r>
            <a:r>
              <a:rPr lang="en-US" sz="1400" b="1">
                <a:solidFill>
                  <a:srgbClr val="FFFFFF"/>
                </a:solidFill>
              </a:rPr>
              <a:t>gets </a:t>
            </a:r>
            <a:r>
              <a:rPr lang="en-US" sz="1400" b="1">
                <a:solidFill>
                  <a:srgbClr val="12ABDB"/>
                </a:solidFill>
              </a:rPr>
              <a:t>AI Agent 4 </a:t>
            </a:r>
            <a:r>
              <a:rPr lang="en-US" sz="1400" b="1">
                <a:solidFill>
                  <a:srgbClr val="FFFFFF"/>
                </a:solidFill>
              </a:rPr>
              <a:t>to incorporate </a:t>
            </a:r>
            <a:r>
              <a:rPr lang="en-US" sz="1400" b="1">
                <a:solidFill>
                  <a:srgbClr val="00B050"/>
                </a:solidFill>
              </a:rPr>
              <a:t>SME</a:t>
            </a:r>
            <a:r>
              <a:rPr lang="en-US" sz="1400" b="1">
                <a:solidFill>
                  <a:srgbClr val="FFFFFF"/>
                </a:solidFill>
              </a:rPr>
              <a:t> feedback and finalizes mappings</a:t>
            </a:r>
            <a:endParaRPr lang="en-US" sz="2800">
              <a:solidFill>
                <a:srgbClr val="FFFFFF"/>
              </a:solidFill>
            </a:endParaRPr>
          </a:p>
          <a:p>
            <a:pPr marL="612000" lvl="1" indent="-179705">
              <a:buFont typeface="Arial"/>
              <a:buChar char="•"/>
              <a:tabLst>
                <a:tab pos="457200" algn="l"/>
              </a:tabLst>
              <a:defRPr/>
            </a:pPr>
            <a:r>
              <a:rPr lang="en-US" sz="1400">
                <a:solidFill>
                  <a:srgbClr val="FFFFFF"/>
                </a:solidFill>
              </a:rPr>
              <a:t>Complete mappings to 100% coverage with confidence scores and assumptions documented</a:t>
            </a:r>
          </a:p>
          <a:p>
            <a:pPr marL="431800" marR="0" lvl="0" indent="-43180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10. </a:t>
            </a: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4 </a:t>
            </a:r>
            <a:r>
              <a:rPr kumimoji="0" lang="en-US" sz="1400" b="1" i="0" u="none" strike="noStrike" kern="1200" cap="none" spc="0" normalizeH="0" baseline="0" noProof="0">
                <a:ln>
                  <a:noFill/>
                </a:ln>
                <a:solidFill>
                  <a:srgbClr val="FFFFFF"/>
                </a:solidFill>
                <a:effectLst/>
                <a:uLnTx/>
                <a:uFillTx/>
                <a:latin typeface="Ubuntu"/>
                <a:ea typeface="+mn-ea"/>
                <a:cs typeface="+mn-cs"/>
              </a:rPr>
              <a:t>to stitch mappings into an end-to-end lineage graph</a:t>
            </a:r>
            <a:endParaRPr kumimoji="0" lang="en-US" sz="2800" b="0" i="0" u="none" strike="noStrike" kern="1200" cap="none" spc="0" normalizeH="0" baseline="0" noProof="0">
              <a:ln>
                <a:noFill/>
              </a:ln>
              <a:solidFill>
                <a:srgbClr val="FFFFFF"/>
              </a:solidFill>
              <a:effectLst/>
              <a:uLnTx/>
              <a:uFillTx/>
              <a:latin typeface="Ubuntu"/>
              <a:ea typeface="+mn-ea"/>
              <a:cs typeface="+mn-cs"/>
            </a:endParaRPr>
          </a:p>
          <a:p>
            <a:pPr marL="611505"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Connect fragments across systems into a unified view</a:t>
            </a:r>
          </a:p>
          <a:p>
            <a:pPr marL="611505"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Validate graph completeness and resolve conflicts</a:t>
            </a:r>
          </a:p>
          <a:p>
            <a:pPr marL="431800" marR="0" lvl="0" indent="-43180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11. </a:t>
            </a: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4 </a:t>
            </a:r>
            <a:r>
              <a:rPr kumimoji="0" lang="en-US" sz="1400" b="1" i="0" u="none" strike="noStrike" kern="1200" cap="none" spc="0" normalizeH="0" baseline="0" noProof="0">
                <a:ln>
                  <a:noFill/>
                </a:ln>
                <a:solidFill>
                  <a:srgbClr val="FFFFFF"/>
                </a:solidFill>
                <a:effectLst/>
                <a:uLnTx/>
                <a:uFillTx/>
                <a:latin typeface="Ubuntu"/>
                <a:ea typeface="+mn-ea"/>
                <a:cs typeface="+mn-cs"/>
              </a:rPr>
              <a:t>to generate visual representations</a:t>
            </a:r>
            <a:endParaRPr kumimoji="0" lang="en-US" sz="2800" b="0" i="0" u="none" strike="noStrike" kern="1200" cap="none" spc="0" normalizeH="0" baseline="0" noProof="0">
              <a:ln>
                <a:noFill/>
              </a:ln>
              <a:solidFill>
                <a:srgbClr val="FFFFFF"/>
              </a:solidFill>
              <a:effectLst/>
              <a:uLnTx/>
              <a:uFillTx/>
              <a:latin typeface="Ubuntu"/>
              <a:ea typeface="+mn-ea"/>
              <a:cs typeface="+mn-cs"/>
            </a:endParaRPr>
          </a:p>
          <a:p>
            <a:pPr marL="611505"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Produce diagrams linked to mapping data</a:t>
            </a:r>
          </a:p>
          <a:p>
            <a:pPr marL="431800" marR="0" lvl="0" indent="-431800" algn="l" defTabSz="914400" rtl="0" eaLnBrk="1" fontAlgn="auto" latinLnBrk="0" hangingPunct="1">
              <a:lnSpc>
                <a:spcPct val="100000"/>
              </a:lnSpc>
              <a:spcBef>
                <a:spcPts val="0"/>
              </a:spcBef>
              <a:spcAft>
                <a:spcPts val="0"/>
              </a:spcAft>
              <a:buClrTx/>
              <a:buSzTx/>
              <a:buFontTx/>
              <a:buNone/>
              <a:tabLst>
                <a:tab pos="457200" algn="l"/>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12. </a:t>
            </a:r>
            <a:r>
              <a:rPr kumimoji="0" lang="en-US" sz="1400" b="1" i="0" u="none" strike="noStrike" kern="1200" cap="none" spc="0" normalizeH="0" baseline="0" noProof="0">
                <a:ln>
                  <a:noFill/>
                </a:ln>
                <a:solidFill>
                  <a:srgbClr val="FF0000"/>
                </a:solidFill>
                <a:effectLst/>
                <a:uLnTx/>
                <a:uFillTx/>
                <a:latin typeface="Ubuntu"/>
                <a:ea typeface="+mn-ea"/>
                <a:cs typeface="+mn-cs"/>
              </a:rPr>
              <a:t>DG Team </a:t>
            </a:r>
            <a:r>
              <a:rPr kumimoji="0" lang="en-US" sz="1400" b="1" i="0" u="none" strike="noStrike" kern="1200" cap="none" spc="0" normalizeH="0" baseline="0" noProof="0">
                <a:ln>
                  <a:noFill/>
                </a:ln>
                <a:solidFill>
                  <a:srgbClr val="FFFFFF"/>
                </a:solidFill>
                <a:effectLst/>
                <a:uLnTx/>
                <a:uFillTx/>
                <a:latin typeface="Ubuntu"/>
                <a:ea typeface="+mn-ea"/>
                <a:cs typeface="+mn-cs"/>
              </a:rPr>
              <a:t>gets </a:t>
            </a:r>
            <a:r>
              <a:rPr kumimoji="0" lang="en-US" sz="1400" b="1" i="0" u="none" strike="noStrike" kern="1200" cap="none" spc="0" normalizeH="0" baseline="0" noProof="0">
                <a:ln>
                  <a:noFill/>
                </a:ln>
                <a:solidFill>
                  <a:srgbClr val="12ABDB"/>
                </a:solidFill>
                <a:effectLst/>
                <a:uLnTx/>
                <a:uFillTx/>
                <a:latin typeface="Ubuntu"/>
                <a:ea typeface="+mn-ea"/>
                <a:cs typeface="+mn-cs"/>
              </a:rPr>
              <a:t>AI Agent 5 </a:t>
            </a:r>
            <a:r>
              <a:rPr kumimoji="0" lang="en-US" sz="1400" b="1" i="0" u="none" strike="noStrike" kern="1200" cap="none" spc="0" normalizeH="0" baseline="0" noProof="0">
                <a:ln>
                  <a:noFill/>
                </a:ln>
                <a:solidFill>
                  <a:srgbClr val="FFFFFF"/>
                </a:solidFill>
                <a:effectLst/>
                <a:uLnTx/>
                <a:uFillTx/>
                <a:latin typeface="Ubuntu"/>
                <a:ea typeface="+mn-ea"/>
                <a:cs typeface="+mn-cs"/>
              </a:rPr>
              <a:t>to load finalized lineage into the Data Catalog</a:t>
            </a:r>
            <a:endParaRPr kumimoji="0" lang="en-US" sz="2800" b="0" i="0" u="none" strike="noStrike" kern="1200" cap="none" spc="0" normalizeH="0" baseline="0" noProof="0">
              <a:ln>
                <a:noFill/>
              </a:ln>
              <a:solidFill>
                <a:srgbClr val="FFFFFF"/>
              </a:solidFill>
              <a:effectLst/>
              <a:uLnTx/>
              <a:uFillTx/>
              <a:latin typeface="Ubuntu"/>
              <a:ea typeface="+mn-ea"/>
              <a:cs typeface="+mn-cs"/>
            </a:endParaRPr>
          </a:p>
          <a:p>
            <a:pPr marL="611505" marR="0" lvl="1" indent="-179705" algn="l" defTabSz="914400" rtl="0" eaLnBrk="1" fontAlgn="auto" latinLnBrk="0" hangingPunct="1">
              <a:lnSpc>
                <a:spcPct val="100000"/>
              </a:lnSpc>
              <a:spcBef>
                <a:spcPts val="0"/>
              </a:spcBef>
              <a:spcAft>
                <a:spcPts val="0"/>
              </a:spcAft>
              <a:buClrTx/>
              <a:buSzTx/>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Link lineage with other metadata assets (data contracts, quality rules, domains)</a:t>
            </a:r>
            <a:endParaRPr lang="en-US" sz="1400">
              <a:solidFill>
                <a:srgbClr val="FFFFFF"/>
              </a:solidFill>
              <a:latin typeface="Ubuntu"/>
            </a:endParaRPr>
          </a:p>
          <a:p>
            <a:pPr marL="431800" lvl="0" indent="-431800">
              <a:tabLst>
                <a:tab pos="457200" algn="l"/>
              </a:tabLst>
              <a:defRPr/>
            </a:pPr>
            <a:r>
              <a:rPr lang="en-US" sz="1400" b="1">
                <a:solidFill>
                  <a:srgbClr val="FFFFFF"/>
                </a:solidFill>
              </a:rPr>
              <a:t>13. </a:t>
            </a:r>
            <a:r>
              <a:rPr lang="en-US" sz="1400" b="1">
                <a:solidFill>
                  <a:srgbClr val="FF0000"/>
                </a:solidFill>
              </a:rPr>
              <a:t>DG Team </a:t>
            </a:r>
            <a:r>
              <a:rPr lang="en-US" sz="1400" b="1">
                <a:solidFill>
                  <a:srgbClr val="FFFFFF"/>
                </a:solidFill>
              </a:rPr>
              <a:t>agrees approvals workflows and agrees them with </a:t>
            </a:r>
            <a:r>
              <a:rPr lang="en-US" sz="1400" b="1">
                <a:solidFill>
                  <a:srgbClr val="00B050"/>
                </a:solidFill>
              </a:rPr>
              <a:t>client SMEs</a:t>
            </a:r>
            <a:endParaRPr lang="en-US" sz="2800">
              <a:solidFill>
                <a:srgbClr val="00B050"/>
              </a:solidFill>
            </a:endParaRPr>
          </a:p>
          <a:p>
            <a:pPr marL="611505" lvl="1" indent="-179705">
              <a:buFont typeface="Arial"/>
              <a:buChar char="•"/>
              <a:tabLst>
                <a:tab pos="457200" algn="l"/>
              </a:tabLst>
              <a:defRPr/>
            </a:pPr>
            <a:r>
              <a:rPr lang="en-US" sz="1400">
                <a:solidFill>
                  <a:srgbClr val="FFFFFF"/>
                </a:solidFill>
              </a:rPr>
              <a:t>Agree workflows and load into </a:t>
            </a:r>
            <a:r>
              <a:rPr lang="en-US" sz="1400">
                <a:solidFill>
                  <a:srgbClr val="FFC000"/>
                </a:solidFill>
              </a:rPr>
              <a:t>LLM</a:t>
            </a:r>
          </a:p>
          <a:p>
            <a:pPr marL="611505" lvl="1" indent="-179705">
              <a:buFont typeface="Arial"/>
              <a:buChar char="•"/>
              <a:tabLst>
                <a:tab pos="457200" algn="l"/>
              </a:tabLst>
              <a:defRPr/>
            </a:pPr>
            <a:r>
              <a:rPr lang="en-US" sz="1400">
                <a:solidFill>
                  <a:srgbClr val="FFFFFF"/>
                </a:solidFill>
              </a:rPr>
              <a:t>Get </a:t>
            </a:r>
            <a:r>
              <a:rPr lang="en-US" sz="1400">
                <a:solidFill>
                  <a:srgbClr val="FFC000"/>
                </a:solidFill>
              </a:rPr>
              <a:t>LLM</a:t>
            </a:r>
            <a:r>
              <a:rPr lang="en-US" sz="1400">
                <a:solidFill>
                  <a:srgbClr val="FFFFFF"/>
                </a:solidFill>
              </a:rPr>
              <a:t> to request approvals</a:t>
            </a:r>
          </a:p>
          <a:p>
            <a:pPr marL="431800" lvl="0" indent="-431800">
              <a:tabLst>
                <a:tab pos="457200" algn="l"/>
              </a:tabLst>
              <a:defRPr/>
            </a:pPr>
            <a:r>
              <a:rPr lang="en-US" sz="1400" b="1">
                <a:solidFill>
                  <a:srgbClr val="FFFFFF"/>
                </a:solidFill>
              </a:rPr>
              <a:t>14. </a:t>
            </a:r>
            <a:r>
              <a:rPr lang="en-US" sz="1400" b="1">
                <a:solidFill>
                  <a:srgbClr val="FF0000"/>
                </a:solidFill>
              </a:rPr>
              <a:t>DG Team </a:t>
            </a:r>
            <a:r>
              <a:rPr lang="en-US" sz="1400" b="1">
                <a:solidFill>
                  <a:srgbClr val="FFFFFF"/>
                </a:solidFill>
              </a:rPr>
              <a:t>uses feedback to iteratively improve prompts, examples, and the </a:t>
            </a:r>
            <a:r>
              <a:rPr lang="en-US" sz="1400" b="1">
                <a:solidFill>
                  <a:srgbClr val="FFC000"/>
                </a:solidFill>
              </a:rPr>
              <a:t>LLM</a:t>
            </a:r>
            <a:r>
              <a:rPr lang="en-US" sz="1400" b="1">
                <a:solidFill>
                  <a:srgbClr val="FFFFFF"/>
                </a:solidFill>
              </a:rPr>
              <a:t>’s performance.</a:t>
            </a:r>
            <a:endParaRPr lang="en-US" sz="2800">
              <a:solidFill>
                <a:srgbClr val="FFFFFF"/>
              </a:solidFill>
            </a:endParaRPr>
          </a:p>
          <a:p>
            <a:pPr marL="611505" lvl="1" indent="-179705">
              <a:buFont typeface="Arial"/>
              <a:buChar char="•"/>
              <a:tabLst>
                <a:tab pos="457200" algn="l"/>
              </a:tabLst>
              <a:defRPr/>
            </a:pPr>
            <a:r>
              <a:rPr lang="en-US" sz="1400">
                <a:solidFill>
                  <a:srgbClr val="FFFFFF"/>
                </a:solidFill>
              </a:rPr>
              <a:t>Measure and improve</a:t>
            </a:r>
          </a:p>
          <a:p>
            <a:pPr marL="611505" lvl="1" indent="-179705">
              <a:buFont typeface="Arial"/>
              <a:buChar char="•"/>
              <a:tabLst>
                <a:tab pos="457200" algn="l"/>
              </a:tabLst>
              <a:defRPr/>
            </a:pPr>
            <a:r>
              <a:rPr lang="en-US" sz="1400">
                <a:solidFill>
                  <a:srgbClr val="FFFFFF"/>
                </a:solidFill>
              </a:rPr>
              <a:t>Track time/effort savings (A/B testing)</a:t>
            </a:r>
          </a:p>
          <a:p>
            <a:pPr marL="431800" lvl="0" indent="-431800">
              <a:tabLst>
                <a:tab pos="457200" algn="l"/>
              </a:tabLst>
              <a:defRPr/>
            </a:pPr>
            <a:r>
              <a:rPr lang="en-US" sz="1400" b="1">
                <a:solidFill>
                  <a:srgbClr val="FFFFFF"/>
                </a:solidFill>
              </a:rPr>
              <a:t>15. Change Control &amp; Operationalization</a:t>
            </a:r>
            <a:endParaRPr lang="en-US" sz="2800">
              <a:solidFill>
                <a:srgbClr val="FFFFFF"/>
              </a:solidFill>
            </a:endParaRPr>
          </a:p>
          <a:p>
            <a:pPr marL="611505" lvl="1" indent="-179705">
              <a:buFont typeface="Arial"/>
              <a:buChar char="•"/>
              <a:tabLst>
                <a:tab pos="457200" algn="l"/>
              </a:tabLst>
              <a:defRPr/>
            </a:pPr>
            <a:r>
              <a:rPr lang="en-US" sz="1400">
                <a:solidFill>
                  <a:srgbClr val="FF0000"/>
                </a:solidFill>
              </a:rPr>
              <a:t>CG team</a:t>
            </a:r>
            <a:r>
              <a:rPr lang="en-US" sz="1400">
                <a:solidFill>
                  <a:srgbClr val="FFFFFF"/>
                </a:solidFill>
              </a:rPr>
              <a:t> embeds lineage updates into BAU processes</a:t>
            </a:r>
          </a:p>
          <a:p>
            <a:pPr marL="611505" lvl="1" indent="-179705">
              <a:buFont typeface="Arial"/>
              <a:buChar char="•"/>
              <a:tabLst>
                <a:tab pos="457200" algn="l"/>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Monthly reports</a:t>
            </a:r>
          </a:p>
          <a:p>
            <a:pPr marL="611505" lvl="1" indent="-179705">
              <a:buFont typeface="Arial"/>
              <a:buChar char="•"/>
              <a:tabLst>
                <a:tab pos="457200" algn="l"/>
              </a:tabLst>
              <a:defRPr/>
            </a:pPr>
            <a:r>
              <a:rPr lang="en-US" sz="1400">
                <a:solidFill>
                  <a:srgbClr val="FFFFFF"/>
                </a:solidFill>
                <a:latin typeface="Ubuntu"/>
              </a:rPr>
              <a:t>Regular testing</a:t>
            </a:r>
            <a:endParaRPr kumimoji="0" lang="en-US" sz="1050" b="0" i="0" u="none" strike="noStrike" kern="1200" cap="none" spc="0" normalizeH="0" baseline="0" noProof="0">
              <a:ln>
                <a:noFill/>
              </a:ln>
              <a:solidFill>
                <a:srgbClr val="FFFFFF"/>
              </a:solidFill>
              <a:effectLst/>
              <a:uLnTx/>
              <a:uFillTx/>
              <a:latin typeface="Ubuntu"/>
              <a:ea typeface="+mn-ea"/>
              <a:cs typeface="+mn-cs"/>
            </a:endParaRPr>
          </a:p>
        </p:txBody>
      </p:sp>
    </p:spTree>
    <p:extLst>
      <p:ext uri="{BB962C8B-B14F-4D97-AF65-F5344CB8AC3E}">
        <p14:creationId xmlns:p14="http://schemas.microsoft.com/office/powerpoint/2010/main" val="4288959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E54CE8-E5EE-B007-8BD6-9C6B130A15C0}"/>
              </a:ext>
            </a:extLst>
          </p:cNvPr>
          <p:cNvSpPr>
            <a:spLocks noGrp="1"/>
          </p:cNvSpPr>
          <p:nvPr>
            <p:ph type="body" sz="quarter" idx="10"/>
          </p:nvPr>
        </p:nvSpPr>
        <p:spPr>
          <a:xfrm>
            <a:off x="404813" y="1036948"/>
            <a:ext cx="11406187" cy="5167193"/>
          </a:xfrm>
        </p:spPr>
        <p:txBody>
          <a:bodyPr vert="horz" lIns="0" tIns="0" rIns="0" bIns="0" rtlCol="0" anchor="t">
            <a:noAutofit/>
          </a:bodyPr>
          <a:lstStyle/>
          <a:p>
            <a:pPr>
              <a:spcAft>
                <a:spcPts val="1200"/>
              </a:spcAft>
            </a:pPr>
            <a:r>
              <a:rPr lang="en-US" sz="1800">
                <a:latin typeface="Ubuntu"/>
              </a:rPr>
              <a:t>Imagine your organization’s data flowing through many systems—databases, ETL tools, data warehouses, and BI dashboards. Each system knows its own piece of the puzzle, but no one sees the full picture. This Agentic solution acts like a </a:t>
            </a:r>
            <a:r>
              <a:rPr lang="en-US" sz="1800" b="1">
                <a:latin typeface="Ubuntu"/>
              </a:rPr>
              <a:t>smart coordinator</a:t>
            </a:r>
            <a:r>
              <a:rPr lang="en-US" sz="1800">
                <a:latin typeface="Ubuntu"/>
              </a:rPr>
              <a:t> that connects those pieces into a clear, end-to-end map.</a:t>
            </a:r>
          </a:p>
          <a:p>
            <a:pPr>
              <a:spcAft>
                <a:spcPts val="1200"/>
              </a:spcAft>
            </a:pPr>
            <a:r>
              <a:rPr lang="en-US" sz="1800" b="1">
                <a:latin typeface="Ubuntu"/>
              </a:rPr>
              <a:t>How it works in plain language:</a:t>
            </a:r>
            <a:endParaRPr lang="en-US" sz="1800">
              <a:latin typeface="Ubuntu"/>
            </a:endParaRPr>
          </a:p>
          <a:p>
            <a:pPr marL="288000" indent="-288000">
              <a:spcAft>
                <a:spcPts val="1200"/>
              </a:spcAft>
              <a:buAutoNum type="arabicPeriod"/>
            </a:pPr>
            <a:r>
              <a:rPr lang="en-US" sz="1800" b="1">
                <a:latin typeface="Ubuntu"/>
              </a:rPr>
              <a:t>Reads the instructions</a:t>
            </a:r>
            <a:r>
              <a:rPr lang="en-US" sz="1800">
                <a:latin typeface="Ubuntu"/>
              </a:rPr>
              <a:t>: The agent looks at your existing documentation—SQL scripts, ETL job configs, BI reports—and understands how data moves from one place to another.</a:t>
            </a:r>
          </a:p>
          <a:p>
            <a:pPr marL="285750" indent="-285750">
              <a:spcAft>
                <a:spcPts val="1200"/>
              </a:spcAft>
              <a:buAutoNum type="arabicPeriod"/>
            </a:pPr>
            <a:r>
              <a:rPr lang="en-US" sz="1800" b="1"/>
              <a:t>Builds small pieces first</a:t>
            </a:r>
            <a:r>
              <a:rPr lang="en-US" sz="1800"/>
              <a:t>: It creates mini-maps showing which tables and columns feed into others, including any transformations (like “uppercase names” or “calculate totals”).</a:t>
            </a:r>
          </a:p>
          <a:p>
            <a:pPr marL="285750" indent="-285750">
              <a:spcAft>
                <a:spcPts val="1200"/>
              </a:spcAft>
              <a:buAutoNum type="arabicPeriod"/>
            </a:pPr>
            <a:r>
              <a:rPr lang="en-US" sz="1800" b="1"/>
              <a:t>Connects the dots</a:t>
            </a:r>
            <a:r>
              <a:rPr lang="en-US" sz="1800"/>
              <a:t>: It links these mini-maps together across systems, so you can trace a data point from its original source all the way to the final report.</a:t>
            </a:r>
          </a:p>
          <a:p>
            <a:pPr marL="285750" indent="-285750">
              <a:spcAft>
                <a:spcPts val="1200"/>
              </a:spcAft>
              <a:buAutoNum type="arabicPeriod"/>
            </a:pPr>
            <a:r>
              <a:rPr lang="en-US" sz="1800" b="1"/>
              <a:t>Checks with experts</a:t>
            </a:r>
            <a:r>
              <a:rPr lang="en-US" sz="1800"/>
              <a:t>: If something is unclear (e.g., a column name mismatch), the agent asks your subject matter experts for clarification.</a:t>
            </a:r>
          </a:p>
          <a:p>
            <a:pPr marL="285750" indent="-285750">
              <a:spcAft>
                <a:spcPts val="1200"/>
              </a:spcAft>
              <a:buAutoNum type="arabicPeriod"/>
            </a:pPr>
            <a:r>
              <a:rPr lang="en-US" sz="1800" b="1">
                <a:latin typeface="Ubuntu"/>
              </a:rPr>
              <a:t>Draws the big picture</a:t>
            </a:r>
            <a:r>
              <a:rPr lang="en-US" sz="1800">
                <a:latin typeface="Ubuntu"/>
              </a:rPr>
              <a:t>: Finally, it produces a visual diagram and a structured mapping file that everyone can understand and trust, and loads them into the Data Catalog.</a:t>
            </a:r>
          </a:p>
          <a:p>
            <a:endParaRPr lang="en-US" sz="1800"/>
          </a:p>
        </p:txBody>
      </p:sp>
      <p:sp>
        <p:nvSpPr>
          <p:cNvPr id="3" name="Title 2">
            <a:extLst>
              <a:ext uri="{FF2B5EF4-FFF2-40B4-BE49-F238E27FC236}">
                <a16:creationId xmlns:a16="http://schemas.microsoft.com/office/drawing/2014/main" id="{38B0FE24-1724-6B59-49AF-3EE71A3D6DE4}"/>
              </a:ext>
            </a:extLst>
          </p:cNvPr>
          <p:cNvSpPr>
            <a:spLocks noGrp="1"/>
          </p:cNvSpPr>
          <p:nvPr>
            <p:ph type="title"/>
          </p:nvPr>
        </p:nvSpPr>
        <p:spPr/>
        <p:txBody>
          <a:bodyPr/>
          <a:lstStyle/>
          <a:p>
            <a:r>
              <a:rPr lang="en-US" cap="none">
                <a:latin typeface="Ubuntu Medium" panose="020B0604030602030204" pitchFamily="34" charset="0"/>
              </a:rPr>
              <a:t>How the Agents stitch lineage across systems</a:t>
            </a:r>
          </a:p>
        </p:txBody>
      </p:sp>
    </p:spTree>
    <p:extLst>
      <p:ext uri="{BB962C8B-B14F-4D97-AF65-F5344CB8AC3E}">
        <p14:creationId xmlns:p14="http://schemas.microsoft.com/office/powerpoint/2010/main" val="7260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DD0B30-2914-B7AC-FA58-C9805674D94D}"/>
              </a:ext>
            </a:extLst>
          </p:cNvPr>
          <p:cNvSpPr>
            <a:spLocks noGrp="1"/>
          </p:cNvSpPr>
          <p:nvPr>
            <p:ph type="title"/>
          </p:nvPr>
        </p:nvSpPr>
        <p:spPr/>
        <p:txBody>
          <a:bodyPr/>
          <a:lstStyle/>
          <a:p>
            <a:r>
              <a:rPr lang="en-US" cap="none"/>
              <a:t>Agents Overview</a:t>
            </a:r>
          </a:p>
        </p:txBody>
      </p:sp>
      <p:graphicFrame>
        <p:nvGraphicFramePr>
          <p:cNvPr id="4" name="Table 3">
            <a:extLst>
              <a:ext uri="{FF2B5EF4-FFF2-40B4-BE49-F238E27FC236}">
                <a16:creationId xmlns:a16="http://schemas.microsoft.com/office/drawing/2014/main" id="{46C1E4CE-C29A-A08C-3412-13B82F6A0476}"/>
              </a:ext>
            </a:extLst>
          </p:cNvPr>
          <p:cNvGraphicFramePr>
            <a:graphicFrameLocks noGrp="1"/>
          </p:cNvGraphicFramePr>
          <p:nvPr>
            <p:extLst>
              <p:ext uri="{D42A27DB-BD31-4B8C-83A1-F6EECF244321}">
                <p14:modId xmlns:p14="http://schemas.microsoft.com/office/powerpoint/2010/main" val="3024929862"/>
              </p:ext>
            </p:extLst>
          </p:nvPr>
        </p:nvGraphicFramePr>
        <p:xfrm>
          <a:off x="405925" y="1253382"/>
          <a:ext cx="11191225" cy="4743087"/>
        </p:xfrm>
        <a:graphic>
          <a:graphicData uri="http://schemas.openxmlformats.org/drawingml/2006/table">
            <a:tbl>
              <a:tblPr firstRow="1" bandRow="1">
                <a:tableStyleId>{5C22544A-7EE6-4342-B048-85BDC9FD1C3A}</a:tableStyleId>
              </a:tblPr>
              <a:tblGrid>
                <a:gridCol w="597104">
                  <a:extLst>
                    <a:ext uri="{9D8B030D-6E8A-4147-A177-3AD203B41FA5}">
                      <a16:colId xmlns:a16="http://schemas.microsoft.com/office/drawing/2014/main" val="1068535165"/>
                    </a:ext>
                  </a:extLst>
                </a:gridCol>
                <a:gridCol w="1318137">
                  <a:extLst>
                    <a:ext uri="{9D8B030D-6E8A-4147-A177-3AD203B41FA5}">
                      <a16:colId xmlns:a16="http://schemas.microsoft.com/office/drawing/2014/main" val="666028573"/>
                    </a:ext>
                  </a:extLst>
                </a:gridCol>
                <a:gridCol w="3636574">
                  <a:extLst>
                    <a:ext uri="{9D8B030D-6E8A-4147-A177-3AD203B41FA5}">
                      <a16:colId xmlns:a16="http://schemas.microsoft.com/office/drawing/2014/main" val="2618611023"/>
                    </a:ext>
                  </a:extLst>
                </a:gridCol>
                <a:gridCol w="2686639">
                  <a:extLst>
                    <a:ext uri="{9D8B030D-6E8A-4147-A177-3AD203B41FA5}">
                      <a16:colId xmlns:a16="http://schemas.microsoft.com/office/drawing/2014/main" val="344836739"/>
                    </a:ext>
                  </a:extLst>
                </a:gridCol>
                <a:gridCol w="2952771">
                  <a:extLst>
                    <a:ext uri="{9D8B030D-6E8A-4147-A177-3AD203B41FA5}">
                      <a16:colId xmlns:a16="http://schemas.microsoft.com/office/drawing/2014/main" val="3541743075"/>
                    </a:ext>
                  </a:extLst>
                </a:gridCol>
              </a:tblGrid>
              <a:tr h="270387">
                <a:tc>
                  <a:txBody>
                    <a:bodyPr/>
                    <a:lstStyle/>
                    <a:p>
                      <a:r>
                        <a:rPr lang="en-US" sz="1050"/>
                        <a:t>Agent</a:t>
                      </a:r>
                    </a:p>
                  </a:txBody>
                  <a:tcPr/>
                </a:tc>
                <a:tc>
                  <a:txBody>
                    <a:bodyPr/>
                    <a:lstStyle/>
                    <a:p>
                      <a:r>
                        <a:rPr lang="en-US" sz="1050"/>
                        <a:t>Description</a:t>
                      </a:r>
                    </a:p>
                  </a:txBody>
                  <a:tcPr/>
                </a:tc>
                <a:tc>
                  <a:txBody>
                    <a:bodyPr/>
                    <a:lstStyle/>
                    <a:p>
                      <a:r>
                        <a:rPr lang="en-US" sz="1050"/>
                        <a:t>Purpose</a:t>
                      </a:r>
                    </a:p>
                  </a:txBody>
                  <a:tcPr/>
                </a:tc>
                <a:tc>
                  <a:txBody>
                    <a:bodyPr/>
                    <a:lstStyle/>
                    <a:p>
                      <a:r>
                        <a:rPr lang="en-US" sz="1050"/>
                        <a:t>Key Inputs</a:t>
                      </a:r>
                    </a:p>
                  </a:txBody>
                  <a:tcPr/>
                </a:tc>
                <a:tc>
                  <a:txBody>
                    <a:bodyPr/>
                    <a:lstStyle/>
                    <a:p>
                      <a:pPr lvl="0">
                        <a:buNone/>
                      </a:pPr>
                      <a:r>
                        <a:rPr lang="en-US" sz="1050"/>
                        <a:t>Key Output</a:t>
                      </a:r>
                    </a:p>
                  </a:txBody>
                  <a:tcPr/>
                </a:tc>
                <a:extLst>
                  <a:ext uri="{0D108BD9-81ED-4DB2-BD59-A6C34878D82A}">
                    <a16:rowId xmlns:a16="http://schemas.microsoft.com/office/drawing/2014/main" val="4134427359"/>
                  </a:ext>
                </a:extLst>
              </a:tr>
              <a:tr h="898920">
                <a:tc>
                  <a:txBody>
                    <a:bodyPr/>
                    <a:lstStyle/>
                    <a:p>
                      <a:r>
                        <a:rPr lang="en-US" sz="1050" b="1"/>
                        <a:t>A1</a:t>
                      </a:r>
                    </a:p>
                  </a:txBody>
                  <a:tcPr/>
                </a:tc>
                <a:tc>
                  <a:txBody>
                    <a:bodyPr/>
                    <a:lstStyle/>
                    <a:p>
                      <a:r>
                        <a:rPr lang="en-US" sz="1050" b="1" dirty="0"/>
                        <a:t>Lineage Parser</a:t>
                      </a:r>
                    </a:p>
                  </a:txBody>
                  <a:tcPr/>
                </a:tc>
                <a:tc>
                  <a:txBody>
                    <a:bodyPr/>
                    <a:lstStyle/>
                    <a:p>
                      <a:pPr lvl="0">
                        <a:buNone/>
                      </a:pPr>
                      <a:r>
                        <a:rPr lang="en-US" sz="1050" b="0" i="0" u="none" strike="noStrike" noProof="0" dirty="0">
                          <a:latin typeface="Ubuntu"/>
                        </a:rPr>
                        <a:t>Extract </a:t>
                      </a:r>
                      <a:r>
                        <a:rPr lang="en-US" sz="1050" b="1" i="0" u="none" strike="noStrike" noProof="0" dirty="0">
                          <a:latin typeface="Ubuntu"/>
                        </a:rPr>
                        <a:t>technical lineage fragments</a:t>
                      </a:r>
                      <a:r>
                        <a:rPr lang="en-US" sz="1050" b="0" i="0" u="none" strike="noStrike" noProof="0" dirty="0">
                          <a:latin typeface="Ubuntu"/>
                        </a:rPr>
                        <a:t> from raw artifacts into a </a:t>
                      </a:r>
                      <a:r>
                        <a:rPr lang="en-US" sz="1050" b="1" i="0" u="none" strike="noStrike" noProof="0" dirty="0">
                          <a:latin typeface="Ubuntu"/>
                        </a:rPr>
                        <a:t>strict, reviewable JSON</a:t>
                      </a:r>
                      <a:r>
                        <a:rPr lang="en-US" sz="1050" b="0" i="0" u="none" strike="noStrike" noProof="0" dirty="0">
                          <a:latin typeface="Ubuntu"/>
                        </a:rPr>
                        <a:t> structure with provenance and confidence scoring.</a:t>
                      </a:r>
                      <a:endParaRPr lang="en-US" sz="1050" dirty="0"/>
                    </a:p>
                  </a:txBody>
                  <a:tcPr/>
                </a:tc>
                <a:tc>
                  <a:txBody>
                    <a:bodyPr/>
                    <a:lstStyle/>
                    <a:p>
                      <a:pPr marL="0" lvl="0" indent="0" algn="l">
                        <a:lnSpc>
                          <a:spcPct val="100000"/>
                        </a:lnSpc>
                        <a:spcBef>
                          <a:spcPts val="0"/>
                        </a:spcBef>
                        <a:spcAft>
                          <a:spcPts val="0"/>
                        </a:spcAft>
                        <a:buNone/>
                      </a:pPr>
                      <a:r>
                        <a:rPr lang="en-US" sz="1050" b="0" i="0" u="none" strike="noStrike" noProof="0">
                          <a:latin typeface="Ubuntu"/>
                        </a:rPr>
                        <a:t>SQL/ETL/BI artifacts + file paths/line numbers</a:t>
                      </a:r>
                      <a:endParaRPr lang="en-US" sz="1050"/>
                    </a:p>
                    <a:p>
                      <a:pPr marL="0" lvl="0" indent="0" algn="l">
                        <a:lnSpc>
                          <a:spcPct val="100000"/>
                        </a:lnSpc>
                        <a:spcBef>
                          <a:spcPts val="0"/>
                        </a:spcBef>
                        <a:spcAft>
                          <a:spcPts val="0"/>
                        </a:spcAft>
                        <a:buFont typeface="Arial"/>
                        <a:buNone/>
                      </a:pPr>
                      <a:r>
                        <a:rPr lang="en-US" sz="1050" b="0" i="0" u="none" strike="noStrike" noProof="0">
                          <a:latin typeface="Ubuntu"/>
                        </a:rPr>
                        <a:t>Ontology &amp; mapping schema, synonyms, rename history</a:t>
                      </a:r>
                      <a:endParaRPr lang="en-US" sz="1050"/>
                    </a:p>
                    <a:p>
                      <a:pPr lvl="0">
                        <a:buNone/>
                      </a:pPr>
                      <a:endParaRPr lang="en-US" sz="1050"/>
                    </a:p>
                  </a:txBody>
                  <a:tcPr/>
                </a:tc>
                <a:tc>
                  <a:txBody>
                    <a:bodyPr/>
                    <a:lstStyle/>
                    <a:p>
                      <a:pPr lvl="0">
                        <a:buNone/>
                      </a:pPr>
                      <a:r>
                        <a:rPr lang="en-US" sz="1050" b="1" i="0" u="none" strike="noStrike" noProof="0">
                          <a:latin typeface="Ubuntu"/>
                        </a:rPr>
                        <a:t>Fragments JSON</a:t>
                      </a:r>
                      <a:r>
                        <a:rPr lang="en-US" sz="1050" b="0" i="0" u="none" strike="noStrike" noProof="0">
                          <a:latin typeface="Ubuntu"/>
                        </a:rPr>
                        <a:t>: sources, targets, transforms, confidence, issues, citations</a:t>
                      </a:r>
                      <a:endParaRPr lang="en-US" sz="1050"/>
                    </a:p>
                  </a:txBody>
                  <a:tcPr/>
                </a:tc>
                <a:extLst>
                  <a:ext uri="{0D108BD9-81ED-4DB2-BD59-A6C34878D82A}">
                    <a16:rowId xmlns:a16="http://schemas.microsoft.com/office/drawing/2014/main" val="2927195413"/>
                  </a:ext>
                </a:extLst>
              </a:tr>
              <a:tr h="370840">
                <a:tc>
                  <a:txBody>
                    <a:bodyPr/>
                    <a:lstStyle/>
                    <a:p>
                      <a:r>
                        <a:rPr lang="en-US" sz="1050" b="1"/>
                        <a:t>A2</a:t>
                      </a:r>
                    </a:p>
                  </a:txBody>
                  <a:tcPr/>
                </a:tc>
                <a:tc>
                  <a:txBody>
                    <a:bodyPr/>
                    <a:lstStyle/>
                    <a:p>
                      <a:pPr lvl="0">
                        <a:buNone/>
                      </a:pPr>
                      <a:r>
                        <a:rPr lang="en-US" sz="1050" b="1" i="0" u="none" strike="noStrike" noProof="0">
                          <a:latin typeface="Ubuntu"/>
                        </a:rPr>
                        <a:t>Mapping Synthesizer &amp; Gap Detector</a:t>
                      </a:r>
                      <a:endParaRPr lang="en-US" sz="1050" b="1"/>
                    </a:p>
                  </a:txBody>
                  <a:tcPr/>
                </a:tc>
                <a:tc>
                  <a:txBody>
                    <a:bodyPr/>
                    <a:lstStyle/>
                    <a:p>
                      <a:pPr lvl="0">
                        <a:buNone/>
                      </a:pPr>
                      <a:r>
                        <a:rPr lang="en-US" sz="1050" b="0" i="0" u="none" strike="noStrike" noProof="0">
                          <a:latin typeface="Ubuntu"/>
                        </a:rPr>
                        <a:t>Turn multiple fragments and reference materials into </a:t>
                      </a:r>
                      <a:r>
                        <a:rPr lang="en-US" sz="1050" b="1" i="0" u="none" strike="noStrike" noProof="0">
                          <a:latin typeface="Ubuntu"/>
                        </a:rPr>
                        <a:t>first‑draft </a:t>
                      </a:r>
                      <a:r>
                        <a:rPr lang="en-US" sz="1050" b="1" i="0" u="none" strike="noStrike" noProof="0" err="1">
                          <a:latin typeface="Ubuntu"/>
                        </a:rPr>
                        <a:t>source→target</a:t>
                      </a:r>
                      <a:r>
                        <a:rPr lang="en-US" sz="1050" b="1" i="0" u="none" strike="noStrike" noProof="0">
                          <a:latin typeface="Ubuntu"/>
                        </a:rPr>
                        <a:t> mappings</a:t>
                      </a:r>
                      <a:r>
                        <a:rPr lang="en-US" sz="1050" b="0" i="0" u="none" strike="noStrike" noProof="0">
                          <a:latin typeface="Ubuntu"/>
                        </a:rPr>
                        <a:t> and </a:t>
                      </a:r>
                      <a:r>
                        <a:rPr lang="en-US" sz="1050" b="1" i="0" u="none" strike="noStrike" noProof="0">
                          <a:latin typeface="Ubuntu"/>
                        </a:rPr>
                        <a:t>explicit gap lists</a:t>
                      </a:r>
                      <a:r>
                        <a:rPr lang="en-US" sz="1050" b="0" i="0" u="none" strike="noStrike" noProof="0">
                          <a:latin typeface="Ubuntu"/>
                        </a:rPr>
                        <a:t> to accelerate SME review.</a:t>
                      </a:r>
                      <a:endParaRPr lang="en-US" sz="1050"/>
                    </a:p>
                  </a:txBody>
                  <a:tcPr/>
                </a:tc>
                <a:tc>
                  <a:txBody>
                    <a:bodyPr/>
                    <a:lstStyle/>
                    <a:p>
                      <a:pPr lvl="0">
                        <a:buNone/>
                      </a:pPr>
                      <a:r>
                        <a:rPr lang="en-US" sz="1050" b="0" i="0" u="none" strike="noStrike" noProof="0">
                          <a:latin typeface="Ubuntu"/>
                        </a:rPr>
                        <a:t>Agent 1 fragments; data contracts; SLAs; ontology &amp; policies</a:t>
                      </a:r>
                      <a:endParaRPr lang="en-US"/>
                    </a:p>
                  </a:txBody>
                  <a:tcPr/>
                </a:tc>
                <a:tc>
                  <a:txBody>
                    <a:bodyPr/>
                    <a:lstStyle/>
                    <a:p>
                      <a:pPr marL="0" lvl="0" indent="0" algn="l">
                        <a:lnSpc>
                          <a:spcPct val="100000"/>
                        </a:lnSpc>
                        <a:spcBef>
                          <a:spcPts val="0"/>
                        </a:spcBef>
                        <a:spcAft>
                          <a:spcPts val="0"/>
                        </a:spcAft>
                        <a:buNone/>
                      </a:pPr>
                      <a:r>
                        <a:rPr lang="en-US" sz="1050" b="1" i="0" u="none" strike="noStrike" noProof="0">
                          <a:latin typeface="Ubuntu"/>
                        </a:rPr>
                        <a:t>Mapping JSON (draft)</a:t>
                      </a:r>
                      <a:r>
                        <a:rPr lang="en-US" sz="1050" b="0" i="0" u="none" strike="noStrike" noProof="0">
                          <a:latin typeface="Ubuntu"/>
                        </a:rPr>
                        <a:t> with assumptions and confidence</a:t>
                      </a:r>
                      <a:endParaRPr lang="en-US"/>
                    </a:p>
                    <a:p>
                      <a:pPr marL="0" lvl="0" indent="0" algn="l">
                        <a:lnSpc>
                          <a:spcPct val="100000"/>
                        </a:lnSpc>
                        <a:spcBef>
                          <a:spcPts val="0"/>
                        </a:spcBef>
                        <a:spcAft>
                          <a:spcPts val="0"/>
                        </a:spcAft>
                        <a:buNone/>
                      </a:pPr>
                      <a:r>
                        <a:rPr lang="en-US" sz="1050" b="1" i="0" u="none" strike="noStrike" noProof="0">
                          <a:latin typeface="Ubuntu"/>
                        </a:rPr>
                        <a:t>Gap pack</a:t>
                      </a:r>
                      <a:r>
                        <a:rPr lang="en-US" sz="1050" b="0" i="0" u="none" strike="noStrike" noProof="0">
                          <a:latin typeface="Ubuntu"/>
                        </a:rPr>
                        <a:t>: prioritized questions and open issues</a:t>
                      </a:r>
                      <a:endParaRPr lang="en-US"/>
                    </a:p>
                    <a:p>
                      <a:pPr lvl="0">
                        <a:buNone/>
                      </a:pPr>
                      <a:endParaRPr lang="en-US" sz="1050"/>
                    </a:p>
                  </a:txBody>
                  <a:tcPr/>
                </a:tc>
                <a:extLst>
                  <a:ext uri="{0D108BD9-81ED-4DB2-BD59-A6C34878D82A}">
                    <a16:rowId xmlns:a16="http://schemas.microsoft.com/office/drawing/2014/main" val="89997129"/>
                  </a:ext>
                </a:extLst>
              </a:tr>
              <a:tr h="370840">
                <a:tc>
                  <a:txBody>
                    <a:bodyPr/>
                    <a:lstStyle/>
                    <a:p>
                      <a:r>
                        <a:rPr lang="en-US" sz="1050" b="1"/>
                        <a:t>A3</a:t>
                      </a:r>
                    </a:p>
                  </a:txBody>
                  <a:tcPr/>
                </a:tc>
                <a:tc>
                  <a:txBody>
                    <a:bodyPr/>
                    <a:lstStyle/>
                    <a:p>
                      <a:pPr lvl="0">
                        <a:buNone/>
                      </a:pPr>
                      <a:r>
                        <a:rPr lang="en-US" sz="1050" b="1" i="0" u="none" strike="noStrike" noProof="0">
                          <a:latin typeface="Ubuntu"/>
                        </a:rPr>
                        <a:t>SME Orchestrator &amp; Finalizer</a:t>
                      </a:r>
                      <a:endParaRPr lang="en-US" sz="1050" b="1"/>
                    </a:p>
                  </a:txBody>
                  <a:tcPr/>
                </a:tc>
                <a:tc>
                  <a:txBody>
                    <a:bodyPr/>
                    <a:lstStyle/>
                    <a:p>
                      <a:pPr lvl="0">
                        <a:buNone/>
                      </a:pPr>
                      <a:r>
                        <a:rPr lang="en-US" sz="1050" b="0" i="0" u="none" strike="noStrike" noProof="0">
                          <a:latin typeface="Ubuntu"/>
                        </a:rPr>
                        <a:t>Coordinate SME interactions to </a:t>
                      </a:r>
                      <a:r>
                        <a:rPr lang="en-US" sz="1050" b="1" i="0" u="none" strike="noStrike" noProof="0">
                          <a:latin typeface="Ubuntu"/>
                        </a:rPr>
                        <a:t>close gaps</a:t>
                      </a:r>
                      <a:r>
                        <a:rPr lang="en-US" sz="1050" b="0" i="0" u="none" strike="noStrike" noProof="0">
                          <a:latin typeface="Ubuntu"/>
                        </a:rPr>
                        <a:t>, then </a:t>
                      </a:r>
                      <a:r>
                        <a:rPr lang="en-US" sz="1050" b="1" i="0" u="none" strike="noStrike" noProof="0">
                          <a:latin typeface="Ubuntu"/>
                        </a:rPr>
                        <a:t>apply clarifications</a:t>
                      </a:r>
                      <a:r>
                        <a:rPr lang="en-US" sz="1050" b="0" i="0" u="none" strike="noStrike" noProof="0">
                          <a:latin typeface="Ubuntu"/>
                        </a:rPr>
                        <a:t> to produce </a:t>
                      </a:r>
                      <a:r>
                        <a:rPr lang="en-US" sz="1050" b="1" i="0" u="none" strike="noStrike" noProof="0">
                          <a:latin typeface="Ubuntu"/>
                        </a:rPr>
                        <a:t>final, policy‑compliant mappings</a:t>
                      </a:r>
                      <a:r>
                        <a:rPr lang="en-US" sz="1050" b="0" i="0" u="none" strike="noStrike" noProof="0">
                          <a:latin typeface="Ubuntu"/>
                        </a:rPr>
                        <a:t> with updated confidence.</a:t>
                      </a:r>
                      <a:endParaRPr lang="en-US" sz="1050"/>
                    </a:p>
                  </a:txBody>
                  <a:tcPr/>
                </a:tc>
                <a:tc>
                  <a:txBody>
                    <a:bodyPr/>
                    <a:lstStyle/>
                    <a:p>
                      <a:pPr marL="0" lvl="0" indent="0" algn="l">
                        <a:lnSpc>
                          <a:spcPct val="100000"/>
                        </a:lnSpc>
                        <a:spcBef>
                          <a:spcPts val="0"/>
                        </a:spcBef>
                        <a:spcAft>
                          <a:spcPts val="0"/>
                        </a:spcAft>
                        <a:buNone/>
                      </a:pPr>
                      <a:r>
                        <a:rPr lang="en-US" sz="1050" b="0" i="0" u="none" strike="noStrike" noProof="0" dirty="0">
                          <a:latin typeface="Ubuntu"/>
                        </a:rPr>
                        <a:t>Gap pack &amp; draft mappings (Agent 2)</a:t>
                      </a:r>
                      <a:endParaRPr lang="en-US" dirty="0"/>
                    </a:p>
                    <a:p>
                      <a:pPr marL="0" lvl="0" indent="0" algn="l">
                        <a:lnSpc>
                          <a:spcPct val="100000"/>
                        </a:lnSpc>
                        <a:spcBef>
                          <a:spcPts val="0"/>
                        </a:spcBef>
                        <a:spcAft>
                          <a:spcPts val="0"/>
                        </a:spcAft>
                        <a:buNone/>
                      </a:pPr>
                      <a:r>
                        <a:rPr lang="en-US" sz="1050" b="0" i="0" u="none" strike="noStrike" noProof="0" dirty="0">
                          <a:latin typeface="Ubuntu"/>
                        </a:rPr>
                        <a:t>SME registry; interview transcripts; exception policies</a:t>
                      </a:r>
                      <a:endParaRPr lang="en-US" dirty="0"/>
                    </a:p>
                    <a:p>
                      <a:pPr lvl="0">
                        <a:buNone/>
                      </a:pPr>
                      <a:endParaRPr lang="en-US" sz="1050" dirty="0"/>
                    </a:p>
                  </a:txBody>
                  <a:tcPr/>
                </a:tc>
                <a:tc>
                  <a:txBody>
                    <a:bodyPr/>
                    <a:lstStyle/>
                    <a:p>
                      <a:pPr marL="0" lvl="0" indent="0" algn="l">
                        <a:lnSpc>
                          <a:spcPct val="100000"/>
                        </a:lnSpc>
                        <a:spcBef>
                          <a:spcPts val="0"/>
                        </a:spcBef>
                        <a:spcAft>
                          <a:spcPts val="0"/>
                        </a:spcAft>
                        <a:buNone/>
                      </a:pPr>
                      <a:r>
                        <a:rPr lang="en-US" sz="1050" b="1" i="0" u="none" strike="noStrike" noProof="0">
                          <a:latin typeface="Ubuntu"/>
                        </a:rPr>
                        <a:t>Final mapping JSON</a:t>
                      </a:r>
                      <a:r>
                        <a:rPr lang="en-US" sz="1050" b="0" i="0" u="none" strike="noStrike" noProof="0">
                          <a:latin typeface="Ubuntu"/>
                        </a:rPr>
                        <a:t> (100% mapped or justified)</a:t>
                      </a:r>
                      <a:endParaRPr lang="en-US"/>
                    </a:p>
                    <a:p>
                      <a:pPr marL="0" lvl="0" indent="0" algn="l">
                        <a:lnSpc>
                          <a:spcPct val="100000"/>
                        </a:lnSpc>
                        <a:spcBef>
                          <a:spcPts val="0"/>
                        </a:spcBef>
                        <a:spcAft>
                          <a:spcPts val="0"/>
                        </a:spcAft>
                        <a:buNone/>
                      </a:pPr>
                      <a:r>
                        <a:rPr lang="en-US" sz="1050" b="0" i="0" u="none" strike="noStrike" noProof="0">
                          <a:latin typeface="Ubuntu"/>
                        </a:rPr>
                        <a:t>Acceptance checklist; residual risk notes; audit trail of Q&amp;A</a:t>
                      </a:r>
                      <a:endParaRPr lang="en-US"/>
                    </a:p>
                    <a:p>
                      <a:pPr lvl="0">
                        <a:buNone/>
                      </a:pPr>
                      <a:endParaRPr lang="en-US" sz="1050"/>
                    </a:p>
                  </a:txBody>
                  <a:tcPr/>
                </a:tc>
                <a:extLst>
                  <a:ext uri="{0D108BD9-81ED-4DB2-BD59-A6C34878D82A}">
                    <a16:rowId xmlns:a16="http://schemas.microsoft.com/office/drawing/2014/main" val="807453889"/>
                  </a:ext>
                </a:extLst>
              </a:tr>
              <a:tr h="337983">
                <a:tc>
                  <a:txBody>
                    <a:bodyPr/>
                    <a:lstStyle/>
                    <a:p>
                      <a:pPr lvl="0">
                        <a:buNone/>
                      </a:pPr>
                      <a:r>
                        <a:rPr lang="en-US" sz="1050" b="1"/>
                        <a:t>A4</a:t>
                      </a:r>
                    </a:p>
                    <a:p>
                      <a:pPr lvl="0">
                        <a:buNone/>
                      </a:pPr>
                      <a:endParaRPr lang="en-US" sz="1050" b="1"/>
                    </a:p>
                  </a:txBody>
                  <a:tcPr/>
                </a:tc>
                <a:tc>
                  <a:txBody>
                    <a:bodyPr/>
                    <a:lstStyle/>
                    <a:p>
                      <a:pPr lvl="0">
                        <a:buNone/>
                      </a:pPr>
                      <a:r>
                        <a:rPr lang="en-US" sz="1050" b="1" i="0" u="none" strike="noStrike" noProof="0">
                          <a:latin typeface="Ubuntu"/>
                        </a:rPr>
                        <a:t>Lineage Stitcher &amp; Visualizer</a:t>
                      </a:r>
                      <a:endParaRPr lang="en-US" b="1"/>
                    </a:p>
                  </a:txBody>
                  <a:tcPr/>
                </a:tc>
                <a:tc>
                  <a:txBody>
                    <a:bodyPr/>
                    <a:lstStyle/>
                    <a:p>
                      <a:pPr lvl="0">
                        <a:buNone/>
                      </a:pPr>
                      <a:r>
                        <a:rPr lang="en-US" sz="1050" b="0" i="0" u="none" strike="noStrike" noProof="0">
                          <a:latin typeface="Ubuntu"/>
                        </a:rPr>
                        <a:t>Connect validated mappings into </a:t>
                      </a:r>
                      <a:r>
                        <a:rPr lang="en-US" sz="1050" b="1" i="0" u="none" strike="noStrike" noProof="0">
                          <a:latin typeface="Ubuntu"/>
                        </a:rPr>
                        <a:t>end‑to‑end lineage</a:t>
                      </a:r>
                      <a:r>
                        <a:rPr lang="en-US" sz="1050" b="0" i="0" u="none" strike="noStrike" noProof="0">
                          <a:latin typeface="Ubuntu"/>
                        </a:rPr>
                        <a:t> across systems and generate </a:t>
                      </a:r>
                      <a:r>
                        <a:rPr lang="en-US" sz="1050" b="1" i="0" u="none" strike="noStrike" noProof="0">
                          <a:latin typeface="Ubuntu"/>
                        </a:rPr>
                        <a:t>readable visuals</a:t>
                      </a:r>
                      <a:r>
                        <a:rPr lang="en-US" sz="1050" b="0" i="0" u="none" strike="noStrike" noProof="0">
                          <a:latin typeface="Ubuntu"/>
                        </a:rPr>
                        <a:t> for validation and communication.</a:t>
                      </a:r>
                      <a:endParaRPr lang="en-US"/>
                    </a:p>
                  </a:txBody>
                  <a:tcPr/>
                </a:tc>
                <a:tc>
                  <a:txBody>
                    <a:bodyPr/>
                    <a:lstStyle/>
                    <a:p>
                      <a:pPr lvl="0">
                        <a:buNone/>
                      </a:pPr>
                      <a:r>
                        <a:rPr lang="en-US" sz="1050" b="0" i="0" u="none" strike="noStrike" noProof="0" dirty="0">
                          <a:latin typeface="Ubuntu"/>
                        </a:rPr>
                        <a:t>Final mappings (Agent 3); stitching rules; rename concordance</a:t>
                      </a:r>
                      <a:endParaRPr lang="en-US" dirty="0"/>
                    </a:p>
                  </a:txBody>
                  <a:tcPr/>
                </a:tc>
                <a:tc>
                  <a:txBody>
                    <a:bodyPr/>
                    <a:lstStyle/>
                    <a:p>
                      <a:pPr marL="0" lvl="0" indent="0" algn="l">
                        <a:lnSpc>
                          <a:spcPct val="100000"/>
                        </a:lnSpc>
                        <a:spcBef>
                          <a:spcPts val="0"/>
                        </a:spcBef>
                        <a:spcAft>
                          <a:spcPts val="0"/>
                        </a:spcAft>
                        <a:buNone/>
                      </a:pPr>
                      <a:r>
                        <a:rPr lang="en-US" sz="1050" b="1" i="0" u="none" strike="noStrike" noProof="0">
                          <a:latin typeface="Ubuntu"/>
                        </a:rPr>
                        <a:t>Stitched graph JSON</a:t>
                      </a:r>
                      <a:r>
                        <a:rPr lang="en-US" sz="1050" b="0" i="0" u="none" strike="noStrike" noProof="0">
                          <a:latin typeface="Ubuntu"/>
                        </a:rPr>
                        <a:t> (nodes/edges with confidence &amp; issues)</a:t>
                      </a:r>
                      <a:endParaRPr lang="en-US"/>
                    </a:p>
                    <a:p>
                      <a:pPr marL="0" lvl="0" indent="0" algn="l">
                        <a:lnSpc>
                          <a:spcPct val="100000"/>
                        </a:lnSpc>
                        <a:spcBef>
                          <a:spcPts val="0"/>
                        </a:spcBef>
                        <a:spcAft>
                          <a:spcPts val="0"/>
                        </a:spcAft>
                        <a:buNone/>
                      </a:pPr>
                      <a:r>
                        <a:rPr lang="en-US" sz="1050" b="0" i="0" u="none" strike="noStrike" noProof="0">
                          <a:latin typeface="Ubuntu"/>
                        </a:rPr>
                        <a:t>Visual exports ready for steward/executive review</a:t>
                      </a:r>
                      <a:endParaRPr lang="en-US"/>
                    </a:p>
                    <a:p>
                      <a:pPr lvl="0">
                        <a:buNone/>
                      </a:pPr>
                      <a:endParaRPr lang="en-US" sz="1050"/>
                    </a:p>
                  </a:txBody>
                  <a:tcPr/>
                </a:tc>
                <a:extLst>
                  <a:ext uri="{0D108BD9-81ED-4DB2-BD59-A6C34878D82A}">
                    <a16:rowId xmlns:a16="http://schemas.microsoft.com/office/drawing/2014/main" val="30388014"/>
                  </a:ext>
                </a:extLst>
              </a:tr>
              <a:tr h="370838">
                <a:tc>
                  <a:txBody>
                    <a:bodyPr/>
                    <a:lstStyle/>
                    <a:p>
                      <a:pPr lvl="0">
                        <a:buNone/>
                      </a:pPr>
                      <a:r>
                        <a:rPr lang="en-US" sz="1050" b="1"/>
                        <a:t>A5</a:t>
                      </a:r>
                      <a:endParaRPr lang="en-US" b="1"/>
                    </a:p>
                  </a:txBody>
                  <a:tcPr/>
                </a:tc>
                <a:tc>
                  <a:txBody>
                    <a:bodyPr/>
                    <a:lstStyle/>
                    <a:p>
                      <a:pPr lvl="0">
                        <a:buNone/>
                      </a:pPr>
                      <a:r>
                        <a:rPr lang="en-US" sz="1050" b="1" i="0" u="none" strike="noStrike" noProof="0">
                          <a:latin typeface="Ubuntu"/>
                        </a:rPr>
                        <a:t>Publisher &amp; Catalog Linker</a:t>
                      </a:r>
                      <a:endParaRPr lang="en-US" b="1"/>
                    </a:p>
                  </a:txBody>
                  <a:tcPr/>
                </a:tc>
                <a:tc>
                  <a:txBody>
                    <a:bodyPr/>
                    <a:lstStyle/>
                    <a:p>
                      <a:pPr lvl="0">
                        <a:buNone/>
                      </a:pPr>
                      <a:r>
                        <a:rPr lang="en-US" sz="1050" b="0" i="0" u="none" strike="noStrike" noProof="0">
                          <a:latin typeface="Ubuntu"/>
                        </a:rPr>
                        <a:t>Publish </a:t>
                      </a:r>
                      <a:r>
                        <a:rPr lang="en-US" sz="1050" b="1" i="0" u="none" strike="noStrike" noProof="0">
                          <a:latin typeface="Ubuntu"/>
                        </a:rPr>
                        <a:t>approved lineage</a:t>
                      </a:r>
                      <a:r>
                        <a:rPr lang="en-US" sz="1050" b="0" i="0" u="none" strike="noStrike" noProof="0">
                          <a:latin typeface="Ubuntu"/>
                        </a:rPr>
                        <a:t> to your catalog (and adjacent governance tools) and </a:t>
                      </a:r>
                      <a:r>
                        <a:rPr lang="en-US" sz="1050" b="1" i="0" u="none" strike="noStrike" noProof="0">
                          <a:latin typeface="Ubuntu"/>
                        </a:rPr>
                        <a:t>cross‑link</a:t>
                      </a:r>
                      <a:r>
                        <a:rPr lang="en-US" sz="1050" b="0" i="0" u="none" strike="noStrike" noProof="0">
                          <a:latin typeface="Ubuntu"/>
                        </a:rPr>
                        <a:t> with owners, policies, data contracts, DQ rules, and access groups.</a:t>
                      </a:r>
                      <a:endParaRPr lang="en-US"/>
                    </a:p>
                  </a:txBody>
                  <a:tcPr/>
                </a:tc>
                <a:tc>
                  <a:txBody>
                    <a:bodyPr/>
                    <a:lstStyle/>
                    <a:p>
                      <a:pPr marL="0" lvl="0" indent="0" algn="l">
                        <a:lnSpc>
                          <a:spcPct val="100000"/>
                        </a:lnSpc>
                        <a:spcBef>
                          <a:spcPts val="0"/>
                        </a:spcBef>
                        <a:spcAft>
                          <a:spcPts val="0"/>
                        </a:spcAft>
                        <a:buNone/>
                      </a:pPr>
                      <a:r>
                        <a:rPr lang="en-US" sz="1050" b="0" i="0" u="none" strike="noStrike" noProof="0">
                          <a:latin typeface="Ubuntu"/>
                        </a:rPr>
                        <a:t>Approved stitched graph (Agent 4) + mapping JSON</a:t>
                      </a:r>
                      <a:endParaRPr lang="en-US" sz="1050"/>
                    </a:p>
                    <a:p>
                      <a:pPr marL="0" lvl="0" indent="0" algn="l">
                        <a:lnSpc>
                          <a:spcPct val="100000"/>
                        </a:lnSpc>
                        <a:spcBef>
                          <a:spcPts val="0"/>
                        </a:spcBef>
                        <a:spcAft>
                          <a:spcPts val="0"/>
                        </a:spcAft>
                        <a:buNone/>
                      </a:pPr>
                      <a:r>
                        <a:rPr lang="en-US" sz="1050" b="0" i="0" u="none" strike="noStrike" noProof="0">
                          <a:latin typeface="Ubuntu"/>
                        </a:rPr>
                        <a:t>Catalog object model, policies, and release conventions</a:t>
                      </a:r>
                      <a:endParaRPr lang="en-US" sz="1050"/>
                    </a:p>
                    <a:p>
                      <a:pPr lvl="0">
                        <a:buNone/>
                      </a:pPr>
                      <a:endParaRPr lang="en-US" sz="1050"/>
                    </a:p>
                  </a:txBody>
                  <a:tcPr/>
                </a:tc>
                <a:tc>
                  <a:txBody>
                    <a:bodyPr/>
                    <a:lstStyle/>
                    <a:p>
                      <a:pPr marL="0" lvl="0" indent="0" algn="l">
                        <a:lnSpc>
                          <a:spcPct val="100000"/>
                        </a:lnSpc>
                        <a:spcBef>
                          <a:spcPts val="0"/>
                        </a:spcBef>
                        <a:spcAft>
                          <a:spcPts val="0"/>
                        </a:spcAft>
                        <a:buNone/>
                      </a:pPr>
                      <a:r>
                        <a:rPr lang="en-US" sz="1050" b="1" i="0" u="none" strike="noStrike" noProof="0" dirty="0">
                          <a:latin typeface="Ubuntu"/>
                        </a:rPr>
                        <a:t>Catalog entries</a:t>
                      </a:r>
                      <a:r>
                        <a:rPr lang="en-US" sz="1050" b="0" i="0" u="none" strike="noStrike" noProof="0" dirty="0">
                          <a:latin typeface="Ubuntu"/>
                        </a:rPr>
                        <a:t> with lineage and governance links</a:t>
                      </a:r>
                      <a:endParaRPr lang="en-US" sz="1050" dirty="0"/>
                    </a:p>
                    <a:p>
                      <a:pPr marL="0" lvl="0" indent="0" algn="l">
                        <a:lnSpc>
                          <a:spcPct val="100000"/>
                        </a:lnSpc>
                        <a:spcBef>
                          <a:spcPts val="0"/>
                        </a:spcBef>
                        <a:spcAft>
                          <a:spcPts val="0"/>
                        </a:spcAft>
                        <a:buNone/>
                      </a:pPr>
                      <a:r>
                        <a:rPr lang="en-US" sz="1050" b="1" i="0" u="none" strike="noStrike" noProof="0" dirty="0">
                          <a:latin typeface="Ubuntu"/>
                        </a:rPr>
                        <a:t>Release bundle</a:t>
                      </a:r>
                      <a:r>
                        <a:rPr lang="en-US" sz="1050" b="0" i="0" u="none" strike="noStrike" noProof="0" dirty="0">
                          <a:latin typeface="Ubuntu"/>
                        </a:rPr>
                        <a:t>: changelog, approvals, known gaps, rollback notes</a:t>
                      </a:r>
                      <a:endParaRPr lang="en-US" sz="1050" dirty="0"/>
                    </a:p>
                    <a:p>
                      <a:pPr lvl="0">
                        <a:buNone/>
                      </a:pPr>
                      <a:endParaRPr lang="en-US" sz="1100" dirty="0"/>
                    </a:p>
                  </a:txBody>
                  <a:tcPr/>
                </a:tc>
                <a:extLst>
                  <a:ext uri="{0D108BD9-81ED-4DB2-BD59-A6C34878D82A}">
                    <a16:rowId xmlns:a16="http://schemas.microsoft.com/office/drawing/2014/main" val="233412010"/>
                  </a:ext>
                </a:extLst>
              </a:tr>
            </a:tbl>
          </a:graphicData>
        </a:graphic>
      </p:graphicFrame>
    </p:spTree>
    <p:extLst>
      <p:ext uri="{BB962C8B-B14F-4D97-AF65-F5344CB8AC3E}">
        <p14:creationId xmlns:p14="http://schemas.microsoft.com/office/powerpoint/2010/main" val="4056036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0900CB-1389-7C07-108E-6C02EC9B30D7}"/>
              </a:ext>
            </a:extLst>
          </p:cNvPr>
          <p:cNvSpPr>
            <a:spLocks noGrp="1"/>
          </p:cNvSpPr>
          <p:nvPr>
            <p:ph type="body" sz="quarter" idx="10"/>
          </p:nvPr>
        </p:nvSpPr>
        <p:spPr>
          <a:xfrm>
            <a:off x="404813" y="1252728"/>
            <a:ext cx="5760833" cy="4951413"/>
          </a:xfrm>
        </p:spPr>
        <p:txBody>
          <a:bodyPr vert="horz" lIns="0" tIns="0" rIns="0" bIns="0" rtlCol="0" anchor="t">
            <a:normAutofit/>
          </a:bodyPr>
          <a:lstStyle/>
          <a:p>
            <a:pPr marL="285750" indent="-285750">
              <a:buFont typeface="Arial"/>
              <a:buChar char="•"/>
            </a:pPr>
            <a:r>
              <a:rPr lang="en-US" b="1">
                <a:latin typeface="Ubuntu"/>
              </a:rPr>
              <a:t>Agent 1</a:t>
            </a:r>
            <a:r>
              <a:rPr lang="en-US">
                <a:latin typeface="Ubuntu"/>
              </a:rPr>
              <a:t> is triggered whenever new/changed </a:t>
            </a:r>
            <a:r>
              <a:rPr lang="en-US" b="1">
                <a:latin typeface="Ubuntu"/>
              </a:rPr>
              <a:t>artifacts</a:t>
            </a:r>
            <a:r>
              <a:rPr lang="en-US">
                <a:latin typeface="Ubuntu"/>
              </a:rPr>
              <a:t> land (SQL/ETL/BI).</a:t>
            </a:r>
          </a:p>
          <a:p>
            <a:pPr marL="285750" indent="-285750">
              <a:buFont typeface="Arial"/>
              <a:buChar char="•"/>
            </a:pPr>
            <a:r>
              <a:rPr lang="en-US" b="1">
                <a:latin typeface="Ubuntu"/>
              </a:rPr>
              <a:t>Agent 2</a:t>
            </a:r>
            <a:r>
              <a:rPr lang="en-US">
                <a:latin typeface="Ubuntu"/>
              </a:rPr>
              <a:t> runs after parsing to compile drafts and </a:t>
            </a:r>
            <a:r>
              <a:rPr lang="en-US" b="1">
                <a:latin typeface="Ubuntu"/>
              </a:rPr>
              <a:t>identify gaps</a:t>
            </a:r>
            <a:r>
              <a:rPr lang="en-US">
                <a:latin typeface="Ubuntu"/>
              </a:rPr>
              <a:t>.</a:t>
            </a:r>
          </a:p>
          <a:p>
            <a:pPr marL="285750" indent="-285750">
              <a:buFont typeface="Arial"/>
              <a:buChar char="•"/>
            </a:pPr>
            <a:r>
              <a:rPr lang="en-US" b="1">
                <a:latin typeface="Ubuntu"/>
              </a:rPr>
              <a:t>Agent 3</a:t>
            </a:r>
            <a:r>
              <a:rPr lang="en-US">
                <a:latin typeface="Ubuntu"/>
              </a:rPr>
              <a:t> engages once gaps exist; it manages </a:t>
            </a:r>
            <a:r>
              <a:rPr lang="en-US" b="1">
                <a:latin typeface="Ubuntu"/>
              </a:rPr>
              <a:t>SME clarification</a:t>
            </a:r>
            <a:r>
              <a:rPr lang="en-US">
                <a:latin typeface="Ubuntu"/>
              </a:rPr>
              <a:t> and finalization.</a:t>
            </a:r>
          </a:p>
          <a:p>
            <a:pPr marL="285750" indent="-285750">
              <a:buFont typeface="Arial"/>
              <a:buChar char="•"/>
            </a:pPr>
            <a:r>
              <a:rPr lang="en-US" b="1">
                <a:latin typeface="Ubuntu"/>
              </a:rPr>
              <a:t>Agent 4</a:t>
            </a:r>
            <a:r>
              <a:rPr lang="en-US">
                <a:latin typeface="Ubuntu"/>
              </a:rPr>
              <a:t> runs post‑approval of mappings to </a:t>
            </a:r>
            <a:r>
              <a:rPr lang="en-US" b="1">
                <a:latin typeface="Ubuntu"/>
              </a:rPr>
              <a:t>stitch</a:t>
            </a:r>
            <a:r>
              <a:rPr lang="en-US">
                <a:latin typeface="Ubuntu"/>
              </a:rPr>
              <a:t> and </a:t>
            </a:r>
            <a:r>
              <a:rPr lang="en-US" b="1">
                <a:latin typeface="Ubuntu"/>
              </a:rPr>
              <a:t>visualize</a:t>
            </a:r>
            <a:r>
              <a:rPr lang="en-US">
                <a:latin typeface="Ubuntu"/>
              </a:rPr>
              <a:t> the full path.</a:t>
            </a:r>
          </a:p>
          <a:p>
            <a:pPr marL="285750" indent="-285750">
              <a:buFont typeface="Arial"/>
              <a:buChar char="•"/>
            </a:pPr>
            <a:r>
              <a:rPr lang="en-US" b="1">
                <a:latin typeface="Ubuntu"/>
              </a:rPr>
              <a:t>Agent 5</a:t>
            </a:r>
            <a:r>
              <a:rPr lang="en-US">
                <a:latin typeface="Ubuntu"/>
              </a:rPr>
              <a:t> publishes the </a:t>
            </a:r>
            <a:r>
              <a:rPr lang="en-US" b="1">
                <a:latin typeface="Ubuntu"/>
              </a:rPr>
              <a:t>approved</a:t>
            </a:r>
            <a:r>
              <a:rPr lang="en-US">
                <a:latin typeface="Ubuntu"/>
              </a:rPr>
              <a:t> state to the catalog and maintains </a:t>
            </a:r>
            <a:r>
              <a:rPr lang="en-US" b="1">
                <a:latin typeface="Ubuntu"/>
              </a:rPr>
              <a:t>release hygiene</a:t>
            </a:r>
            <a:r>
              <a:rPr lang="en-US">
                <a:latin typeface="Ubuntu"/>
              </a:rPr>
              <a:t>.</a:t>
            </a:r>
          </a:p>
          <a:p>
            <a:endParaRPr lang="en-US"/>
          </a:p>
        </p:txBody>
      </p:sp>
      <p:sp>
        <p:nvSpPr>
          <p:cNvPr id="3" name="Title 2">
            <a:extLst>
              <a:ext uri="{FF2B5EF4-FFF2-40B4-BE49-F238E27FC236}">
                <a16:creationId xmlns:a16="http://schemas.microsoft.com/office/drawing/2014/main" id="{0F266B3C-39FE-A77D-2998-8EA779867434}"/>
              </a:ext>
            </a:extLst>
          </p:cNvPr>
          <p:cNvSpPr>
            <a:spLocks noGrp="1"/>
          </p:cNvSpPr>
          <p:nvPr>
            <p:ph type="title"/>
          </p:nvPr>
        </p:nvSpPr>
        <p:spPr/>
        <p:txBody>
          <a:bodyPr/>
          <a:lstStyle/>
          <a:p>
            <a:r>
              <a:rPr lang="en-US" cap="none"/>
              <a:t>Agent Triggers</a:t>
            </a:r>
          </a:p>
        </p:txBody>
      </p:sp>
      <p:pic>
        <p:nvPicPr>
          <p:cNvPr id="4" name="Picture 3" descr="A diagram of a process flow&#10;&#10;AI-generated content may be incorrect.">
            <a:extLst>
              <a:ext uri="{FF2B5EF4-FFF2-40B4-BE49-F238E27FC236}">
                <a16:creationId xmlns:a16="http://schemas.microsoft.com/office/drawing/2014/main" id="{B680D5F0-823D-47CF-2102-2F6C5CDF28F2}"/>
              </a:ext>
            </a:extLst>
          </p:cNvPr>
          <p:cNvPicPr>
            <a:picLocks noChangeAspect="1"/>
          </p:cNvPicPr>
          <p:nvPr/>
        </p:nvPicPr>
        <p:blipFill>
          <a:blip r:embed="rId2"/>
          <a:stretch>
            <a:fillRect/>
          </a:stretch>
        </p:blipFill>
        <p:spPr>
          <a:xfrm>
            <a:off x="6548694" y="1466645"/>
            <a:ext cx="5231582" cy="3490452"/>
          </a:xfrm>
          <a:prstGeom prst="rect">
            <a:avLst/>
          </a:prstGeom>
        </p:spPr>
      </p:pic>
      <p:sp>
        <p:nvSpPr>
          <p:cNvPr id="9" name="Rectangle 8">
            <a:extLst>
              <a:ext uri="{FF2B5EF4-FFF2-40B4-BE49-F238E27FC236}">
                <a16:creationId xmlns:a16="http://schemas.microsoft.com/office/drawing/2014/main" id="{E6CF9552-EC2E-DFED-D500-82E8441C0F3E}"/>
              </a:ext>
            </a:extLst>
          </p:cNvPr>
          <p:cNvSpPr/>
          <p:nvPr/>
        </p:nvSpPr>
        <p:spPr>
          <a:xfrm>
            <a:off x="7748834" y="4661556"/>
            <a:ext cx="812768" cy="16968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200" b="1">
                <a:solidFill>
                  <a:schemeClr val="tx1"/>
                </a:solidFill>
              </a:rPr>
              <a:t>Agent 5</a:t>
            </a:r>
            <a:endParaRPr lang="en-US" sz="1200" b="1" err="1">
              <a:solidFill>
                <a:schemeClr val="tx1"/>
              </a:solidFill>
            </a:endParaRPr>
          </a:p>
        </p:txBody>
      </p:sp>
    </p:spTree>
    <p:extLst>
      <p:ext uri="{BB962C8B-B14F-4D97-AF65-F5344CB8AC3E}">
        <p14:creationId xmlns:p14="http://schemas.microsoft.com/office/powerpoint/2010/main" val="1074301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BC505-6406-9EA8-C53A-7C3C9CFE46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E3CE13-B7CA-9766-047C-9ED36003C063}"/>
              </a:ext>
            </a:extLst>
          </p:cNvPr>
          <p:cNvSpPr>
            <a:spLocks noGrp="1"/>
          </p:cNvSpPr>
          <p:nvPr>
            <p:ph type="title"/>
          </p:nvPr>
        </p:nvSpPr>
        <p:spPr/>
        <p:txBody>
          <a:bodyPr/>
          <a:lstStyle/>
          <a:p>
            <a:r>
              <a:rPr lang="en-US" cap="none"/>
              <a:t>Feedback on the script in this deck from Vikas Singh (I&amp;D FS NA)</a:t>
            </a:r>
          </a:p>
        </p:txBody>
      </p:sp>
      <p:sp>
        <p:nvSpPr>
          <p:cNvPr id="8" name="TextBox 7">
            <a:extLst>
              <a:ext uri="{FF2B5EF4-FFF2-40B4-BE49-F238E27FC236}">
                <a16:creationId xmlns:a16="http://schemas.microsoft.com/office/drawing/2014/main" id="{208152B5-32A3-6510-5E35-08DC350D20F2}"/>
              </a:ext>
            </a:extLst>
          </p:cNvPr>
          <p:cNvSpPr txBox="1"/>
          <p:nvPr/>
        </p:nvSpPr>
        <p:spPr>
          <a:xfrm>
            <a:off x="292231" y="873825"/>
            <a:ext cx="11660957" cy="5544000"/>
          </a:xfrm>
          <a:prstGeom prst="rect">
            <a:avLst/>
          </a:prstGeom>
          <a:noFill/>
        </p:spPr>
        <p:txBody>
          <a:bodyPr wrap="square" numCol="3" spcCol="108000">
            <a:spAutoFit/>
          </a:bodyPr>
          <a:lstStyle/>
          <a:p>
            <a:pPr>
              <a:buNone/>
            </a:pPr>
            <a:r>
              <a:rPr lang="en-US" sz="1100">
                <a:solidFill>
                  <a:schemeClr val="bg1"/>
                </a:solidFill>
                <a:effectLst/>
                <a:ea typeface="Times New Roman" panose="02020603050405020304" pitchFamily="18" charset="0"/>
                <a:cs typeface="Aptos" panose="020B0004020202020204" pitchFamily="34" charset="0"/>
              </a:rPr>
              <a:t>[I would propose] splitting the design into two buckets: the </a:t>
            </a:r>
            <a:r>
              <a:rPr lang="en-US" sz="1100" b="1">
                <a:solidFill>
                  <a:schemeClr val="bg1"/>
                </a:solidFill>
                <a:effectLst/>
                <a:ea typeface="Times New Roman" panose="02020603050405020304" pitchFamily="18" charset="0"/>
                <a:cs typeface="Aptos" panose="020B0004020202020204" pitchFamily="34" charset="0"/>
              </a:rPr>
              <a:t>lineage</a:t>
            </a:r>
            <a:r>
              <a:rPr lang="en-US" sz="1100">
                <a:solidFill>
                  <a:schemeClr val="bg1"/>
                </a:solidFill>
                <a:effectLst/>
                <a:ea typeface="Times New Roman" panose="02020603050405020304" pitchFamily="18" charset="0"/>
                <a:cs typeface="Aptos" panose="020B0004020202020204" pitchFamily="34" charset="0"/>
              </a:rPr>
              <a:t> piece itself, and the </a:t>
            </a:r>
            <a:r>
              <a:rPr lang="en-US" sz="1100" b="1">
                <a:solidFill>
                  <a:schemeClr val="bg1"/>
                </a:solidFill>
                <a:effectLst/>
                <a:ea typeface="Times New Roman" panose="02020603050405020304" pitchFamily="18" charset="0"/>
                <a:cs typeface="Aptos" panose="020B0004020202020204" pitchFamily="34" charset="0"/>
              </a:rPr>
              <a:t>agent architecture</a:t>
            </a:r>
            <a:r>
              <a:rPr lang="en-US" sz="1100">
                <a:solidFill>
                  <a:schemeClr val="bg1"/>
                </a:solidFill>
                <a:effectLst/>
                <a:ea typeface="Times New Roman" panose="02020603050405020304" pitchFamily="18" charset="0"/>
                <a:cs typeface="Aptos" panose="020B0004020202020204" pitchFamily="34" charset="0"/>
              </a:rPr>
              <a:t> underneath.</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On the </a:t>
            </a:r>
            <a:r>
              <a:rPr lang="en-US" sz="1100" b="1">
                <a:solidFill>
                  <a:schemeClr val="bg1"/>
                </a:solidFill>
                <a:effectLst/>
                <a:ea typeface="Times New Roman" panose="02020603050405020304" pitchFamily="18" charset="0"/>
                <a:cs typeface="Aptos" panose="020B0004020202020204" pitchFamily="34" charset="0"/>
              </a:rPr>
              <a:t>lineage</a:t>
            </a:r>
            <a:r>
              <a:rPr lang="en-US" sz="1100">
                <a:solidFill>
                  <a:schemeClr val="bg1"/>
                </a:solidFill>
                <a:effectLst/>
                <a:ea typeface="Times New Roman" panose="02020603050405020304" pitchFamily="18" charset="0"/>
                <a:cs typeface="Aptos" panose="020B0004020202020204" pitchFamily="34" charset="0"/>
              </a:rPr>
              <a:t> side:</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The biggest opportunity I see is leaning on deterministic parsers before bringing the LLM into the picture. SQL scripts, ETL configs, dbt manifests all have well-defined structure. Something like sqlglot can give you column-level lineage with zero hallucination risk. The LLM should really only handle the stuff parsers can't: unstructured docs, ambiguous transformations, cross-system name matching. That one shift alone would improve reliability quite a bit.</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The other thing that jumped out is lineage decay. Schemas change, ETL logic gets updated, BI models get rebuilt. The deck mentions change control and monthly reports, but I didn't see a mechanism for automatically catching when upstream artifacts have changed and the lineage is going stale. Without that, the team could end up in a maintenance loop that wasn't scoped for.</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On confidence scoring, I would suggest for separating by evidence type. A mapping from a direct SQL parse is a very different quality level than one inferred from column-name similarity. Lumping them into a single 0 to 1 score makes it hard for anyone (especially regulators in FS) to judge what they can trust.</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Also, 50% automated first-draft coverage feels low. If half the mappings still need SME involvement, the story starts to look more like "LLM-assisted manual lineage" than an automated solution. I think 70 to 80% is achievable if the retrieval and grounding layer is solid, and that's where the ROI case gets much stronger.</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Last thing on this side: the SME model works for a pilot, but individual 30 to 45 minute interviews won't hold up across hundreds of pipelines. Batch reviews, async approvals with timeouts, and a knowledge base that remembers past SME answers would go a long way.</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On the </a:t>
            </a:r>
            <a:r>
              <a:rPr lang="en-US" sz="1100" b="1">
                <a:solidFill>
                  <a:schemeClr val="bg1"/>
                </a:solidFill>
                <a:effectLst/>
                <a:ea typeface="Times New Roman" panose="02020603050405020304" pitchFamily="18" charset="0"/>
                <a:cs typeface="Aptos" panose="020B0004020202020204" pitchFamily="34" charset="0"/>
              </a:rPr>
              <a:t>agent architecture</a:t>
            </a:r>
            <a:r>
              <a:rPr lang="en-US" sz="1100">
                <a:solidFill>
                  <a:schemeClr val="bg1"/>
                </a:solidFill>
                <a:effectLst/>
                <a:ea typeface="Times New Roman" panose="02020603050405020304" pitchFamily="18" charset="0"/>
                <a:cs typeface="Aptos" panose="020B0004020202020204" pitchFamily="34" charset="0"/>
              </a:rPr>
              <a:t>:</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Architecturally, in my understanding of agents,  the five components today are closer to prompt templates run in sequence than to AI agents. </a:t>
            </a:r>
            <a:endParaRPr lang="en-US" sz="1100">
              <a:solidFill>
                <a:schemeClr val="bg1"/>
              </a:solidFill>
              <a:effectLst/>
              <a:ea typeface="Aptos" panose="020B0004020202020204" pitchFamily="34" charset="0"/>
              <a:cs typeface="Aptos" panose="020B0004020202020204" pitchFamily="34" charset="0"/>
            </a:endParaRPr>
          </a:p>
          <a:p>
            <a:pPr>
              <a:buNone/>
            </a:pPr>
            <a:r>
              <a:rPr lang="en-US" sz="1100">
                <a:solidFill>
                  <a:schemeClr val="bg1"/>
                </a:solidFill>
                <a:effectLst/>
                <a:ea typeface="Times New Roman" panose="02020603050405020304" pitchFamily="18" charset="0"/>
                <a:cs typeface="Aptos" panose="020B0004020202020204" pitchFamily="34" charset="0"/>
              </a:rPr>
              <a:t> </a:t>
            </a:r>
            <a:endParaRPr lang="en-US" sz="1100">
              <a:solidFill>
                <a:schemeClr val="bg1"/>
              </a:solidFill>
              <a:effectLst/>
              <a:ea typeface="Aptos" panose="020B0004020202020204" pitchFamily="34" charset="0"/>
              <a:cs typeface="Aptos" panose="020B0004020202020204" pitchFamily="34" charset="0"/>
            </a:endParaRPr>
          </a:p>
          <a:p>
            <a:pPr>
              <a:buNone/>
            </a:pPr>
            <a:r>
              <a:rPr lang="en-US" sz="1100">
                <a:solidFill>
                  <a:schemeClr val="bg1"/>
                </a:solidFill>
                <a:effectLst/>
                <a:ea typeface="Times New Roman" panose="02020603050405020304" pitchFamily="18" charset="0"/>
                <a:cs typeface="Aptos" panose="020B0004020202020204" pitchFamily="34" charset="0"/>
              </a:rPr>
              <a:t>The missing pieces are things like autonomous planning, dynamic tool use, reflection loops, and error recovery. </a:t>
            </a:r>
            <a:endParaRPr lang="en-US" sz="1100">
              <a:solidFill>
                <a:schemeClr val="bg1"/>
              </a:solidFill>
              <a:effectLst/>
              <a:ea typeface="Aptos" panose="020B0004020202020204" pitchFamily="34" charset="0"/>
              <a:cs typeface="Aptos" panose="020B0004020202020204" pitchFamily="34" charset="0"/>
            </a:endParaRPr>
          </a:p>
          <a:p>
            <a:pPr>
              <a:buNone/>
            </a:pPr>
            <a:r>
              <a:rPr lang="en-US" sz="1100">
                <a:solidFill>
                  <a:schemeClr val="bg1"/>
                </a:solidFill>
                <a:effectLst/>
                <a:ea typeface="Times New Roman" panose="02020603050405020304" pitchFamily="18" charset="0"/>
                <a:cs typeface="Aptos" panose="020B0004020202020204" pitchFamily="34" charset="0"/>
              </a:rPr>
              <a:t> </a:t>
            </a:r>
            <a:endParaRPr lang="en-US" sz="1100">
              <a:solidFill>
                <a:schemeClr val="bg1"/>
              </a:solidFill>
              <a:effectLst/>
              <a:ea typeface="Aptos" panose="020B0004020202020204" pitchFamily="34" charset="0"/>
              <a:cs typeface="Aptos" panose="020B0004020202020204" pitchFamily="34" charset="0"/>
            </a:endParaRPr>
          </a:p>
          <a:p>
            <a:pPr>
              <a:buNone/>
            </a:pPr>
            <a:r>
              <a:rPr lang="en-US" sz="1100">
                <a:solidFill>
                  <a:schemeClr val="bg1"/>
                </a:solidFill>
                <a:effectLst/>
                <a:ea typeface="Times New Roman" panose="02020603050405020304" pitchFamily="18" charset="0"/>
                <a:cs typeface="Aptos" panose="020B0004020202020204" pitchFamily="34" charset="0"/>
              </a:rPr>
              <a:t>That doesn't mean the approach isn't useful. It absolutely is. But framing it as "agentic" sets expectations around autonomy and resilience that the current design doesn't deliver on yet. Worth discussing whether to adopt a proper agent framework or position this honestly as an LLM-powered workflow.</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A retrieval layer (RAG) is probably the single highest-impact investment. Right now every step loads artifacts into the LLM context directly, and that just won't scale when you're dealing with thousands of SQL scripts and hundreds of ETL configs. A vector store with semantic search would let each step pull only what it needs.</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I'd also strongly recommend adding a reflection step after each agent's output. Right now the pipeline is linear, so if Agent 1 produces something off, nothing catches it before Agent 2 tries to work with it. A quick generate, critique, refine cycle at each stage prevents errors from snowballing.</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And on the hallucination front, spot-checking 10% plus self-reported confidence won't be enough for FS clients. Requiring verifiable citations (file path, line number) for every mapping, with an independent check that the citation actually supports the claim, would be much stronger.</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Lastly, there's no tracing of how the agents arrive at their decisions, and no structured error handling if a step fails. For regulated environments, you need both.</a:t>
            </a:r>
            <a:br>
              <a:rPr lang="en-US" sz="1100">
                <a:solidFill>
                  <a:schemeClr val="bg1"/>
                </a:solidFill>
                <a:effectLst/>
                <a:ea typeface="Times New Roman" panose="02020603050405020304" pitchFamily="18" charset="0"/>
                <a:cs typeface="Aptos" panose="020B0004020202020204" pitchFamily="34" charset="0"/>
              </a:rPr>
            </a:br>
            <a:br>
              <a:rPr lang="en-US" sz="1100">
                <a:solidFill>
                  <a:schemeClr val="bg1"/>
                </a:solidFill>
                <a:effectLst/>
                <a:ea typeface="Times New Roman" panose="02020603050405020304" pitchFamily="18" charset="0"/>
                <a:cs typeface="Aptos" panose="020B0004020202020204" pitchFamily="34" charset="0"/>
              </a:rPr>
            </a:br>
            <a:r>
              <a:rPr lang="en-US" sz="1100">
                <a:solidFill>
                  <a:schemeClr val="bg1"/>
                </a:solidFill>
                <a:effectLst/>
                <a:ea typeface="Times New Roman" panose="02020603050405020304" pitchFamily="18" charset="0"/>
                <a:cs typeface="Aptos" panose="020B0004020202020204" pitchFamily="34" charset="0"/>
              </a:rPr>
              <a:t>The hard part of this work is the domain understanding and the process design, and that's clearly solid. These are architectural things that can be layered in. </a:t>
            </a:r>
            <a:endParaRPr lang="en-US" sz="1100">
              <a:solidFill>
                <a:schemeClr val="bg1"/>
              </a:solidFill>
            </a:endParaRPr>
          </a:p>
        </p:txBody>
      </p:sp>
    </p:spTree>
    <p:extLst>
      <p:ext uri="{BB962C8B-B14F-4D97-AF65-F5344CB8AC3E}">
        <p14:creationId xmlns:p14="http://schemas.microsoft.com/office/powerpoint/2010/main" val="462116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3EFC4-AF64-8BDE-4370-1336375A265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F59579-CBB4-E731-A5E5-B80EEE274815}"/>
              </a:ext>
            </a:extLst>
          </p:cNvPr>
          <p:cNvSpPr>
            <a:spLocks noGrp="1"/>
          </p:cNvSpPr>
          <p:nvPr>
            <p:ph type="title"/>
          </p:nvPr>
        </p:nvSpPr>
        <p:spPr>
          <a:xfrm>
            <a:off x="482446" y="351750"/>
            <a:ext cx="11616509" cy="716711"/>
          </a:xfrm>
        </p:spPr>
        <p:txBody>
          <a:bodyPr/>
          <a:lstStyle/>
          <a:p>
            <a:pPr>
              <a:lnSpc>
                <a:spcPct val="100000"/>
              </a:lnSpc>
              <a:spcBef>
                <a:spcPts val="0"/>
              </a:spcBef>
              <a:defRPr/>
            </a:pPr>
            <a:r>
              <a:rPr lang="en-GB" cap="none">
                <a:ea typeface="+mj-lt"/>
                <a:cs typeface="+mj-lt"/>
              </a:rPr>
              <a:t>Step 1: Define “Valid Lineage Mapping” &amp; Standards</a:t>
            </a:r>
            <a:endParaRPr lang="en-US"/>
          </a:p>
        </p:txBody>
      </p:sp>
      <p:sp>
        <p:nvSpPr>
          <p:cNvPr id="2" name="TextBox 1">
            <a:extLst>
              <a:ext uri="{FF2B5EF4-FFF2-40B4-BE49-F238E27FC236}">
                <a16:creationId xmlns:a16="http://schemas.microsoft.com/office/drawing/2014/main" id="{923D7BB4-A33D-AA92-7961-484A5147108F}"/>
              </a:ext>
            </a:extLst>
          </p:cNvPr>
          <p:cNvSpPr txBox="1"/>
          <p:nvPr/>
        </p:nvSpPr>
        <p:spPr>
          <a:xfrm>
            <a:off x="393585" y="872350"/>
            <a:ext cx="11382373" cy="5447645"/>
          </a:xfrm>
          <a:prstGeom prst="rect">
            <a:avLst/>
          </a:prstGeom>
          <a:noFill/>
        </p:spPr>
        <p:txBody>
          <a:bodyPr wrap="square" lIns="91440" tIns="45720" rIns="91440" bIns="45720" numCol="1" spcCol="144000" anchor="t">
            <a:spAutoFit/>
          </a:bodyPr>
          <a:lstStyle/>
          <a:p>
            <a:pPr>
              <a:tabLst>
                <a:tab pos="457200" algn="l"/>
              </a:tabLst>
              <a:defRPr/>
            </a:pPr>
            <a:r>
              <a:rPr lang="en-US" sz="1600" b="1" dirty="0">
                <a:solidFill>
                  <a:schemeClr val="bg1"/>
                </a:solidFill>
                <a:ea typeface="+mn-lt"/>
                <a:cs typeface="+mn-lt"/>
              </a:rPr>
              <a:t>Motivation:</a:t>
            </a:r>
            <a:r>
              <a:rPr lang="en-US" sz="1600" dirty="0">
                <a:solidFill>
                  <a:schemeClr val="bg1"/>
                </a:solidFill>
                <a:ea typeface="+mn-lt"/>
                <a:cs typeface="+mn-lt"/>
              </a:rPr>
              <a:t> Consistency beats cleverness. Clear rules remove ambiguity, reduce rework, and make outputs auditable.</a:t>
            </a:r>
            <a:endParaRPr lang="en-US" sz="1600" dirty="0">
              <a:solidFill>
                <a:schemeClr val="bg1"/>
              </a:solidFill>
            </a:endParaRPr>
          </a:p>
          <a:p>
            <a:pPr>
              <a:tabLst>
                <a:tab pos="457200" algn="l"/>
              </a:tabLst>
              <a:defRPr/>
            </a:pPr>
            <a:endParaRPr lang="en-US" sz="1600" dirty="0">
              <a:solidFill>
                <a:schemeClr val="bg1"/>
              </a:solidFill>
              <a:ea typeface="+mn-lt"/>
              <a:cs typeface="+mn-lt"/>
            </a:endParaRPr>
          </a:p>
          <a:p>
            <a:pPr marL="342900" indent="-342900">
              <a:buFont typeface="+mj-lt"/>
              <a:buAutoNum type="arabicPeriod"/>
              <a:tabLst>
                <a:tab pos="457200" algn="l"/>
              </a:tabLst>
              <a:defRPr/>
            </a:pPr>
            <a:r>
              <a:rPr kumimoji="0" lang="en-US" sz="1600" i="0" u="none" strike="noStrike" kern="1200" cap="none" spc="0" normalizeH="0" baseline="0" noProof="0" dirty="0">
                <a:ln>
                  <a:noFill/>
                </a:ln>
                <a:solidFill>
                  <a:srgbClr val="FF0000"/>
                </a:solidFill>
                <a:effectLst/>
                <a:uLnTx/>
                <a:uFillTx/>
                <a:ea typeface="+mn-lt"/>
                <a:cs typeface="+mn-lt"/>
              </a:rPr>
              <a:t>Capgemini team </a:t>
            </a:r>
            <a:r>
              <a:rPr lang="en-US" sz="1600" dirty="0">
                <a:solidFill>
                  <a:schemeClr val="bg1"/>
                </a:solidFill>
                <a:ea typeface="+mn-lt"/>
                <a:cs typeface="+mn-lt"/>
              </a:rPr>
              <a:t>agrees with </a:t>
            </a:r>
            <a:r>
              <a:rPr lang="en-US" sz="1600" dirty="0">
                <a:solidFill>
                  <a:srgbClr val="00B050"/>
                </a:solidFill>
                <a:ea typeface="+mn-lt"/>
                <a:cs typeface="+mn-lt"/>
              </a:rPr>
              <a:t>client SMEs </a:t>
            </a:r>
            <a:r>
              <a:rPr lang="en-US" sz="1600" dirty="0">
                <a:solidFill>
                  <a:schemeClr val="bg1"/>
                </a:solidFill>
                <a:ea typeface="+mn-lt"/>
                <a:cs typeface="+mn-lt"/>
              </a:rPr>
              <a:t>on scope, objectives, definitions, technology and baseline rules and loads them into </a:t>
            </a:r>
            <a:r>
              <a:rPr kumimoji="0" lang="en-US" sz="1600" i="0" u="none" strike="noStrike" kern="1200" cap="none" spc="0" normalizeH="0" baseline="0" noProof="0" dirty="0">
                <a:ln>
                  <a:noFill/>
                </a:ln>
                <a:solidFill>
                  <a:schemeClr val="bg1"/>
                </a:solidFill>
                <a:effectLst/>
                <a:uLnTx/>
                <a:uFillTx/>
                <a:ea typeface="+mn-lt"/>
                <a:cs typeface="+mn-lt"/>
              </a:rPr>
              <a:t>the </a:t>
            </a:r>
            <a:r>
              <a:rPr kumimoji="0" lang="en-US" sz="1600" i="0" u="none" strike="noStrike" kern="1200" cap="none" spc="0" normalizeH="0" baseline="0" noProof="0" dirty="0">
                <a:ln>
                  <a:noFill/>
                </a:ln>
                <a:solidFill>
                  <a:srgbClr val="FFC000"/>
                </a:solidFill>
                <a:effectLst/>
                <a:uLnTx/>
                <a:uFillTx/>
                <a:ea typeface="+mn-lt"/>
                <a:cs typeface="+mn-lt"/>
              </a:rPr>
              <a:t>LLM.</a:t>
            </a:r>
            <a:r>
              <a:rPr lang="en-US" sz="1600" dirty="0">
                <a:solidFill>
                  <a:schemeClr val="bg1"/>
                </a:solidFill>
                <a:ea typeface="+mn-lt"/>
                <a:cs typeface="+mn-lt"/>
              </a:rPr>
              <a:t> This instructs the </a:t>
            </a:r>
            <a:r>
              <a:rPr lang="en-US" sz="1600" dirty="0">
                <a:solidFill>
                  <a:srgbClr val="00B0F0"/>
                </a:solidFill>
                <a:ea typeface="+mn-lt"/>
                <a:cs typeface="+mn-lt"/>
              </a:rPr>
              <a:t>AI Agents </a:t>
            </a:r>
            <a:r>
              <a:rPr lang="en-US" sz="1600" dirty="0">
                <a:solidFill>
                  <a:schemeClr val="bg1"/>
                </a:solidFill>
                <a:ea typeface="+mn-lt"/>
                <a:cs typeface="+mn-lt"/>
              </a:rPr>
              <a:t>in rules they must follow for lineage parsing, mapping, confidence scoring,</a:t>
            </a:r>
            <a:r>
              <a:rPr kumimoji="0" lang="en-US" sz="1600" i="0" u="none" strike="noStrike" kern="1200" cap="none" spc="0" normalizeH="0" baseline="0" noProof="0" dirty="0">
                <a:ln>
                  <a:noFill/>
                </a:ln>
                <a:solidFill>
                  <a:schemeClr val="bg1"/>
                </a:solidFill>
                <a:effectLst/>
                <a:uLnTx/>
                <a:uFillTx/>
                <a:ea typeface="+mn-lt"/>
                <a:cs typeface="+mn-lt"/>
              </a:rPr>
              <a:t> and </a:t>
            </a:r>
            <a:r>
              <a:rPr lang="en-US" sz="1600" dirty="0">
                <a:solidFill>
                  <a:schemeClr val="bg1"/>
                </a:solidFill>
                <a:ea typeface="+mn-lt"/>
                <a:cs typeface="+mn-lt"/>
              </a:rPr>
              <a:t>approvals.</a:t>
            </a:r>
          </a:p>
          <a:p>
            <a:pPr marL="342900" indent="-342900">
              <a:buFont typeface="+mj-lt"/>
              <a:buAutoNum type="arabicPeriod"/>
              <a:tabLst>
                <a:tab pos="457200" algn="l"/>
              </a:tabLst>
              <a:defRPr/>
            </a:pPr>
            <a:r>
              <a:rPr lang="en-US" sz="1600" dirty="0">
                <a:solidFill>
                  <a:srgbClr val="FF0000"/>
                </a:solidFill>
                <a:ea typeface="+mn-lt"/>
                <a:cs typeface="+mn-lt"/>
              </a:rPr>
              <a:t>CG team </a:t>
            </a:r>
            <a:r>
              <a:rPr lang="en-US" sz="1600" dirty="0">
                <a:solidFill>
                  <a:schemeClr val="bg1"/>
                </a:solidFill>
                <a:ea typeface="+mn-lt"/>
                <a:cs typeface="+mn-lt"/>
              </a:rPr>
              <a:t>and </a:t>
            </a:r>
            <a:r>
              <a:rPr lang="en-US" sz="1600" dirty="0">
                <a:solidFill>
                  <a:srgbClr val="00B050"/>
                </a:solidFill>
                <a:ea typeface="+mn-lt"/>
                <a:cs typeface="+mn-lt"/>
              </a:rPr>
              <a:t>client SMEs </a:t>
            </a:r>
            <a:r>
              <a:rPr lang="en-US" sz="1600" dirty="0">
                <a:solidFill>
                  <a:schemeClr val="bg1"/>
                </a:solidFill>
                <a:ea typeface="+mn-lt"/>
                <a:cs typeface="+mn-lt"/>
              </a:rPr>
              <a:t>assign a trust level </a:t>
            </a:r>
            <a:r>
              <a:rPr kumimoji="0" lang="en-US" sz="1600" i="0" u="none" strike="noStrike" kern="1200" cap="none" spc="0" normalizeH="0" baseline="0" noProof="0" dirty="0">
                <a:ln>
                  <a:noFill/>
                </a:ln>
                <a:solidFill>
                  <a:schemeClr val="bg1"/>
                </a:solidFill>
                <a:effectLst/>
                <a:uLnTx/>
                <a:uFillTx/>
                <a:ea typeface="+mn-lt"/>
                <a:cs typeface="+mn-lt"/>
              </a:rPr>
              <a:t>(</a:t>
            </a:r>
            <a:r>
              <a:rPr lang="en-US" sz="1600" dirty="0">
                <a:solidFill>
                  <a:schemeClr val="bg1"/>
                </a:solidFill>
                <a:ea typeface="+mn-lt"/>
                <a:cs typeface="+mn-lt"/>
              </a:rPr>
              <a:t>1–10</a:t>
            </a:r>
            <a:r>
              <a:rPr kumimoji="0" lang="en-US" sz="1600" i="0" u="none" strike="noStrike" kern="1200" cap="none" spc="0" normalizeH="0" baseline="0" noProof="0" dirty="0">
                <a:ln>
                  <a:noFill/>
                </a:ln>
                <a:solidFill>
                  <a:schemeClr val="bg1"/>
                </a:solidFill>
                <a:effectLst/>
                <a:uLnTx/>
                <a:uFillTx/>
                <a:ea typeface="+mn-lt"/>
                <a:cs typeface="+mn-lt"/>
              </a:rPr>
              <a:t>) and </a:t>
            </a:r>
            <a:r>
              <a:rPr lang="en-US" sz="1600" dirty="0">
                <a:solidFill>
                  <a:schemeClr val="bg1"/>
                </a:solidFill>
                <a:ea typeface="+mn-lt"/>
                <a:cs typeface="+mn-lt"/>
              </a:rPr>
              <a:t>priority (A–E) to each standard and policy artifact</a:t>
            </a:r>
            <a:r>
              <a:rPr kumimoji="0" lang="en-US" sz="1600" i="0" u="none" strike="noStrike" kern="1200" cap="none" spc="0" normalizeH="0" baseline="0" noProof="0" dirty="0">
                <a:ln>
                  <a:noFill/>
                </a:ln>
                <a:solidFill>
                  <a:schemeClr val="bg1"/>
                </a:solidFill>
                <a:effectLst/>
                <a:uLnTx/>
                <a:uFillTx/>
                <a:ea typeface="+mn-lt"/>
                <a:cs typeface="+mn-lt"/>
              </a:rPr>
              <a:t>:</a:t>
            </a:r>
            <a:endParaRPr lang="en-US" sz="1600" dirty="0">
              <a:solidFill>
                <a:schemeClr val="bg1"/>
              </a:solidFill>
            </a:endParaRPr>
          </a:p>
          <a:p>
            <a:pPr marL="800100" lvl="1" indent="-342900">
              <a:buFont typeface="+mj-lt"/>
              <a:buAutoNum type="alphaLcParenR"/>
              <a:tabLst>
                <a:tab pos="457200" algn="l"/>
              </a:tabLst>
              <a:defRPr/>
            </a:pPr>
            <a:r>
              <a:rPr lang="en-US" sz="1600" dirty="0">
                <a:solidFill>
                  <a:schemeClr val="bg1"/>
                </a:solidFill>
                <a:ea typeface="+mn-lt"/>
                <a:cs typeface="+mn-lt"/>
              </a:rPr>
              <a:t>Scope &amp; Granularity --&gt; Decide domains, systems, and level (table vs. column) for phase 1. Criteria: regulatory exposure, incident history, dependency breadth.</a:t>
            </a:r>
            <a:endParaRPr lang="en-US" sz="1600" dirty="0">
              <a:solidFill>
                <a:schemeClr val="bg1"/>
              </a:solidFill>
            </a:endParaRPr>
          </a:p>
          <a:p>
            <a:pPr marL="800100" lvl="1" indent="-342900">
              <a:buFont typeface="+mj-lt"/>
              <a:buAutoNum type="alphaLcParenR"/>
              <a:tabLst>
                <a:tab pos="457200" algn="l"/>
              </a:tabLst>
              <a:defRPr/>
            </a:pPr>
            <a:r>
              <a:rPr lang="en-US" sz="1600" dirty="0">
                <a:solidFill>
                  <a:schemeClr val="bg1"/>
                </a:solidFill>
                <a:ea typeface="+mn-lt"/>
                <a:cs typeface="+mn-lt"/>
              </a:rPr>
              <a:t>Ontology &amp; IDs --&gt; Freeze canonical ID patterns; Define relationships: </a:t>
            </a:r>
            <a:r>
              <a:rPr lang="en-US" sz="1200" dirty="0">
                <a:solidFill>
                  <a:schemeClr val="bg1"/>
                </a:solidFill>
                <a:latin typeface="Consolas"/>
                <a:ea typeface="+mn-lt"/>
                <a:cs typeface="+mn-lt"/>
              </a:rPr>
              <a:t>reads</a:t>
            </a:r>
            <a:r>
              <a:rPr lang="en-US" sz="1200" dirty="0">
                <a:solidFill>
                  <a:schemeClr val="bg1"/>
                </a:solidFill>
                <a:ea typeface="+mn-lt"/>
                <a:cs typeface="+mn-lt"/>
              </a:rPr>
              <a:t>, </a:t>
            </a:r>
            <a:r>
              <a:rPr lang="en-US" sz="1200" dirty="0">
                <a:solidFill>
                  <a:schemeClr val="bg1"/>
                </a:solidFill>
                <a:latin typeface="Consolas"/>
                <a:ea typeface="+mn-lt"/>
                <a:cs typeface="+mn-lt"/>
              </a:rPr>
              <a:t>writes</a:t>
            </a:r>
            <a:r>
              <a:rPr lang="en-US" sz="1200" dirty="0">
                <a:solidFill>
                  <a:schemeClr val="bg1"/>
                </a:solidFill>
                <a:ea typeface="+mn-lt"/>
                <a:cs typeface="+mn-lt"/>
              </a:rPr>
              <a:t>, </a:t>
            </a:r>
            <a:r>
              <a:rPr lang="en-US" sz="1200" dirty="0" err="1">
                <a:solidFill>
                  <a:schemeClr val="bg1"/>
                </a:solidFill>
                <a:latin typeface="Consolas"/>
                <a:ea typeface="+mn-lt"/>
                <a:cs typeface="+mn-lt"/>
              </a:rPr>
              <a:t>derives_from</a:t>
            </a:r>
            <a:r>
              <a:rPr lang="en-US" sz="1200" dirty="0">
                <a:solidFill>
                  <a:schemeClr val="bg1"/>
                </a:solidFill>
                <a:ea typeface="+mn-lt"/>
                <a:cs typeface="+mn-lt"/>
              </a:rPr>
              <a:t>, </a:t>
            </a:r>
            <a:r>
              <a:rPr lang="en-US" sz="1200" dirty="0">
                <a:solidFill>
                  <a:schemeClr val="bg1"/>
                </a:solidFill>
                <a:latin typeface="Consolas"/>
                <a:ea typeface="+mn-lt"/>
                <a:cs typeface="+mn-lt"/>
              </a:rPr>
              <a:t>transforms</a:t>
            </a:r>
            <a:r>
              <a:rPr lang="en-US" sz="1200" dirty="0">
                <a:solidFill>
                  <a:schemeClr val="bg1"/>
                </a:solidFill>
                <a:ea typeface="+mn-lt"/>
                <a:cs typeface="+mn-lt"/>
              </a:rPr>
              <a:t>, </a:t>
            </a:r>
            <a:r>
              <a:rPr lang="en-US" sz="1200" dirty="0">
                <a:solidFill>
                  <a:schemeClr val="bg1"/>
                </a:solidFill>
                <a:latin typeface="Consolas"/>
                <a:ea typeface="+mn-lt"/>
                <a:cs typeface="+mn-lt"/>
              </a:rPr>
              <a:t>publishes</a:t>
            </a:r>
            <a:endParaRPr lang="en-US" sz="1600" dirty="0">
              <a:solidFill>
                <a:schemeClr val="bg1"/>
              </a:solidFill>
              <a:latin typeface="Ubuntu"/>
            </a:endParaRPr>
          </a:p>
          <a:p>
            <a:pPr marL="800100" lvl="1" indent="-342900">
              <a:buFont typeface="+mj-lt"/>
              <a:buAutoNum type="alphaLcParenR"/>
              <a:tabLst>
                <a:tab pos="457200" algn="l"/>
              </a:tabLst>
              <a:defRPr/>
            </a:pPr>
            <a:r>
              <a:rPr lang="en-US" sz="1600" dirty="0">
                <a:solidFill>
                  <a:schemeClr val="bg1"/>
                </a:solidFill>
                <a:ea typeface="+mn-lt"/>
                <a:cs typeface="+mn-lt"/>
              </a:rPr>
              <a:t>Mapping Contract (Output Schema) --&gt; Lock a JSON/Excel schema with mandatory fields (sources, target, transforms, confidence, assumptions, issues, owner). Add acceptance checks (e.g., “every target field must have ≥1 source or an issue entry”).</a:t>
            </a:r>
            <a:endParaRPr lang="en-US" sz="1600" dirty="0">
              <a:solidFill>
                <a:schemeClr val="bg1"/>
              </a:solidFill>
            </a:endParaRPr>
          </a:p>
          <a:p>
            <a:pPr marL="800100" lvl="1" indent="-342900">
              <a:buFont typeface="+mj-lt"/>
              <a:buAutoNum type="alphaLcParenR"/>
              <a:tabLst>
                <a:tab pos="457200" algn="l"/>
              </a:tabLst>
              <a:defRPr/>
            </a:pPr>
            <a:r>
              <a:rPr lang="en-US" sz="1600" dirty="0">
                <a:solidFill>
                  <a:schemeClr val="bg1"/>
                </a:solidFill>
                <a:ea typeface="+mn-lt"/>
                <a:cs typeface="+mn-lt"/>
              </a:rPr>
              <a:t>Confidence &amp; Review Policy --&gt; 0.9–1.0 = explicit; 0.7–0.89 = inferred with evidence; &lt;0.7 = </a:t>
            </a:r>
            <a:r>
              <a:rPr lang="en-US" sz="1600" dirty="0" err="1">
                <a:solidFill>
                  <a:schemeClr val="bg1"/>
                </a:solidFill>
                <a:ea typeface="+mn-lt"/>
                <a:cs typeface="+mn-lt"/>
              </a:rPr>
              <a:t>needs_review</a:t>
            </a:r>
            <a:r>
              <a:rPr lang="en-US" sz="1600" dirty="0">
                <a:solidFill>
                  <a:schemeClr val="bg1"/>
                </a:solidFill>
                <a:ea typeface="+mn-lt"/>
                <a:cs typeface="+mn-lt"/>
              </a:rPr>
              <a:t>.; Define which </a:t>
            </a:r>
            <a:r>
              <a:rPr lang="en-US" sz="1600" dirty="0">
                <a:solidFill>
                  <a:srgbClr val="00B050"/>
                </a:solidFill>
                <a:ea typeface="+mn-lt"/>
                <a:cs typeface="+mn-lt"/>
              </a:rPr>
              <a:t>client stakeholders </a:t>
            </a:r>
            <a:r>
              <a:rPr lang="en-US" sz="1600" dirty="0">
                <a:solidFill>
                  <a:schemeClr val="bg1"/>
                </a:solidFill>
                <a:ea typeface="+mn-lt"/>
                <a:cs typeface="+mn-lt"/>
              </a:rPr>
              <a:t>sign off when confidence &lt;0.9.</a:t>
            </a:r>
            <a:endParaRPr lang="en-US" sz="1600" dirty="0">
              <a:solidFill>
                <a:schemeClr val="bg1"/>
              </a:solidFill>
            </a:endParaRPr>
          </a:p>
          <a:p>
            <a:pPr marL="342900" indent="-342900">
              <a:buFont typeface="+mj-lt"/>
              <a:buAutoNum type="arabicPeriod"/>
              <a:tabLst>
                <a:tab pos="457200" algn="l"/>
              </a:tabLst>
              <a:defRPr/>
            </a:pPr>
            <a:r>
              <a:rPr lang="en-US" sz="1600" dirty="0">
                <a:solidFill>
                  <a:srgbClr val="FF0000"/>
                </a:solidFill>
                <a:ea typeface="+mn-lt"/>
                <a:cs typeface="+mn-lt"/>
              </a:rPr>
              <a:t>CG team </a:t>
            </a:r>
            <a:r>
              <a:rPr kumimoji="0" lang="en-US" sz="1600" i="0" u="none" strike="noStrike" kern="1200" cap="none" spc="0" normalizeH="0" baseline="0" noProof="0" dirty="0">
                <a:ln>
                  <a:noFill/>
                </a:ln>
                <a:solidFill>
                  <a:schemeClr val="bg1"/>
                </a:solidFill>
                <a:effectLst/>
                <a:uLnTx/>
                <a:uFillTx/>
                <a:ea typeface="+mn-lt"/>
                <a:cs typeface="+mn-lt"/>
              </a:rPr>
              <a:t>loads into the </a:t>
            </a:r>
            <a:r>
              <a:rPr kumimoji="0" lang="en-US" sz="1600" i="0" u="none" strike="noStrike" kern="1200" cap="none" spc="0" normalizeH="0" baseline="0" noProof="0" dirty="0">
                <a:ln>
                  <a:noFill/>
                </a:ln>
                <a:solidFill>
                  <a:srgbClr val="FFC000"/>
                </a:solidFill>
                <a:effectLst/>
                <a:uLnTx/>
                <a:uFillTx/>
                <a:ea typeface="+mn-lt"/>
                <a:cs typeface="+mn-lt"/>
              </a:rPr>
              <a:t>LLM:</a:t>
            </a:r>
            <a:endParaRPr kumimoji="0" lang="en-US" sz="1600" i="0" u="none" strike="noStrike" kern="1200" cap="none" spc="0" normalizeH="0" baseline="0" noProof="0" dirty="0">
              <a:ln>
                <a:noFill/>
              </a:ln>
              <a:solidFill>
                <a:schemeClr val="bg1"/>
              </a:solidFill>
              <a:effectLst/>
              <a:uLnTx/>
              <a:uFillTx/>
              <a:ea typeface="+mn-lt"/>
              <a:cs typeface="+mn-lt"/>
            </a:endParaRPr>
          </a:p>
          <a:p>
            <a:pPr marL="800100" lvl="1" indent="-342900">
              <a:buFont typeface="+mj-lt"/>
              <a:buAutoNum type="alphaLcParenR"/>
              <a:tabLst>
                <a:tab pos="457200" algn="l"/>
              </a:tabLst>
              <a:defRPr/>
            </a:pPr>
            <a:r>
              <a:rPr lang="en-US" sz="1600" dirty="0">
                <a:solidFill>
                  <a:schemeClr val="bg1"/>
                </a:solidFill>
                <a:ea typeface="+mn-lt"/>
                <a:cs typeface="+mn-lt"/>
              </a:rPr>
              <a:t>lineage ontology </a:t>
            </a:r>
            <a:r>
              <a:rPr kumimoji="0" lang="en-US" sz="1600" i="0" u="none" strike="noStrike" kern="1200" cap="none" spc="0" normalizeH="0" baseline="0" noProof="0" dirty="0">
                <a:ln>
                  <a:noFill/>
                </a:ln>
                <a:solidFill>
                  <a:schemeClr val="bg1"/>
                </a:solidFill>
                <a:effectLst/>
                <a:uLnTx/>
                <a:uFillTx/>
                <a:ea typeface="+mn-lt"/>
                <a:cs typeface="+mn-lt"/>
              </a:rPr>
              <a:t>(</a:t>
            </a:r>
            <a:r>
              <a:rPr lang="en-US" sz="1600" dirty="0">
                <a:solidFill>
                  <a:schemeClr val="bg1"/>
                </a:solidFill>
                <a:ea typeface="+mn-lt"/>
                <a:cs typeface="+mn-lt"/>
              </a:rPr>
              <a:t>entities, relationships), naming conventions, canonical ID patterns</a:t>
            </a:r>
            <a:endParaRPr lang="en-US" sz="1600" dirty="0">
              <a:solidFill>
                <a:schemeClr val="bg1"/>
              </a:solidFill>
            </a:endParaRPr>
          </a:p>
          <a:p>
            <a:pPr marL="800100" lvl="1" indent="-342900">
              <a:buFont typeface="+mj-lt"/>
              <a:buAutoNum type="alphaLcParenR"/>
              <a:tabLst>
                <a:tab pos="457200" algn="l"/>
              </a:tabLst>
              <a:defRPr/>
            </a:pPr>
            <a:r>
              <a:rPr lang="en-US" sz="1600" dirty="0">
                <a:solidFill>
                  <a:schemeClr val="bg1"/>
                </a:solidFill>
                <a:ea typeface="+mn-lt"/>
                <a:cs typeface="+mn-lt"/>
              </a:rPr>
              <a:t>acceptance </a:t>
            </a:r>
            <a:r>
              <a:rPr kumimoji="0" lang="en-US" sz="1600" i="0" u="none" strike="noStrike" kern="1200" cap="none" spc="0" normalizeH="0" baseline="0" noProof="0" dirty="0">
                <a:ln>
                  <a:noFill/>
                </a:ln>
                <a:solidFill>
                  <a:schemeClr val="bg1"/>
                </a:solidFill>
                <a:effectLst/>
                <a:uLnTx/>
                <a:uFillTx/>
                <a:ea typeface="+mn-lt"/>
                <a:cs typeface="+mn-lt"/>
              </a:rPr>
              <a:t>criteria (</a:t>
            </a:r>
            <a:r>
              <a:rPr lang="en-US" sz="1600" dirty="0">
                <a:solidFill>
                  <a:schemeClr val="bg1"/>
                </a:solidFill>
                <a:ea typeface="+mn-lt"/>
                <a:cs typeface="+mn-lt"/>
              </a:rPr>
              <a:t>mandatory mapping fields</a:t>
            </a:r>
            <a:r>
              <a:rPr kumimoji="0" lang="en-US" sz="1600" i="0" u="none" strike="noStrike" kern="1200" cap="none" spc="0" normalizeH="0" baseline="0" noProof="0" dirty="0">
                <a:ln>
                  <a:noFill/>
                </a:ln>
                <a:solidFill>
                  <a:schemeClr val="bg1"/>
                </a:solidFill>
                <a:effectLst/>
                <a:uLnTx/>
                <a:uFillTx/>
                <a:ea typeface="+mn-lt"/>
                <a:cs typeface="+mn-lt"/>
              </a:rPr>
              <a:t>, </a:t>
            </a:r>
            <a:r>
              <a:rPr lang="en-US" sz="1600" dirty="0">
                <a:solidFill>
                  <a:schemeClr val="bg1"/>
                </a:solidFill>
                <a:ea typeface="+mn-lt"/>
                <a:cs typeface="+mn-lt"/>
              </a:rPr>
              <a:t>evidence rules</a:t>
            </a:r>
            <a:r>
              <a:rPr kumimoji="0" lang="en-US" sz="1600" i="0" u="none" strike="noStrike" kern="1200" cap="none" spc="0" normalizeH="0" baseline="0" noProof="0" dirty="0">
                <a:ln>
                  <a:noFill/>
                </a:ln>
                <a:solidFill>
                  <a:schemeClr val="bg1"/>
                </a:solidFill>
                <a:effectLst/>
                <a:uLnTx/>
                <a:uFillTx/>
                <a:ea typeface="+mn-lt"/>
                <a:cs typeface="+mn-lt"/>
              </a:rPr>
              <a:t>, </a:t>
            </a:r>
            <a:r>
              <a:rPr lang="en-US" sz="1600" dirty="0">
                <a:solidFill>
                  <a:schemeClr val="bg1"/>
                </a:solidFill>
                <a:ea typeface="+mn-lt"/>
                <a:cs typeface="+mn-lt"/>
              </a:rPr>
              <a:t>audit requirements)</a:t>
            </a:r>
          </a:p>
          <a:p>
            <a:pPr marL="800100" lvl="1" indent="-342900">
              <a:buFont typeface="+mj-lt"/>
              <a:buAutoNum type="alphaLcParenR"/>
              <a:tabLst>
                <a:tab pos="457200" algn="l"/>
              </a:tabLst>
              <a:defRPr/>
            </a:pPr>
            <a:r>
              <a:rPr lang="en-US" sz="1600" dirty="0">
                <a:solidFill>
                  <a:schemeClr val="bg1"/>
                </a:solidFill>
                <a:ea typeface="+mn-lt"/>
                <a:cs typeface="+mn-lt"/>
              </a:rPr>
              <a:t>confidence thresholds and review/escalation policy</a:t>
            </a:r>
            <a:endParaRPr lang="en-US" sz="1600" dirty="0">
              <a:solidFill>
                <a:schemeClr val="bg1"/>
              </a:solidFill>
            </a:endParaRPr>
          </a:p>
          <a:p>
            <a:pPr marL="800100" lvl="1" indent="-342900">
              <a:buFont typeface="+mj-lt"/>
              <a:buAutoNum type="alphaLcParenR"/>
              <a:tabLst>
                <a:tab pos="457200" algn="l"/>
              </a:tabLst>
              <a:defRPr/>
            </a:pPr>
            <a:r>
              <a:rPr lang="en-US" sz="1600" dirty="0">
                <a:solidFill>
                  <a:schemeClr val="bg1"/>
                </a:solidFill>
                <a:ea typeface="+mn-lt"/>
                <a:cs typeface="+mn-lt"/>
              </a:rPr>
              <a:t>examples </a:t>
            </a:r>
            <a:r>
              <a:rPr kumimoji="0" lang="en-US" sz="1600" i="0" u="none" strike="noStrike" kern="1200" cap="none" spc="0" normalizeH="0" baseline="0" noProof="0" dirty="0">
                <a:ln>
                  <a:noFill/>
                </a:ln>
                <a:solidFill>
                  <a:schemeClr val="bg1"/>
                </a:solidFill>
                <a:effectLst/>
                <a:uLnTx/>
                <a:uFillTx/>
                <a:ea typeface="+mn-lt"/>
                <a:cs typeface="+mn-lt"/>
              </a:rPr>
              <a:t>of </a:t>
            </a:r>
            <a:r>
              <a:rPr lang="en-US" sz="1600" dirty="0">
                <a:solidFill>
                  <a:schemeClr val="bg1"/>
                </a:solidFill>
                <a:ea typeface="+mn-lt"/>
                <a:cs typeface="+mn-lt"/>
              </a:rPr>
              <a:t>compliant vs. non‑compliant mappings</a:t>
            </a:r>
            <a:endParaRPr lang="en-US" sz="1600" dirty="0">
              <a:solidFill>
                <a:schemeClr val="bg1"/>
              </a:solidFill>
            </a:endParaRPr>
          </a:p>
          <a:p>
            <a:pPr marL="342900" indent="-342900">
              <a:buFont typeface="+mj-lt"/>
              <a:buAutoNum type="arabicPeriod"/>
              <a:tabLst>
                <a:tab pos="457200" algn="l"/>
              </a:tabLst>
              <a:defRPr/>
            </a:pPr>
            <a:r>
              <a:rPr lang="en-US" sz="1600" dirty="0">
                <a:solidFill>
                  <a:srgbClr val="FF0000"/>
                </a:solidFill>
                <a:ea typeface="+mn-lt"/>
                <a:cs typeface="+mn-lt"/>
              </a:rPr>
              <a:t>CG team </a:t>
            </a:r>
            <a:r>
              <a:rPr lang="en-US" sz="1600" dirty="0">
                <a:solidFill>
                  <a:schemeClr val="bg1"/>
                </a:solidFill>
                <a:ea typeface="+mn-lt"/>
                <a:cs typeface="+mn-lt"/>
              </a:rPr>
              <a:t>tests if </a:t>
            </a:r>
            <a:r>
              <a:rPr lang="en-US" sz="1600" dirty="0">
                <a:solidFill>
                  <a:srgbClr val="FFC000"/>
                </a:solidFill>
                <a:ea typeface="+mn-lt"/>
                <a:cs typeface="+mn-lt"/>
              </a:rPr>
              <a:t>LLM</a:t>
            </a:r>
            <a:r>
              <a:rPr lang="en-US" sz="1600" dirty="0">
                <a:solidFill>
                  <a:schemeClr val="bg1"/>
                </a:solidFill>
                <a:ea typeface="+mn-lt"/>
                <a:cs typeface="+mn-lt"/>
              </a:rPr>
              <a:t> has ‘absorbed’ these standards, can validate </a:t>
            </a:r>
            <a:r>
              <a:rPr kumimoji="0" lang="en-US" sz="1600" i="0" u="none" strike="noStrike" kern="1200" cap="none" spc="0" normalizeH="0" baseline="0" noProof="0" dirty="0">
                <a:ln>
                  <a:noFill/>
                </a:ln>
                <a:solidFill>
                  <a:schemeClr val="bg1"/>
                </a:solidFill>
                <a:effectLst/>
                <a:uLnTx/>
                <a:uFillTx/>
                <a:ea typeface="+mn-lt"/>
                <a:cs typeface="+mn-lt"/>
              </a:rPr>
              <a:t>a </a:t>
            </a:r>
            <a:r>
              <a:rPr lang="en-US" sz="1600" dirty="0">
                <a:solidFill>
                  <a:schemeClr val="bg1"/>
                </a:solidFill>
                <a:ea typeface="+mn-lt"/>
                <a:cs typeface="+mn-lt"/>
              </a:rPr>
              <a:t>sample mapping against the policy and flag violations.</a:t>
            </a:r>
            <a:endParaRPr lang="en-US" sz="1600" i="0" u="none" strike="noStrike" kern="1200" cap="none" spc="0" normalizeH="0" baseline="0" noProof="0" dirty="0">
              <a:ln>
                <a:noFill/>
              </a:ln>
              <a:solidFill>
                <a:schemeClr val="bg1"/>
              </a:solidFill>
              <a:effectLst/>
              <a:uLnTx/>
              <a:uFillTx/>
              <a:latin typeface="Ubuntu"/>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3860904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99666-42D7-9553-4808-21AA4CF195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CFAC42-0D07-3DEE-DA6D-1386BAC40473}"/>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GB" cap="none">
                <a:ea typeface="+mj-lt"/>
                <a:cs typeface="+mj-lt"/>
              </a:rPr>
              <a:t>Step 2: Curate High‑Quality Training Examples (Gold Set)</a:t>
            </a:r>
            <a:endParaRPr lang="en-US"/>
          </a:p>
        </p:txBody>
      </p:sp>
      <p:sp>
        <p:nvSpPr>
          <p:cNvPr id="2" name="TextBox 1">
            <a:extLst>
              <a:ext uri="{FF2B5EF4-FFF2-40B4-BE49-F238E27FC236}">
                <a16:creationId xmlns:a16="http://schemas.microsoft.com/office/drawing/2014/main" id="{623FF05C-B64F-CB9E-8813-17869394B729}"/>
              </a:ext>
            </a:extLst>
          </p:cNvPr>
          <p:cNvSpPr txBox="1"/>
          <p:nvPr/>
        </p:nvSpPr>
        <p:spPr>
          <a:xfrm>
            <a:off x="393585" y="1022005"/>
            <a:ext cx="11382373" cy="5262979"/>
          </a:xfrm>
          <a:prstGeom prst="rect">
            <a:avLst/>
          </a:prstGeom>
          <a:noFill/>
        </p:spPr>
        <p:txBody>
          <a:bodyPr wrap="square" lIns="91440" tIns="45720" rIns="91440" bIns="45720" numCol="1" spcCol="144000" anchor="t">
            <a:spAutoFit/>
          </a:bodyPr>
          <a:lstStyle/>
          <a:p>
            <a:pPr>
              <a:tabLst>
                <a:tab pos="457200" algn="l"/>
              </a:tabLst>
              <a:defRPr/>
            </a:pPr>
            <a:r>
              <a:rPr lang="en-US" sz="1600" b="1">
                <a:solidFill>
                  <a:schemeClr val="bg1"/>
                </a:solidFill>
                <a:ea typeface="+mn-lt"/>
                <a:cs typeface="+mn-lt"/>
              </a:rPr>
              <a:t>Motivation:</a:t>
            </a:r>
            <a:r>
              <a:rPr lang="en-US" sz="1600">
                <a:solidFill>
                  <a:schemeClr val="bg1"/>
                </a:solidFill>
                <a:ea typeface="+mn-lt"/>
                <a:cs typeface="+mn-lt"/>
              </a:rPr>
              <a:t> The agent learns by analogy. Exemplars determine quality, not model size.</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rPr>
              <a:t>prepares dozens of best‑practice lineage exemplars covering varied patterns; each case labeled with trust (1–10) and priority (A–E). </a:t>
            </a:r>
            <a:r>
              <a:rPr lang="en-US" sz="1600">
                <a:solidFill>
                  <a:schemeClr val="bg1"/>
                </a:solidFill>
                <a:ea typeface="+mn-lt"/>
                <a:cs typeface="+mn-lt"/>
              </a:rPr>
              <a:t>Include: source and target mappings, transformation expressions, synonyms, naming variations, business context, domain ownership, exceptions, and ambiguous cases.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Select representative patterns --&gt; include CTAS (CREATE TABLE AS SELECT), views, multi-joins with renames, SCD (Slowly Changing Dimensions), </a:t>
            </a:r>
            <a:r>
              <a:rPr lang="en-US" sz="1600" err="1">
                <a:solidFill>
                  <a:schemeClr val="bg1"/>
                </a:solidFill>
                <a:ea typeface="+mn-lt"/>
                <a:cs typeface="+mn-lt"/>
              </a:rPr>
              <a:t>dbt</a:t>
            </a:r>
            <a:r>
              <a:rPr lang="en-US" sz="1600">
                <a:solidFill>
                  <a:schemeClr val="bg1"/>
                </a:solidFill>
                <a:ea typeface="+mn-lt"/>
                <a:cs typeface="+mn-lt"/>
              </a:rPr>
              <a:t> refs, BI semantic mapping, UDFs (User-Defined Functions)</a:t>
            </a:r>
          </a:p>
          <a:p>
            <a:pPr marL="800100" lvl="1" indent="-342900">
              <a:buFont typeface="+mj-lt"/>
              <a:buAutoNum type="alphaLcParenR"/>
              <a:tabLst>
                <a:tab pos="457200" algn="l"/>
              </a:tabLst>
              <a:defRPr/>
            </a:pPr>
            <a:r>
              <a:rPr lang="en-US" sz="1600">
                <a:solidFill>
                  <a:schemeClr val="bg1"/>
                </a:solidFill>
                <a:ea typeface="+mn-lt"/>
                <a:cs typeface="+mn-lt"/>
              </a:rPr>
              <a:t>Author Gold label --&gt; assign expected mapping and stitching graph for each artifact with annotation (renames, assumptions, edge cases)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Diversity and difficulty --&gt; add negative examples (ambiguity, missing qualifiers); cloud vs on-prem; SQL dialects and ETL/ELT tools</a:t>
            </a:r>
          </a:p>
          <a:p>
            <a:pPr marL="800100" lvl="1" indent="-342900">
              <a:buFont typeface="+mj-lt"/>
              <a:buAutoNum type="alphaLcParenR"/>
              <a:tabLst>
                <a:tab pos="457200" algn="l"/>
              </a:tabLst>
              <a:defRPr/>
            </a:pPr>
            <a:r>
              <a:rPr lang="en-US" sz="1600">
                <a:solidFill>
                  <a:schemeClr val="bg1"/>
                </a:solidFill>
                <a:ea typeface="+mn-lt"/>
                <a:cs typeface="+mn-lt"/>
              </a:rPr>
              <a:t>Version &amp; traceability --&gt; store with source path and commit hash; tag sets with versioning and change log</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loads into the </a:t>
            </a:r>
            <a:r>
              <a:rPr lang="en-US" sz="1600">
                <a:solidFill>
                  <a:srgbClr val="FFC000"/>
                </a:solidFill>
                <a:ea typeface="+mn-lt"/>
                <a:cs typeface="+mn-lt"/>
              </a:rPr>
              <a:t>LLM: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CTAS/view examples (simple, pass‑through, nested CTEs)</a:t>
            </a:r>
          </a:p>
          <a:p>
            <a:pPr marL="800100" lvl="1" indent="-342900">
              <a:buFont typeface="+mj-lt"/>
              <a:buAutoNum type="alphaLcParenR"/>
              <a:tabLst>
                <a:tab pos="457200" algn="l"/>
              </a:tabLst>
              <a:defRPr/>
            </a:pPr>
            <a:r>
              <a:rPr lang="en-US" sz="1600">
                <a:solidFill>
                  <a:schemeClr val="bg1"/>
                </a:solidFill>
                <a:ea typeface="+mn-lt"/>
                <a:cs typeface="+mn-lt"/>
              </a:rPr>
              <a:t>Multi‑join with renames, aggregations, filters, window functions</a:t>
            </a:r>
          </a:p>
          <a:p>
            <a:pPr marL="800100" lvl="1" indent="-342900">
              <a:buFont typeface="+mj-lt"/>
              <a:buAutoNum type="alphaLcParenR"/>
              <a:tabLst>
                <a:tab pos="457200" algn="l"/>
              </a:tabLst>
              <a:defRPr/>
            </a:pPr>
            <a:r>
              <a:rPr lang="en-US" sz="1600">
                <a:solidFill>
                  <a:schemeClr val="bg1"/>
                </a:solidFill>
                <a:ea typeface="+mn-lt"/>
                <a:cs typeface="+mn-lt"/>
              </a:rPr>
              <a:t>SCD MERGE patterns</a:t>
            </a:r>
            <a:r>
              <a:rPr kumimoji="0" lang="en-US" sz="1600" i="0" u="none" strike="noStrike" kern="1200" cap="none" spc="0" normalizeH="0" baseline="0" noProof="0">
                <a:ln>
                  <a:noFill/>
                </a:ln>
                <a:solidFill>
                  <a:schemeClr val="bg1"/>
                </a:solidFill>
                <a:effectLst/>
                <a:uLnTx/>
                <a:uFillTx/>
                <a:ea typeface="+mn-lt"/>
                <a:cs typeface="+mn-lt"/>
              </a:rPr>
              <a:t>, </a:t>
            </a:r>
            <a:r>
              <a:rPr lang="en-US" sz="1600">
                <a:solidFill>
                  <a:schemeClr val="bg1"/>
                </a:solidFill>
                <a:ea typeface="+mn-lt"/>
                <a:cs typeface="+mn-lt"/>
              </a:rPr>
              <a:t>incremental loads</a:t>
            </a:r>
            <a:r>
              <a:rPr kumimoji="0" lang="en-US" sz="1600" i="0" u="none" strike="noStrike" kern="1200" cap="none" spc="0" normalizeH="0" baseline="0" noProof="0">
                <a:ln>
                  <a:noFill/>
                </a:ln>
                <a:solidFill>
                  <a:schemeClr val="bg1"/>
                </a:solidFill>
                <a:effectLst/>
                <a:uLnTx/>
                <a:uFillTx/>
                <a:ea typeface="+mn-lt"/>
                <a:cs typeface="+mn-lt"/>
              </a:rPr>
              <a:t>, </a:t>
            </a:r>
            <a:r>
              <a:rPr lang="en-US" sz="1600">
                <a:solidFill>
                  <a:schemeClr val="bg1"/>
                </a:solidFill>
                <a:ea typeface="+mn-lt"/>
                <a:cs typeface="+mn-lt"/>
              </a:rPr>
              <a:t>CDC examples (Change Data Capture)</a:t>
            </a:r>
          </a:p>
          <a:p>
            <a:pPr marL="800100" lvl="1" indent="-342900">
              <a:buFont typeface="+mj-lt"/>
              <a:buAutoNum type="alphaLcParenR"/>
              <a:tabLst>
                <a:tab pos="457200" algn="l"/>
              </a:tabLst>
              <a:defRPr/>
            </a:pPr>
            <a:r>
              <a:rPr lang="en-US" sz="1600">
                <a:solidFill>
                  <a:schemeClr val="bg1"/>
                </a:solidFill>
                <a:ea typeface="+mn-lt"/>
                <a:cs typeface="+mn-lt"/>
              </a:rPr>
              <a:t>dbt </a:t>
            </a:r>
            <a:r>
              <a:rPr lang="en-US" sz="1600">
                <a:solidFill>
                  <a:schemeClr val="bg1"/>
                </a:solidFill>
                <a:latin typeface="Consolas"/>
                <a:ea typeface="+mn-lt"/>
                <a:cs typeface="+mn-lt"/>
              </a:rPr>
              <a:t>ref()/source()</a:t>
            </a:r>
            <a:r>
              <a:rPr lang="en-US" sz="1600">
                <a:solidFill>
                  <a:schemeClr val="bg1"/>
                </a:solidFill>
                <a:ea typeface="+mn-lt"/>
                <a:cs typeface="+mn-lt"/>
              </a:rPr>
              <a:t> models and macros</a:t>
            </a:r>
          </a:p>
          <a:p>
            <a:pPr marL="800100" lvl="1" indent="-342900">
              <a:buFont typeface="+mj-lt"/>
              <a:buAutoNum type="alphaLcParenR"/>
              <a:tabLst>
                <a:tab pos="457200" algn="l"/>
              </a:tabLst>
              <a:defRPr/>
            </a:pPr>
            <a:r>
              <a:rPr lang="en-US" sz="1600">
                <a:solidFill>
                  <a:schemeClr val="bg1"/>
                </a:solidFill>
                <a:ea typeface="+mn-lt"/>
                <a:cs typeface="+mn-lt"/>
              </a:rPr>
              <a:t>BI semantic → SQL lineage cases (Power BI/Tableau)</a:t>
            </a:r>
          </a:p>
          <a:p>
            <a:pPr marL="800100" lvl="1" indent="-342900">
              <a:buFont typeface="+mj-lt"/>
              <a:buAutoNum type="alphaLcParenR"/>
              <a:tabLst>
                <a:tab pos="457200" algn="l"/>
              </a:tabLst>
              <a:defRPr/>
            </a:pPr>
            <a:r>
              <a:rPr lang="en-US" sz="1600">
                <a:solidFill>
                  <a:schemeClr val="bg1"/>
                </a:solidFill>
                <a:ea typeface="+mn-lt"/>
                <a:cs typeface="+mn-lt"/>
              </a:rPr>
              <a:t>negative/tricky examples (SELECT *, ambiguous names)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FFC000"/>
                </a:solidFill>
                <a:ea typeface="+mn-lt"/>
                <a:cs typeface="+mn-lt"/>
              </a:rPr>
              <a:t>LLM </a:t>
            </a:r>
            <a:r>
              <a:rPr lang="en-US" sz="1600">
                <a:solidFill>
                  <a:schemeClr val="bg1"/>
                </a:solidFill>
                <a:ea typeface="+mn-lt"/>
                <a:cs typeface="+mn-lt"/>
              </a:rPr>
              <a:t>can produce the expected mapping JSON and stitched edges for each exemplar and explain its confidence.</a:t>
            </a:r>
          </a:p>
        </p:txBody>
      </p:sp>
    </p:spTree>
    <p:extLst>
      <p:ext uri="{BB962C8B-B14F-4D97-AF65-F5344CB8AC3E}">
        <p14:creationId xmlns:p14="http://schemas.microsoft.com/office/powerpoint/2010/main" val="138122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90199-7515-724B-1832-4634D679ED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20D7F0-2CAC-2F57-F6BD-EA1F1D86AB79}"/>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GB" cap="none">
                <a:ea typeface="+mj-lt"/>
                <a:cs typeface="+mj-lt"/>
              </a:rPr>
              <a:t>Step 3: Authoritative Artifacts (Grounding Corpus)</a:t>
            </a:r>
            <a:endParaRPr lang="en-US">
              <a:ea typeface="+mj-lt"/>
              <a:cs typeface="+mj-lt"/>
            </a:endParaRPr>
          </a:p>
        </p:txBody>
      </p:sp>
      <p:sp>
        <p:nvSpPr>
          <p:cNvPr id="2" name="TextBox 1">
            <a:extLst>
              <a:ext uri="{FF2B5EF4-FFF2-40B4-BE49-F238E27FC236}">
                <a16:creationId xmlns:a16="http://schemas.microsoft.com/office/drawing/2014/main" id="{3A38E220-CEB7-2D9A-44BD-00EC86E4F1C5}"/>
              </a:ext>
            </a:extLst>
          </p:cNvPr>
          <p:cNvSpPr txBox="1"/>
          <p:nvPr/>
        </p:nvSpPr>
        <p:spPr>
          <a:xfrm>
            <a:off x="393585" y="1050490"/>
            <a:ext cx="11631625" cy="5262979"/>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Retrieval beats recall. Grounding minimizes hallucinations and anchors outputs in truth.</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sources authoritative artifacts from </a:t>
            </a:r>
            <a:r>
              <a:rPr lang="en-US" sz="1600">
                <a:solidFill>
                  <a:srgbClr val="00B050"/>
                </a:solidFill>
                <a:ea typeface="+mn-lt"/>
                <a:cs typeface="+mn-lt"/>
              </a:rPr>
              <a:t>client SMEs:</a:t>
            </a:r>
            <a:endParaRPr lang="en-US" sz="1600">
              <a:solidFill>
                <a:srgbClr val="00B050"/>
              </a:solidFill>
            </a:endParaRPr>
          </a:p>
          <a:p>
            <a:pPr marL="800100" lvl="1" indent="-342900">
              <a:buFont typeface="+mj-lt"/>
              <a:buAutoNum type="alphaLcParenR"/>
              <a:tabLst>
                <a:tab pos="457200" algn="l"/>
              </a:tabLst>
              <a:defRPr/>
            </a:pPr>
            <a:r>
              <a:rPr lang="en-US" sz="1600">
                <a:solidFill>
                  <a:schemeClr val="bg1"/>
                </a:solidFill>
                <a:ea typeface="+mn-lt"/>
                <a:cs typeface="+mn-lt"/>
              </a:rPr>
              <a:t>Collect Sources --&gt; SQL scripts, stored procedures, </a:t>
            </a:r>
            <a:r>
              <a:rPr lang="en-US" sz="1600" err="1">
                <a:solidFill>
                  <a:schemeClr val="bg1"/>
                </a:solidFill>
                <a:ea typeface="+mn-lt"/>
                <a:cs typeface="+mn-lt"/>
              </a:rPr>
              <a:t>dbt</a:t>
            </a:r>
            <a:r>
              <a:rPr lang="en-US" sz="1600">
                <a:solidFill>
                  <a:schemeClr val="bg1"/>
                </a:solidFill>
                <a:ea typeface="+mn-lt"/>
                <a:cs typeface="+mn-lt"/>
              </a:rPr>
              <a:t> models, ETL configs (Airflow/Talend/Informatica), BI models (PBI/Tableau), data contracts, SOPs.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Normalize &amp; Sanitize --&gt; Standardize folder structure; remove secrets; mask PII per policy. Capture metadata: owner, domain, environment, last change.</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Create Synonym &amp; Rename Dictionary </a:t>
            </a:r>
            <a:r>
              <a:rPr lang="en-US" sz="1600">
                <a:solidFill>
                  <a:schemeClr val="bg1"/>
                </a:solidFill>
                <a:latin typeface="Ubuntu"/>
                <a:ea typeface="+mn-lt"/>
                <a:cs typeface="+mn-lt"/>
              </a:rPr>
              <a:t>--&gt;</a:t>
            </a:r>
            <a:r>
              <a:rPr lang="en-US" sz="1600">
                <a:solidFill>
                  <a:schemeClr val="bg1"/>
                </a:solidFill>
                <a:ea typeface="+mn-lt"/>
                <a:cs typeface="+mn-lt"/>
              </a:rPr>
              <a:t> historical renames, and domain‑specific aliases.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Provenance Index --&gt;Keep file paths + line numbers; this will feed citations/audit trails in outputs.</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loads into the </a:t>
            </a:r>
            <a:r>
              <a:rPr lang="en-US" sz="1600">
                <a:solidFill>
                  <a:srgbClr val="FFC000"/>
                </a:solidFill>
                <a:ea typeface="+mn-lt"/>
                <a:cs typeface="+mn-lt"/>
              </a:rPr>
              <a:t>LLM: </a:t>
            </a:r>
          </a:p>
          <a:p>
            <a:pPr marL="800100" lvl="1" indent="-342900">
              <a:buFont typeface="+mj-lt"/>
              <a:buAutoNum type="alphaLcParenR"/>
              <a:tabLst>
                <a:tab pos="457200" algn="l"/>
              </a:tabLst>
              <a:defRPr/>
            </a:pPr>
            <a:r>
              <a:rPr lang="en-US" sz="1600">
                <a:solidFill>
                  <a:schemeClr val="bg1"/>
                </a:solidFill>
                <a:ea typeface="+mn-lt"/>
                <a:cs typeface="+mn-lt"/>
              </a:rPr>
              <a:t>SQL scripts and stored procedures from critical systems</a:t>
            </a:r>
          </a:p>
          <a:p>
            <a:pPr marL="800100" lvl="1" indent="-342900">
              <a:buFont typeface="+mj-lt"/>
              <a:buAutoNum type="alphaLcParenR"/>
              <a:tabLst>
                <a:tab pos="457200" algn="l"/>
              </a:tabLst>
              <a:defRPr/>
            </a:pPr>
            <a:r>
              <a:rPr lang="en-US" sz="1600">
                <a:solidFill>
                  <a:schemeClr val="bg1"/>
                </a:solidFill>
                <a:ea typeface="+mn-lt"/>
                <a:cs typeface="+mn-lt"/>
              </a:rPr>
              <a:t>ETL/ELT configs (Airflow, Informatica, Talend, Spark)</a:t>
            </a:r>
          </a:p>
          <a:p>
            <a:pPr marL="800100" lvl="1" indent="-342900">
              <a:buFont typeface="+mj-lt"/>
              <a:buAutoNum type="alphaLcParenR"/>
              <a:tabLst>
                <a:tab pos="457200" algn="l"/>
              </a:tabLst>
              <a:defRPr/>
            </a:pPr>
            <a:r>
              <a:rPr lang="en-US" sz="1600">
                <a:solidFill>
                  <a:schemeClr val="bg1"/>
                </a:solidFill>
                <a:ea typeface="+mn-lt"/>
                <a:cs typeface="+mn-lt"/>
              </a:rPr>
              <a:t>dbt models (SQL + YAML), seeds, snapshots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BI metadata (Power BI datasets</a:t>
            </a:r>
            <a:r>
              <a:rPr kumimoji="0" lang="en-US" sz="1600" i="0" u="none" strike="noStrike" kern="1200" cap="none" spc="0" normalizeH="0" baseline="0" noProof="0">
                <a:ln>
                  <a:noFill/>
                </a:ln>
                <a:solidFill>
                  <a:schemeClr val="bg1"/>
                </a:solidFill>
                <a:effectLst/>
                <a:uLnTx/>
                <a:uFillTx/>
                <a:ea typeface="+mn-lt"/>
                <a:cs typeface="+mn-lt"/>
              </a:rPr>
              <a:t>, </a:t>
            </a:r>
            <a:r>
              <a:rPr lang="en-US" sz="1600">
                <a:solidFill>
                  <a:schemeClr val="bg1"/>
                </a:solidFill>
                <a:ea typeface="+mn-lt"/>
                <a:cs typeface="+mn-lt"/>
              </a:rPr>
              <a:t>Tableau workbooks)</a:t>
            </a:r>
            <a:endParaRPr lang="en-GB"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data contracts, SLAs, SOPs, and domain charters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company taxonomy/ontology and industry specs (e.g., </a:t>
            </a:r>
            <a:r>
              <a:rPr lang="en-US" sz="1600" err="1">
                <a:solidFill>
                  <a:schemeClr val="bg1"/>
                </a:solidFill>
                <a:ea typeface="+mn-lt"/>
                <a:cs typeface="+mn-lt"/>
              </a:rPr>
              <a:t>OpenLineage</a:t>
            </a:r>
            <a:r>
              <a:rPr lang="en-US" sz="1600">
                <a:solidFill>
                  <a:schemeClr val="bg1"/>
                </a:solidFill>
                <a:ea typeface="+mn-lt"/>
                <a:cs typeface="+mn-lt"/>
              </a:rPr>
              <a:t>)</a:t>
            </a:r>
          </a:p>
          <a:p>
            <a:pPr marL="800100" lvl="1" indent="-342900">
              <a:buFont typeface="+mj-lt"/>
              <a:buAutoNum type="alphaLcParenR"/>
              <a:tabLst>
                <a:tab pos="457200" algn="l"/>
              </a:tabLst>
              <a:defRPr/>
            </a:pPr>
            <a:r>
              <a:rPr lang="en-US" sz="1600">
                <a:solidFill>
                  <a:schemeClr val="bg1"/>
                </a:solidFill>
                <a:ea typeface="+mn-lt"/>
                <a:cs typeface="+mn-lt"/>
              </a:rPr>
              <a:t>local glossaries/data dictionaries per system</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data models (ERDs), interface specs, and job runbooks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relevant SME emails and process notes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FFC000"/>
                </a:solidFill>
                <a:ea typeface="+mn-lt"/>
                <a:cs typeface="+mn-lt"/>
              </a:rPr>
              <a:t>LLM </a:t>
            </a:r>
            <a:r>
              <a:rPr lang="en-US" sz="1600">
                <a:solidFill>
                  <a:schemeClr val="bg1"/>
                </a:solidFill>
                <a:ea typeface="+mn-lt"/>
                <a:cs typeface="+mn-lt"/>
              </a:rPr>
              <a:t>can extract </a:t>
            </a:r>
            <a:r>
              <a:rPr lang="en-US" sz="1600" err="1">
                <a:solidFill>
                  <a:schemeClr val="bg1"/>
                </a:solidFill>
                <a:ea typeface="+mn-lt"/>
                <a:cs typeface="+mn-lt"/>
              </a:rPr>
              <a:t>source→target</a:t>
            </a:r>
            <a:r>
              <a:rPr lang="en-US" sz="1600">
                <a:solidFill>
                  <a:schemeClr val="bg1"/>
                </a:solidFill>
                <a:ea typeface="+mn-lt"/>
                <a:cs typeface="+mn-lt"/>
              </a:rPr>
              <a:t> mappings, transformation expressions, owners, and propose stitches across systems with citations.</a:t>
            </a:r>
          </a:p>
        </p:txBody>
      </p:sp>
    </p:spTree>
    <p:extLst>
      <p:ext uri="{BB962C8B-B14F-4D97-AF65-F5344CB8AC3E}">
        <p14:creationId xmlns:p14="http://schemas.microsoft.com/office/powerpoint/2010/main" val="344588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21F4-37ED-E1CE-E190-6188116E37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10B3EF-200B-CAA5-764B-F17D93DA095F}"/>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GB" cap="none">
                <a:ea typeface="+mj-lt"/>
                <a:cs typeface="+mj-lt"/>
              </a:rPr>
              <a:t>Step 4: Agent 1 — Parse Lineage Fragments from Artifacts</a:t>
            </a:r>
            <a:endParaRPr lang="en-US">
              <a:ea typeface="+mj-lt"/>
              <a:cs typeface="+mj-lt"/>
            </a:endParaRPr>
          </a:p>
        </p:txBody>
      </p:sp>
      <p:sp>
        <p:nvSpPr>
          <p:cNvPr id="2" name="TextBox 1">
            <a:extLst>
              <a:ext uri="{FF2B5EF4-FFF2-40B4-BE49-F238E27FC236}">
                <a16:creationId xmlns:a16="http://schemas.microsoft.com/office/drawing/2014/main" id="{170988A6-5B74-17BF-830D-C4F001A98E7A}"/>
              </a:ext>
            </a:extLst>
          </p:cNvPr>
          <p:cNvSpPr txBox="1"/>
          <p:nvPr/>
        </p:nvSpPr>
        <p:spPr>
          <a:xfrm>
            <a:off x="393585" y="1022005"/>
            <a:ext cx="11382373" cy="4031873"/>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Break big problems into safe pieces. Parsing yields verifiable fragments before any stitching.</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instructs </a:t>
            </a:r>
            <a:r>
              <a:rPr lang="en-US" sz="1600">
                <a:solidFill>
                  <a:srgbClr val="00B0F0"/>
                </a:solidFill>
                <a:ea typeface="+mn-lt"/>
                <a:cs typeface="+mn-lt"/>
              </a:rPr>
              <a:t>Agent 1 </a:t>
            </a:r>
            <a:r>
              <a:rPr lang="en-US" sz="1600">
                <a:solidFill>
                  <a:schemeClr val="bg1"/>
                </a:solidFill>
                <a:ea typeface="+mn-lt"/>
                <a:cs typeface="+mn-lt"/>
              </a:rPr>
              <a:t>to parse code/configs into strict fragment JSON with confidence and issues; trust and priority derived from artifact provenance</a:t>
            </a:r>
            <a:r>
              <a:rPr kumimoji="0" lang="en-US" sz="1600" i="0" u="none" strike="noStrike" kern="1200" cap="none" spc="0" normalizeH="0" baseline="0" noProof="0">
                <a:ln>
                  <a:noFill/>
                </a:ln>
                <a:solidFill>
                  <a:schemeClr val="bg1"/>
                </a:solidFill>
                <a:effectLst/>
                <a:uLnTx/>
                <a:uFillTx/>
                <a:ea typeface="+mn-lt"/>
                <a:cs typeface="+mn-lt"/>
              </a:rPr>
              <a:t>:</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Run Parsing Prompt --&gt; Feed artifact + synonyms + canonical IDs; request strict JSON fragments with confidence scores.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Quality Gates --&gt; Auto‑reject fragments missing mandatory fields; flag </a:t>
            </a:r>
            <a:r>
              <a:rPr lang="en-US" sz="1600">
                <a:solidFill>
                  <a:schemeClr val="bg1"/>
                </a:solidFill>
                <a:latin typeface="Consolas"/>
                <a:ea typeface="+mn-lt"/>
                <a:cs typeface="+mn-lt"/>
              </a:rPr>
              <a:t>SELECT *</a:t>
            </a:r>
            <a:r>
              <a:rPr lang="en-US" sz="1600">
                <a:solidFill>
                  <a:schemeClr val="bg1"/>
                </a:solidFill>
                <a:ea typeface="+mn-lt"/>
                <a:cs typeface="+mn-lt"/>
              </a:rPr>
              <a:t> without expansion; Require explicit issues for ambiguous cases.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Human Validation (Spot Check) --&gt; SMEs review low‑confidence (&lt;0.7) and random 10% of high‑confidence for calibration; Corrections become new few‑shot examples.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Run with </a:t>
            </a:r>
            <a:r>
              <a:rPr kumimoji="0" lang="en-US" sz="1600" i="0" u="none" strike="noStrike" kern="1200" cap="none" spc="0" normalizeH="0" baseline="0" noProof="0">
                <a:ln>
                  <a:noFill/>
                </a:ln>
                <a:solidFill>
                  <a:schemeClr val="bg1"/>
                </a:solidFill>
                <a:effectLst/>
                <a:uLnTx/>
                <a:uFillTx/>
                <a:ea typeface="+mn-lt"/>
                <a:cs typeface="+mn-lt"/>
              </a:rPr>
              <a:t>the </a:t>
            </a:r>
            <a:r>
              <a:rPr kumimoji="0" lang="en-US" sz="1600" i="0" u="none" strike="noStrike" kern="1200" cap="none" spc="0" normalizeH="0" baseline="0" noProof="0">
                <a:ln>
                  <a:noFill/>
                </a:ln>
                <a:solidFill>
                  <a:srgbClr val="FFC000"/>
                </a:solidFill>
                <a:effectLst/>
                <a:uLnTx/>
                <a:uFillTx/>
                <a:ea typeface="+mn-lt"/>
                <a:cs typeface="+mn-lt"/>
              </a:rPr>
              <a:t>LLM: </a:t>
            </a:r>
            <a:r>
              <a:rPr lang="en-US" sz="1600">
                <a:solidFill>
                  <a:schemeClr val="bg1"/>
                </a:solidFill>
                <a:ea typeface="+mn-lt"/>
                <a:cs typeface="+mn-lt"/>
              </a:rPr>
              <a:t>parsing prompts that enforce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chemeClr val="bg1"/>
                </a:solidFill>
                <a:ea typeface="+mn-lt"/>
                <a:cs typeface="+mn-lt"/>
              </a:rPr>
              <a:t>output schema and ontology</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Provide to the </a:t>
            </a:r>
            <a:r>
              <a:rPr lang="en-US" sz="1600">
                <a:solidFill>
                  <a:srgbClr val="FFC000"/>
                </a:solidFill>
                <a:ea typeface="+mn-lt"/>
                <a:cs typeface="+mn-lt"/>
              </a:rPr>
              <a:t>LLM: </a:t>
            </a:r>
            <a:r>
              <a:rPr lang="en-US" sz="1600">
                <a:solidFill>
                  <a:schemeClr val="bg1"/>
                </a:solidFill>
                <a:ea typeface="+mn-lt"/>
                <a:cs typeface="+mn-lt"/>
              </a:rPr>
              <a:t>canonical IDs and synonym dictionaries for normalization</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Provide to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 </a:t>
            </a:r>
            <a:r>
              <a:rPr lang="en-US" sz="1600">
                <a:solidFill>
                  <a:schemeClr val="bg1"/>
                </a:solidFill>
                <a:ea typeface="+mn-lt"/>
                <a:cs typeface="+mn-lt"/>
              </a:rPr>
              <a:t>file paths and line numbers for provenance citations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Capture from the </a:t>
            </a:r>
            <a:r>
              <a:rPr lang="en-US" sz="1600">
                <a:solidFill>
                  <a:srgbClr val="FFC000"/>
                </a:solidFill>
                <a:ea typeface="+mn-lt"/>
                <a:cs typeface="+mn-lt"/>
              </a:rPr>
              <a:t>LLM: </a:t>
            </a:r>
            <a:r>
              <a:rPr lang="en-US" sz="1600">
                <a:solidFill>
                  <a:schemeClr val="bg1"/>
                </a:solidFill>
                <a:ea typeface="+mn-lt"/>
                <a:cs typeface="+mn-lt"/>
              </a:rPr>
              <a:t>fragments with sources, targets, transforms, confidence, and issues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00B0F0"/>
                </a:solidFill>
                <a:ea typeface="+mn-lt"/>
                <a:cs typeface="+mn-lt"/>
              </a:rPr>
              <a:t>Agent 1 </a:t>
            </a:r>
            <a:r>
              <a:rPr lang="en-US" sz="1600">
                <a:solidFill>
                  <a:schemeClr val="bg1"/>
                </a:solidFill>
                <a:ea typeface="+mn-lt"/>
                <a:cs typeface="+mn-lt"/>
              </a:rPr>
              <a:t>flags SELECT * cases, ambiguous joins, and unresolved UDFs</a:t>
            </a:r>
            <a:endParaRPr lang="en-US" sz="1600">
              <a:solidFill>
                <a:schemeClr val="bg1"/>
              </a:solidFill>
            </a:endParaRPr>
          </a:p>
        </p:txBody>
      </p:sp>
    </p:spTree>
    <p:extLst>
      <p:ext uri="{BB962C8B-B14F-4D97-AF65-F5344CB8AC3E}">
        <p14:creationId xmlns:p14="http://schemas.microsoft.com/office/powerpoint/2010/main" val="584698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A622F-55A5-C7B8-15C5-B85687460FF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65B5FE1-CCCC-EE9E-927D-7AE17756154A}"/>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GB" cap="none">
                <a:ea typeface="+mj-lt"/>
                <a:cs typeface="+mj-lt"/>
              </a:rPr>
              <a:t>Step 5: Capture SME Knowledge &amp; Ownership Registry</a:t>
            </a:r>
            <a:endParaRPr lang="en-US"/>
          </a:p>
        </p:txBody>
      </p:sp>
      <p:sp>
        <p:nvSpPr>
          <p:cNvPr id="2" name="TextBox 1">
            <a:extLst>
              <a:ext uri="{FF2B5EF4-FFF2-40B4-BE49-F238E27FC236}">
                <a16:creationId xmlns:a16="http://schemas.microsoft.com/office/drawing/2014/main" id="{3621DDA5-D356-EF7B-89CE-7F3E158B8D4F}"/>
              </a:ext>
            </a:extLst>
          </p:cNvPr>
          <p:cNvSpPr txBox="1"/>
          <p:nvPr/>
        </p:nvSpPr>
        <p:spPr>
          <a:xfrm>
            <a:off x="393585" y="1022005"/>
            <a:ext cx="11382373" cy="3785652"/>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The agent learns by analogy. Exemplars determine quality, not model size.</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interviews </a:t>
            </a:r>
            <a:r>
              <a:rPr lang="en-US" sz="1600">
                <a:solidFill>
                  <a:srgbClr val="00B050"/>
                </a:solidFill>
                <a:ea typeface="+mn-lt"/>
                <a:cs typeface="+mn-lt"/>
              </a:rPr>
              <a:t>SMEs </a:t>
            </a:r>
            <a:r>
              <a:rPr lang="en-US" sz="1600">
                <a:solidFill>
                  <a:schemeClr val="bg1"/>
                </a:solidFill>
                <a:ea typeface="+mn-lt"/>
                <a:cs typeface="+mn-lt"/>
              </a:rPr>
              <a:t>to convert tacit lineage knowledge into structured guidance; assign trust (1–10) to each transcript and priority (A–E) per domain:</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Conducts targeted </a:t>
            </a:r>
            <a:r>
              <a:rPr lang="en-US" sz="1600">
                <a:solidFill>
                  <a:srgbClr val="00B050"/>
                </a:solidFill>
                <a:ea typeface="+mn-lt"/>
                <a:cs typeface="+mn-lt"/>
              </a:rPr>
              <a:t>SME </a:t>
            </a:r>
            <a:r>
              <a:rPr lang="en-US" sz="1600">
                <a:solidFill>
                  <a:schemeClr val="bg1"/>
                </a:solidFill>
                <a:ea typeface="+mn-lt"/>
                <a:cs typeface="+mn-lt"/>
              </a:rPr>
              <a:t>interviews: 30-45 min per SME focused on specific flows; record and transcribe. Standard guide: systems owned, common transforms, known exceptions, rename history.</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Extracts FAQs &amp; rules: Turn transcripts into Q&amp;A snippets, heuristics, and “gotchas”. Add to the context library of </a:t>
            </a:r>
            <a:r>
              <a:rPr lang="en-US" sz="1600">
                <a:solidFill>
                  <a:srgbClr val="00B0F0"/>
                </a:solidFill>
                <a:ea typeface="+mn-lt"/>
                <a:cs typeface="+mn-lt"/>
              </a:rPr>
              <a:t>Agent 1.</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Builds ownership registry: Map </a:t>
            </a:r>
            <a:r>
              <a:rPr lang="en-US" sz="1600">
                <a:solidFill>
                  <a:srgbClr val="00B050"/>
                </a:solidFill>
                <a:ea typeface="+mn-lt"/>
                <a:cs typeface="+mn-lt"/>
              </a:rPr>
              <a:t>SMEs</a:t>
            </a:r>
            <a:r>
              <a:rPr lang="en-US" sz="1600">
                <a:solidFill>
                  <a:schemeClr val="bg1"/>
                </a:solidFill>
                <a:ea typeface="+mn-lt"/>
                <a:cs typeface="+mn-lt"/>
              </a:rPr>
              <a:t> to datasets/jobs for future auto‑routing of questions.</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loads into the </a:t>
            </a:r>
            <a:r>
              <a:rPr lang="en-US" sz="1600">
                <a:solidFill>
                  <a:srgbClr val="FFC000"/>
                </a:solidFill>
                <a:ea typeface="+mn-lt"/>
                <a:cs typeface="+mn-lt"/>
              </a:rPr>
              <a:t>LLM: </a:t>
            </a:r>
          </a:p>
          <a:p>
            <a:pPr marL="800100" lvl="1" indent="-342900">
              <a:buFont typeface="+mj-lt"/>
              <a:buAutoNum type="alphaLcParenR"/>
              <a:tabLst>
                <a:tab pos="457200" algn="l"/>
              </a:tabLst>
              <a:defRPr/>
            </a:pPr>
            <a:r>
              <a:rPr lang="en-US" sz="1600">
                <a:solidFill>
                  <a:schemeClr val="bg1"/>
                </a:solidFill>
                <a:ea typeface="+mn-lt"/>
                <a:cs typeface="+mn-lt"/>
              </a:rPr>
              <a:t>Interview transcripts and summaries (systems owned, typical transforms, rename history)</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SME expertise matrix (who knows what; coverage map)</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FAQ snippets, known exceptions, “gotchas” for edge cases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FFC000"/>
                </a:solidFill>
                <a:ea typeface="+mn-lt"/>
                <a:cs typeface="+mn-lt"/>
              </a:rPr>
              <a:t>LLM </a:t>
            </a:r>
            <a:r>
              <a:rPr lang="en-US" sz="1600">
                <a:solidFill>
                  <a:schemeClr val="bg1"/>
                </a:solidFill>
                <a:ea typeface="+mn-lt"/>
                <a:cs typeface="+mn-lt"/>
              </a:rPr>
              <a:t>can route questions to the correct </a:t>
            </a:r>
            <a:r>
              <a:rPr lang="en-US" sz="1600">
                <a:solidFill>
                  <a:srgbClr val="00B050"/>
                </a:solidFill>
                <a:ea typeface="+mn-lt"/>
                <a:cs typeface="+mn-lt"/>
              </a:rPr>
              <a:t>SME </a:t>
            </a:r>
            <a:r>
              <a:rPr lang="en-US" sz="1600">
                <a:solidFill>
                  <a:schemeClr val="bg1"/>
                </a:solidFill>
                <a:ea typeface="+mn-lt"/>
                <a:cs typeface="+mn-lt"/>
              </a:rPr>
              <a:t>and surface relevant prior answers automatically.</a:t>
            </a:r>
            <a:endParaRPr lang="en-US" sz="1600" i="0" u="none" strike="noStrike" kern="1200" cap="none" spc="0" normalizeH="0" baseline="0" noProof="0">
              <a:ln>
                <a:noFill/>
              </a:ln>
              <a:solidFill>
                <a:schemeClr val="bg1"/>
              </a:solidFill>
              <a:effectLst/>
              <a:uLnTx/>
              <a:uFillTx/>
              <a:latin typeface="Ubuntu"/>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4139771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E1A57-7B14-3CA5-463E-ACF2D062AA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BB5B62-7B7B-F6D0-CFD0-FD5C626B0317}"/>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GB" cap="none">
                <a:ea typeface="+mj-lt"/>
                <a:cs typeface="+mj-lt"/>
              </a:rPr>
              <a:t>Step 6: Agent 2 — Produce First‑Draft Mappings</a:t>
            </a:r>
            <a:endParaRPr lang="en-US"/>
          </a:p>
        </p:txBody>
      </p:sp>
      <p:sp>
        <p:nvSpPr>
          <p:cNvPr id="2" name="TextBox 1">
            <a:extLst>
              <a:ext uri="{FF2B5EF4-FFF2-40B4-BE49-F238E27FC236}">
                <a16:creationId xmlns:a16="http://schemas.microsoft.com/office/drawing/2014/main" id="{EE310CE0-5ADC-06DF-E5C1-3CD9489F6DA6}"/>
              </a:ext>
            </a:extLst>
          </p:cNvPr>
          <p:cNvSpPr txBox="1"/>
          <p:nvPr/>
        </p:nvSpPr>
        <p:spPr>
          <a:xfrm>
            <a:off x="393585" y="1022005"/>
            <a:ext cx="11382373" cy="4278094"/>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Faster to edit than to author. Give stewards something concrete to react to.</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directs </a:t>
            </a:r>
            <a:r>
              <a:rPr lang="en-US" sz="1600">
                <a:solidFill>
                  <a:srgbClr val="00B0F0"/>
                </a:solidFill>
                <a:ea typeface="+mn-lt"/>
                <a:cs typeface="+mn-lt"/>
              </a:rPr>
              <a:t>Agent 2</a:t>
            </a:r>
            <a:r>
              <a:rPr lang="en-US" sz="1600">
                <a:solidFill>
                  <a:schemeClr val="bg1"/>
                </a:solidFill>
                <a:ea typeface="+mn-lt"/>
                <a:cs typeface="+mn-lt"/>
              </a:rPr>
              <a:t> to synthesize parsed fragments + authoritative sources into first‑draft mappings (≥50% coverage), tagged with confidence and assumptions: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Synthesize Drafts: Merge parsed fragments + contracts + SME rules into a single mapping per target.</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Coverage Target: Aim for ≥50% of target fields mapped with explicit sources &amp; transforms. Mark gaps with </a:t>
            </a:r>
            <a:r>
              <a:rPr lang="en-US" sz="1600">
                <a:solidFill>
                  <a:schemeClr val="bg1"/>
                </a:solidFill>
                <a:latin typeface="Consolas"/>
                <a:ea typeface="+mn-lt"/>
                <a:cs typeface="+mn-lt"/>
              </a:rPr>
              <a:t>issues</a:t>
            </a:r>
            <a:r>
              <a:rPr lang="en-US" sz="1600">
                <a:solidFill>
                  <a:schemeClr val="bg1"/>
                </a:solidFill>
                <a:ea typeface="+mn-lt"/>
                <a:cs typeface="+mn-lt"/>
              </a:rPr>
              <a:t> and candidate sources.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Score &amp; Tag: Compute confidence; tag </a:t>
            </a:r>
            <a:r>
              <a:rPr lang="en-US" sz="1600" err="1">
                <a:solidFill>
                  <a:schemeClr val="bg1"/>
                </a:solidFill>
                <a:latin typeface="Consolas"/>
                <a:ea typeface="+mn-lt"/>
                <a:cs typeface="+mn-lt"/>
              </a:rPr>
              <a:t>needs_review</a:t>
            </a:r>
            <a:r>
              <a:rPr lang="en-US" sz="1600">
                <a:solidFill>
                  <a:schemeClr val="bg1"/>
                </a:solidFill>
                <a:ea typeface="+mn-lt"/>
                <a:cs typeface="+mn-lt"/>
              </a:rPr>
              <a:t> where thresholds aren’t met.</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loads into the </a:t>
            </a:r>
            <a:r>
              <a:rPr lang="en-US" sz="1600">
                <a:solidFill>
                  <a:srgbClr val="FFC000"/>
                </a:solidFill>
                <a:ea typeface="+mn-lt"/>
                <a:cs typeface="+mn-lt"/>
              </a:rPr>
              <a:t>LLM: </a:t>
            </a:r>
          </a:p>
          <a:p>
            <a:pPr marL="800100" lvl="1" indent="-342900">
              <a:buFont typeface="+mj-lt"/>
              <a:buAutoNum type="alphaLcParenR"/>
              <a:tabLst>
                <a:tab pos="457200" algn="l"/>
              </a:tabLst>
              <a:defRPr/>
            </a:pPr>
            <a:r>
              <a:rPr lang="en-US" sz="1600">
                <a:solidFill>
                  <a:schemeClr val="bg1"/>
                </a:solidFill>
                <a:ea typeface="+mn-lt"/>
                <a:cs typeface="+mn-lt"/>
              </a:rPr>
              <a:t>fragments from Step 4 and policies from Step 1</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relevant contracts/SLAs for impacted datasets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i="0" u="none" strike="noStrike" kern="1200" cap="none" spc="0" normalizeH="0" baseline="0" noProof="0">
                <a:ln>
                  <a:noFill/>
                </a:ln>
                <a:solidFill>
                  <a:srgbClr val="FF0000"/>
                </a:solidFill>
                <a:effectLst/>
                <a:uLnTx/>
                <a:uFillTx/>
                <a:latin typeface="Ubuntu"/>
                <a:ea typeface="+mn-ea"/>
                <a:cs typeface="+mn-cs"/>
              </a:rPr>
              <a:t>CG team </a:t>
            </a:r>
            <a:r>
              <a:rPr kumimoji="0" lang="en-US" sz="1600" i="0" u="none" strike="noStrike" kern="1200" cap="none" spc="0" normalizeH="0" baseline="0" noProof="0">
                <a:ln>
                  <a:noFill/>
                </a:ln>
                <a:solidFill>
                  <a:srgbClr val="FFFFFF"/>
                </a:solidFill>
                <a:effectLst/>
                <a:uLnTx/>
                <a:uFillTx/>
                <a:latin typeface="Ubuntu"/>
                <a:ea typeface="+mn-lt"/>
                <a:cs typeface="+mn-lt"/>
              </a:rPr>
              <a:t>captures from the </a:t>
            </a:r>
            <a:r>
              <a:rPr kumimoji="0" lang="en-US" sz="1600" i="0" u="none" strike="noStrike" kern="1200" cap="none" spc="0" normalizeH="0" baseline="0" noProof="0">
                <a:ln>
                  <a:noFill/>
                </a:ln>
                <a:solidFill>
                  <a:srgbClr val="FFC000"/>
                </a:solidFill>
                <a:effectLst/>
                <a:uLnTx/>
                <a:uFillTx/>
                <a:latin typeface="Ubuntu"/>
                <a:ea typeface="+mn-lt"/>
                <a:cs typeface="+mn-lt"/>
              </a:rPr>
              <a:t>LLM: </a:t>
            </a:r>
          </a:p>
          <a:p>
            <a:pPr marL="800100" lvl="1" indent="-342900">
              <a:buFont typeface="+mj-lt"/>
              <a:buAutoNum type="alphaLcParenR"/>
              <a:tabLst>
                <a:tab pos="457200" algn="l"/>
              </a:tabLst>
              <a:defRPr/>
            </a:pPr>
            <a:r>
              <a:rPr lang="en-US" sz="1600">
                <a:solidFill>
                  <a:schemeClr val="bg1"/>
                </a:solidFill>
                <a:ea typeface="+mn-lt"/>
                <a:cs typeface="+mn-lt"/>
              </a:rPr>
              <a:t>mapping JSON per target with transforms and citations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explicit </a:t>
            </a:r>
            <a:r>
              <a:rPr lang="en-US" sz="1600">
                <a:solidFill>
                  <a:schemeClr val="bg1"/>
                </a:solidFill>
                <a:latin typeface="Consolas"/>
                <a:ea typeface="+mn-lt"/>
                <a:cs typeface="+mn-lt"/>
              </a:rPr>
              <a:t>issues</a:t>
            </a:r>
            <a:r>
              <a:rPr lang="en-US" sz="1600">
                <a:solidFill>
                  <a:schemeClr val="bg1"/>
                </a:solidFill>
                <a:ea typeface="+mn-lt"/>
                <a:cs typeface="+mn-lt"/>
              </a:rPr>
              <a:t> list and </a:t>
            </a:r>
            <a:r>
              <a:rPr lang="en-US" sz="1600">
                <a:solidFill>
                  <a:schemeClr val="bg1"/>
                </a:solidFill>
                <a:latin typeface="Consolas"/>
                <a:ea typeface="+mn-lt"/>
                <a:cs typeface="+mn-lt"/>
              </a:rPr>
              <a:t>assumptions</a:t>
            </a:r>
            <a:r>
              <a:rPr lang="en-US" sz="1600">
                <a:solidFill>
                  <a:schemeClr val="bg1"/>
                </a:solidFill>
                <a:ea typeface="+mn-lt"/>
                <a:cs typeface="+mn-lt"/>
              </a:rPr>
              <a:t> for gaps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00B0F0"/>
                </a:solidFill>
                <a:ea typeface="+mn-lt"/>
                <a:cs typeface="+mn-lt"/>
              </a:rPr>
              <a:t>Agent 2</a:t>
            </a:r>
            <a:r>
              <a:rPr lang="en-US" sz="1600">
                <a:solidFill>
                  <a:schemeClr val="bg1"/>
                </a:solidFill>
                <a:ea typeface="+mn-lt"/>
                <a:cs typeface="+mn-lt"/>
              </a:rPr>
              <a:t> meets minimum coverage, adheres to canonical IDs, and assigns appropriate confidence levels.</a:t>
            </a:r>
          </a:p>
        </p:txBody>
      </p:sp>
    </p:spTree>
    <p:extLst>
      <p:ext uri="{BB962C8B-B14F-4D97-AF65-F5344CB8AC3E}">
        <p14:creationId xmlns:p14="http://schemas.microsoft.com/office/powerpoint/2010/main" val="2559995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8369F-12B7-B364-8971-6D97387644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3EA16A-8C47-1AFE-516B-E894CF0C7F8E}"/>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7: Agent 3 — Identify Missing Elements &amp; Generate Questions</a:t>
            </a:r>
            <a:endParaRPr lang="en-US" cap="none"/>
          </a:p>
        </p:txBody>
      </p:sp>
      <p:sp>
        <p:nvSpPr>
          <p:cNvPr id="2" name="TextBox 1">
            <a:extLst>
              <a:ext uri="{FF2B5EF4-FFF2-40B4-BE49-F238E27FC236}">
                <a16:creationId xmlns:a16="http://schemas.microsoft.com/office/drawing/2014/main" id="{79E6D8FD-7306-CD0A-E7E5-5BD39595E340}"/>
              </a:ext>
            </a:extLst>
          </p:cNvPr>
          <p:cNvSpPr txBox="1"/>
          <p:nvPr/>
        </p:nvSpPr>
        <p:spPr>
          <a:xfrm>
            <a:off x="393585" y="1022005"/>
            <a:ext cx="11382373" cy="3293209"/>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Make unknowns explicit. Clear gaps, reduce back‑and‑forth and speed approvals.</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tasks </a:t>
            </a:r>
            <a:r>
              <a:rPr lang="en-US" sz="1600">
                <a:solidFill>
                  <a:srgbClr val="00B0F0"/>
                </a:solidFill>
                <a:ea typeface="+mn-lt"/>
                <a:cs typeface="+mn-lt"/>
              </a:rPr>
              <a:t>Agent 3</a:t>
            </a:r>
            <a:r>
              <a:rPr lang="en-US" sz="1600">
                <a:solidFill>
                  <a:schemeClr val="bg1"/>
                </a:solidFill>
                <a:ea typeface="+mn-lt"/>
                <a:cs typeface="+mn-lt"/>
              </a:rPr>
              <a:t> to detect gaps and produce precise SME questions; prioritize by business impact (A–E):</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Gap Detector: Find unmapped fields, unclear joins/filters, opaque UDFs, or layered views.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Generate Questions: For each gap, propose specific, non‑leading questions referencing file lines and business context.</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Route to Right SME: Use the ownership registry to assign queries; group related questions to limit noise.</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loads into the </a:t>
            </a:r>
            <a:r>
              <a:rPr lang="en-US" sz="1600">
                <a:solidFill>
                  <a:srgbClr val="FFC000"/>
                </a:solidFill>
                <a:ea typeface="+mn-lt"/>
                <a:cs typeface="+mn-lt"/>
              </a:rPr>
              <a:t>LLM:</a:t>
            </a:r>
            <a:r>
              <a:rPr lang="en-US" sz="1600">
                <a:solidFill>
                  <a:schemeClr val="bg1"/>
                </a:solidFill>
                <a:ea typeface="+mn-lt"/>
                <a:cs typeface="+mn-lt"/>
              </a:rPr>
              <a:t> gap detection rules (unmapped fields, unclear joins, opaque UDFs)</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endParaRPr lang="en-US" sz="1600">
              <a:solidFill>
                <a:srgbClr val="FFC000"/>
              </a:solidFill>
            </a:endParaRPr>
          </a:p>
          <a:p>
            <a:pPr marL="800100" lvl="1" indent="-342900">
              <a:buFont typeface="+mj-lt"/>
              <a:buAutoNum type="alphaLcParenR"/>
              <a:tabLst>
                <a:tab pos="457200" algn="l"/>
              </a:tabLst>
              <a:defRPr/>
            </a:pPr>
            <a:r>
              <a:rPr lang="en-US" sz="1600">
                <a:solidFill>
                  <a:schemeClr val="bg1"/>
                </a:solidFill>
                <a:ea typeface="+mn-lt"/>
                <a:cs typeface="+mn-lt"/>
              </a:rPr>
              <a:t>structured question sets referencing exact files/lines and business context </a:t>
            </a:r>
          </a:p>
          <a:p>
            <a:pPr marL="800100" lvl="1" indent="-342900">
              <a:buFont typeface="+mj-lt"/>
              <a:buAutoNum type="alphaLcParenR"/>
              <a:tabLst>
                <a:tab pos="457200" algn="l"/>
              </a:tabLst>
              <a:defRPr/>
            </a:pPr>
            <a:r>
              <a:rPr lang="en-US" sz="1600">
                <a:solidFill>
                  <a:schemeClr val="bg1"/>
                </a:solidFill>
                <a:ea typeface="+mn-lt"/>
                <a:cs typeface="+mn-lt"/>
              </a:rPr>
              <a:t>ranked list of gaps by criticality and </a:t>
            </a:r>
            <a:r>
              <a:rPr lang="en-US" sz="1600">
                <a:solidFill>
                  <a:schemeClr val="bg1"/>
                </a:solidFill>
                <a:latin typeface="Ubuntu"/>
                <a:ea typeface="+mn-lt"/>
                <a:cs typeface="+mn-lt"/>
              </a:rPr>
              <a:t>suggested evidence to collect</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FFC000"/>
                </a:solidFill>
                <a:ea typeface="+mn-lt"/>
                <a:cs typeface="+mn-lt"/>
              </a:rPr>
              <a:t>LLM</a:t>
            </a:r>
            <a:r>
              <a:rPr lang="en-US" sz="1600">
                <a:solidFill>
                  <a:schemeClr val="bg1"/>
                </a:solidFill>
                <a:ea typeface="+mn-lt"/>
                <a:cs typeface="+mn-lt"/>
              </a:rPr>
              <a:t>’s question pack reduces </a:t>
            </a:r>
            <a:r>
              <a:rPr lang="en-US" sz="1600">
                <a:solidFill>
                  <a:srgbClr val="00B050"/>
                </a:solidFill>
                <a:ea typeface="+mn-lt"/>
                <a:cs typeface="+mn-lt"/>
              </a:rPr>
              <a:t>SME </a:t>
            </a:r>
            <a:r>
              <a:rPr lang="en-US" sz="1600">
                <a:solidFill>
                  <a:schemeClr val="bg1"/>
                </a:solidFill>
                <a:ea typeface="+mn-lt"/>
                <a:cs typeface="+mn-lt"/>
              </a:rPr>
              <a:t>back‑and‑forth and resolves &gt;70% of gaps in one pass.</a:t>
            </a:r>
            <a:endParaRPr lang="en-US" sz="1600">
              <a:solidFill>
                <a:schemeClr val="bg1"/>
              </a:solidFill>
            </a:endParaRPr>
          </a:p>
        </p:txBody>
      </p:sp>
    </p:spTree>
    <p:extLst>
      <p:ext uri="{BB962C8B-B14F-4D97-AF65-F5344CB8AC3E}">
        <p14:creationId xmlns:p14="http://schemas.microsoft.com/office/powerpoint/2010/main" val="2257613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BDF3B-2980-C941-2844-923B257819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8FC126-6459-FBCB-642E-7B4120084DB7}"/>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8: Agent 3 — Orchestrate SME Q&amp;A and Follow‑ups</a:t>
            </a:r>
            <a:endParaRPr lang="en-US" cap="none"/>
          </a:p>
        </p:txBody>
      </p:sp>
      <p:sp>
        <p:nvSpPr>
          <p:cNvPr id="2" name="TextBox 1">
            <a:extLst>
              <a:ext uri="{FF2B5EF4-FFF2-40B4-BE49-F238E27FC236}">
                <a16:creationId xmlns:a16="http://schemas.microsoft.com/office/drawing/2014/main" id="{0E1DB3C6-01FF-C825-331C-1F24AEAB1AFE}"/>
              </a:ext>
            </a:extLst>
          </p:cNvPr>
          <p:cNvSpPr txBox="1"/>
          <p:nvPr/>
        </p:nvSpPr>
        <p:spPr>
          <a:xfrm>
            <a:off x="393585" y="1022005"/>
            <a:ext cx="11382373" cy="3785652"/>
          </a:xfrm>
          <a:prstGeom prst="rect">
            <a:avLst/>
          </a:prstGeom>
          <a:noFill/>
        </p:spPr>
        <p:txBody>
          <a:bodyPr wrap="square" lIns="91440" tIns="45720" rIns="91440" bIns="45720" numCol="1" spcCol="144000" anchor="t">
            <a:spAutoFit/>
          </a:bodyPr>
          <a:lstStyle/>
          <a:p>
            <a:pPr>
              <a:tabLst>
                <a:tab pos="457200" algn="l"/>
              </a:tabLst>
              <a:defRPr/>
            </a:pPr>
            <a:r>
              <a:rPr lang="en-US" sz="1600" b="1">
                <a:solidFill>
                  <a:schemeClr val="bg1"/>
                </a:solidFill>
                <a:ea typeface="+mn-lt"/>
                <a:cs typeface="+mn-lt"/>
              </a:rPr>
              <a:t>Motivation:</a:t>
            </a:r>
            <a:r>
              <a:rPr lang="en-US" sz="1600">
                <a:solidFill>
                  <a:schemeClr val="bg1"/>
                </a:solidFill>
                <a:ea typeface="+mn-lt"/>
                <a:cs typeface="+mn-lt"/>
              </a:rPr>
              <a:t> Structured follow‑ups turn “tribal” knowledge into reusable metadata.</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enables </a:t>
            </a:r>
            <a:r>
              <a:rPr lang="en-US" sz="1600">
                <a:solidFill>
                  <a:srgbClr val="00B0F0"/>
                </a:solidFill>
                <a:ea typeface="+mn-lt"/>
                <a:cs typeface="+mn-lt"/>
              </a:rPr>
              <a:t>Agent 3</a:t>
            </a:r>
            <a:r>
              <a:rPr lang="en-US" sz="1600">
                <a:solidFill>
                  <a:schemeClr val="bg1"/>
                </a:solidFill>
                <a:ea typeface="+mn-lt"/>
                <a:cs typeface="+mn-lt"/>
              </a:rPr>
              <a:t> to contact the right </a:t>
            </a:r>
            <a:r>
              <a:rPr lang="en-US" sz="1600">
                <a:solidFill>
                  <a:srgbClr val="00B050"/>
                </a:solidFill>
                <a:ea typeface="+mn-lt"/>
                <a:cs typeface="+mn-lt"/>
              </a:rPr>
              <a:t>SMEs </a:t>
            </a:r>
            <a:r>
              <a:rPr lang="en-US" sz="1600">
                <a:solidFill>
                  <a:schemeClr val="bg1"/>
                </a:solidFill>
                <a:ea typeface="+mn-lt"/>
                <a:cs typeface="+mn-lt"/>
              </a:rPr>
              <a:t>with context, collect answers, and consolidate conflicting inputs; apply trust weighting by </a:t>
            </a:r>
            <a:r>
              <a:rPr lang="en-US" sz="1600">
                <a:solidFill>
                  <a:srgbClr val="00B050"/>
                </a:solidFill>
                <a:ea typeface="+mn-lt"/>
                <a:cs typeface="+mn-lt"/>
              </a:rPr>
              <a:t>SME</a:t>
            </a:r>
            <a:r>
              <a:rPr lang="en-US" sz="1600">
                <a:solidFill>
                  <a:schemeClr val="bg1"/>
                </a:solidFill>
                <a:ea typeface="+mn-lt"/>
                <a:cs typeface="+mn-lt"/>
              </a:rPr>
              <a:t>/source (1–10)</a:t>
            </a: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Outbound Requests: Send </a:t>
            </a:r>
            <a:r>
              <a:rPr lang="en-US" sz="1600">
                <a:solidFill>
                  <a:srgbClr val="00B050"/>
                </a:solidFill>
                <a:ea typeface="+mn-lt"/>
                <a:cs typeface="+mn-lt"/>
              </a:rPr>
              <a:t>SMEs </a:t>
            </a:r>
            <a:r>
              <a:rPr lang="en-US" sz="1600">
                <a:solidFill>
                  <a:schemeClr val="bg1"/>
                </a:solidFill>
                <a:ea typeface="+mn-lt"/>
                <a:cs typeface="+mn-lt"/>
              </a:rPr>
              <a:t>concise, context‑rich questions with friendly SLAs and one‑click approve/annotate links.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Chase &amp; Consolidate: Send </a:t>
            </a:r>
            <a:r>
              <a:rPr lang="en-US" sz="1600">
                <a:solidFill>
                  <a:srgbClr val="00B050"/>
                </a:solidFill>
                <a:ea typeface="+mn-lt"/>
                <a:cs typeface="+mn-lt"/>
              </a:rPr>
              <a:t>SMEs </a:t>
            </a:r>
            <a:r>
              <a:rPr lang="en-US" sz="1600">
                <a:solidFill>
                  <a:schemeClr val="bg1"/>
                </a:solidFill>
                <a:ea typeface="+mn-lt"/>
                <a:cs typeface="+mn-lt"/>
              </a:rPr>
              <a:t>gentle reminders; consolidate conflicting answers and highlight discrepancies.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Normalize Responses: Convert </a:t>
            </a:r>
            <a:r>
              <a:rPr lang="en-US" sz="1600">
                <a:solidFill>
                  <a:srgbClr val="00B050"/>
                </a:solidFill>
                <a:ea typeface="+mn-lt"/>
                <a:cs typeface="+mn-lt"/>
              </a:rPr>
              <a:t>SMEs’ </a:t>
            </a:r>
            <a:r>
              <a:rPr lang="en-US" sz="1600">
                <a:solidFill>
                  <a:schemeClr val="bg1"/>
                </a:solidFill>
                <a:ea typeface="+mn-lt"/>
                <a:cs typeface="+mn-lt"/>
              </a:rPr>
              <a:t>replies into transform expressions, source references, or documented exceptions.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provides the </a:t>
            </a:r>
            <a:r>
              <a:rPr lang="en-US" sz="1600">
                <a:solidFill>
                  <a:srgbClr val="FFC000"/>
                </a:solidFill>
                <a:ea typeface="+mn-lt"/>
                <a:cs typeface="+mn-lt"/>
              </a:rPr>
              <a:t>LLM </a:t>
            </a:r>
            <a:r>
              <a:rPr lang="en-US" sz="1600">
                <a:solidFill>
                  <a:schemeClr val="bg1"/>
                </a:solidFill>
                <a:ea typeface="+mn-lt"/>
                <a:cs typeface="+mn-lt"/>
              </a:rPr>
              <a:t>with SME registry and communication templates</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b="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endParaRPr lang="en-US" sz="1600">
              <a:solidFill>
                <a:srgbClr val="FFC000"/>
              </a:solidFill>
            </a:endParaRPr>
          </a:p>
          <a:p>
            <a:pPr marL="800100" lvl="1" indent="-342900">
              <a:buFont typeface="+mj-lt"/>
              <a:buAutoNum type="alphaLcParenR"/>
              <a:tabLst>
                <a:tab pos="457200" algn="l"/>
              </a:tabLst>
              <a:defRPr/>
            </a:pPr>
            <a:r>
              <a:rPr lang="en-US" sz="1600">
                <a:solidFill>
                  <a:schemeClr val="bg1"/>
                </a:solidFill>
                <a:ea typeface="+mn-lt"/>
                <a:cs typeface="+mn-lt"/>
              </a:rPr>
              <a:t>outbound messages with citations and clear due dates </a:t>
            </a:r>
          </a:p>
          <a:p>
            <a:pPr marL="800100" lvl="1" indent="-342900">
              <a:buFont typeface="+mj-lt"/>
              <a:buAutoNum type="alphaLcParenR"/>
              <a:tabLst>
                <a:tab pos="457200" algn="l"/>
              </a:tabLst>
              <a:defRPr/>
            </a:pPr>
            <a:r>
              <a:rPr lang="en-US" sz="1600">
                <a:solidFill>
                  <a:schemeClr val="bg1"/>
                </a:solidFill>
                <a:ea typeface="+mn-lt"/>
                <a:cs typeface="+mn-lt"/>
              </a:rPr>
              <a:t>normalized responses (transform rules, source references, exceptions)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t>
            </a:r>
            <a:r>
              <a:rPr lang="en-US" sz="1600">
                <a:solidFill>
                  <a:srgbClr val="00B0F0"/>
                </a:solidFill>
                <a:ea typeface="+mn-lt"/>
                <a:cs typeface="+mn-lt"/>
              </a:rPr>
              <a:t>Agent 3</a:t>
            </a:r>
            <a:r>
              <a:rPr lang="en-US" sz="1600">
                <a:solidFill>
                  <a:schemeClr val="bg1"/>
                </a:solidFill>
                <a:ea typeface="+mn-lt"/>
                <a:cs typeface="+mn-lt"/>
              </a:rPr>
              <a:t> captures answers in structured form and resolves conflicts or escalates with rationale.</a:t>
            </a:r>
          </a:p>
        </p:txBody>
      </p:sp>
    </p:spTree>
    <p:extLst>
      <p:ext uri="{BB962C8B-B14F-4D97-AF65-F5344CB8AC3E}">
        <p14:creationId xmlns:p14="http://schemas.microsoft.com/office/powerpoint/2010/main" val="1054753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6B4E0-340F-E957-23F0-8DAC82595E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32099B-9893-3511-2A1C-588C285BC69C}"/>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9: Agent 4 — Finalize Mappings to 100%</a:t>
            </a:r>
          </a:p>
        </p:txBody>
      </p:sp>
      <p:sp>
        <p:nvSpPr>
          <p:cNvPr id="2" name="TextBox 1">
            <a:extLst>
              <a:ext uri="{FF2B5EF4-FFF2-40B4-BE49-F238E27FC236}">
                <a16:creationId xmlns:a16="http://schemas.microsoft.com/office/drawing/2014/main" id="{C1291E66-AE7E-7293-3BD4-0364B5B27391}"/>
              </a:ext>
            </a:extLst>
          </p:cNvPr>
          <p:cNvSpPr txBox="1"/>
          <p:nvPr/>
        </p:nvSpPr>
        <p:spPr>
          <a:xfrm>
            <a:off x="393585" y="1022005"/>
            <a:ext cx="11382373" cy="3539430"/>
          </a:xfrm>
          <a:prstGeom prst="rect">
            <a:avLst/>
          </a:prstGeom>
          <a:noFill/>
        </p:spPr>
        <p:txBody>
          <a:bodyPr wrap="square" lIns="91440" tIns="45720" rIns="91440" bIns="45720" numCol="1" spcCol="144000" anchor="t">
            <a:spAutoFit/>
          </a:bodyPr>
          <a:lstStyle/>
          <a:p>
            <a:pPr>
              <a:tabLst>
                <a:tab pos="457200" algn="l"/>
              </a:tabLst>
              <a:defRPr/>
            </a:pPr>
            <a:r>
              <a:rPr lang="en-US" sz="1600" b="1">
                <a:solidFill>
                  <a:schemeClr val="bg1"/>
                </a:solidFill>
                <a:ea typeface="+mn-lt"/>
                <a:cs typeface="+mn-lt"/>
              </a:rPr>
              <a:t>Motivation:</a:t>
            </a:r>
            <a:r>
              <a:rPr lang="en-US" sz="1600">
                <a:solidFill>
                  <a:schemeClr val="bg1"/>
                </a:solidFill>
                <a:ea typeface="+mn-lt"/>
                <a:cs typeface="+mn-lt"/>
              </a:rPr>
              <a:t> Ship a complete, review‑ready artifact with audit trail.</a:t>
            </a:r>
          </a:p>
          <a:p>
            <a:pPr>
              <a:tabLst>
                <a:tab pos="457200" algn="l"/>
              </a:tabLst>
              <a:defRPr/>
            </a:pPr>
            <a:endParaRPr lang="en-US" sz="1600" b="1">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instructs </a:t>
            </a:r>
            <a:r>
              <a:rPr lang="en-US" sz="1600">
                <a:solidFill>
                  <a:srgbClr val="00B0F0"/>
                </a:solidFill>
                <a:ea typeface="+mn-lt"/>
                <a:cs typeface="+mn-lt"/>
              </a:rPr>
              <a:t>Agent 4</a:t>
            </a:r>
            <a:r>
              <a:rPr lang="en-US" sz="1600">
                <a:solidFill>
                  <a:schemeClr val="bg1"/>
                </a:solidFill>
                <a:ea typeface="+mn-lt"/>
                <a:cs typeface="+mn-lt"/>
              </a:rPr>
              <a:t> to apply </a:t>
            </a:r>
            <a:r>
              <a:rPr lang="en-US" sz="1600">
                <a:solidFill>
                  <a:srgbClr val="00B050"/>
                </a:solidFill>
                <a:ea typeface="+mn-lt"/>
                <a:cs typeface="+mn-lt"/>
              </a:rPr>
              <a:t>SME</a:t>
            </a:r>
            <a:r>
              <a:rPr lang="en-US" sz="1600">
                <a:solidFill>
                  <a:schemeClr val="bg1"/>
                </a:solidFill>
                <a:ea typeface="+mn-lt"/>
                <a:cs typeface="+mn-lt"/>
              </a:rPr>
              <a:t> input, complete mappings, re‑score confidence, and prepare review‑ready artifacts: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Apply SME Input: Fill unmapped fields; update transforms; attach assumptions and issue resolutions.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Re‑score Confidence: Upgrade entries supported by explicit evidence; leave contentious ones as </a:t>
            </a:r>
            <a:r>
              <a:rPr lang="en-US" sz="1600" err="1">
                <a:solidFill>
                  <a:schemeClr val="bg1"/>
                </a:solidFill>
                <a:latin typeface="Consolas"/>
                <a:ea typeface="+mn-lt"/>
                <a:cs typeface="+mn-lt"/>
              </a:rPr>
              <a:t>needs_review</a:t>
            </a:r>
            <a:r>
              <a:rPr lang="en-US" sz="1600">
                <a:solidFill>
                  <a:schemeClr val="bg1"/>
                </a:solidFill>
                <a:ea typeface="+mn-lt"/>
                <a:cs typeface="+mn-lt"/>
              </a:rPr>
              <a:t>.</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Steward Pre‑check: Run the acceptance checklist (completeness, IDs, DQ/PII tags, owners present).</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provides the </a:t>
            </a:r>
            <a:r>
              <a:rPr lang="en-US" sz="1600">
                <a:solidFill>
                  <a:srgbClr val="FFC000"/>
                </a:solidFill>
                <a:ea typeface="+mn-lt"/>
                <a:cs typeface="+mn-lt"/>
              </a:rPr>
              <a:t>LLM</a:t>
            </a:r>
            <a:r>
              <a:rPr lang="en-US" sz="1600">
                <a:solidFill>
                  <a:schemeClr val="bg1"/>
                </a:solidFill>
                <a:ea typeface="+mn-lt"/>
                <a:cs typeface="+mn-lt"/>
              </a:rPr>
              <a:t> with consolidated Q&amp;A outcomes and unresolved exceptions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capture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p>
          <a:p>
            <a:pPr marL="800100" lvl="1" indent="-342900">
              <a:buFont typeface="+mj-lt"/>
              <a:buAutoNum type="alphaLcParenR"/>
              <a:tabLst>
                <a:tab pos="457200" algn="l"/>
              </a:tabLst>
              <a:defRPr/>
            </a:pPr>
            <a:r>
              <a:rPr lang="en-US" sz="1600">
                <a:solidFill>
                  <a:schemeClr val="bg1"/>
                </a:solidFill>
                <a:ea typeface="+mn-lt"/>
                <a:cs typeface="+mn-lt"/>
              </a:rPr>
              <a:t>final mapping JSON with closed gaps and updated confidence</a:t>
            </a:r>
          </a:p>
          <a:p>
            <a:pPr marL="800100" lvl="1" indent="-342900">
              <a:buFont typeface="+mj-lt"/>
              <a:buAutoNum type="alphaLcParenR"/>
              <a:tabLst>
                <a:tab pos="457200" algn="l"/>
              </a:tabLst>
              <a:defRPr/>
            </a:pPr>
            <a:r>
              <a:rPr lang="en-US" sz="1600">
                <a:solidFill>
                  <a:schemeClr val="bg1"/>
                </a:solidFill>
                <a:ea typeface="+mn-lt"/>
                <a:cs typeface="+mn-lt"/>
              </a:rPr>
              <a:t>acceptance checklist results and flagged residual risks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final mappings meet completeness criteria (every target field mapped or justified) and pass policy checks.</a:t>
            </a:r>
          </a:p>
        </p:txBody>
      </p:sp>
    </p:spTree>
    <p:extLst>
      <p:ext uri="{BB962C8B-B14F-4D97-AF65-F5344CB8AC3E}">
        <p14:creationId xmlns:p14="http://schemas.microsoft.com/office/powerpoint/2010/main" val="2425798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3CD2D-5FFC-6CD4-1213-3B213C6F96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75A607-D32B-86E8-9148-6041EECAF568}"/>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10: Agent 4 — Stitch End‑to‑End Lineage Across Systems</a:t>
            </a:r>
            <a:endParaRPr lang="en-US" cap="none"/>
          </a:p>
        </p:txBody>
      </p:sp>
      <p:sp>
        <p:nvSpPr>
          <p:cNvPr id="2" name="TextBox 1">
            <a:extLst>
              <a:ext uri="{FF2B5EF4-FFF2-40B4-BE49-F238E27FC236}">
                <a16:creationId xmlns:a16="http://schemas.microsoft.com/office/drawing/2014/main" id="{28341735-79E8-F5AE-046A-6C56F133E3DD}"/>
              </a:ext>
            </a:extLst>
          </p:cNvPr>
          <p:cNvSpPr txBox="1"/>
          <p:nvPr/>
        </p:nvSpPr>
        <p:spPr>
          <a:xfrm>
            <a:off x="393585" y="1022005"/>
            <a:ext cx="11382373" cy="4278094"/>
          </a:xfrm>
          <a:prstGeom prst="rect">
            <a:avLst/>
          </a:prstGeom>
          <a:noFill/>
        </p:spPr>
        <p:txBody>
          <a:bodyPr wrap="square" lIns="91440" tIns="45720" rIns="91440" bIns="45720" numCol="1" spcCol="144000" anchor="t">
            <a:spAutoFit/>
          </a:bodyPr>
          <a:lstStyle/>
          <a:p>
            <a:pPr>
              <a:tabLst>
                <a:tab pos="457200" algn="l"/>
              </a:tabLst>
              <a:defRPr/>
            </a:pPr>
            <a:r>
              <a:rPr lang="en-US" sz="1600" b="1">
                <a:solidFill>
                  <a:schemeClr val="bg1"/>
                </a:solidFill>
                <a:ea typeface="+mn-lt"/>
                <a:cs typeface="+mn-lt"/>
              </a:rPr>
              <a:t>Motivation:</a:t>
            </a:r>
            <a:r>
              <a:rPr lang="en-US" sz="1600">
                <a:solidFill>
                  <a:schemeClr val="bg1"/>
                </a:solidFill>
                <a:ea typeface="+mn-lt"/>
                <a:cs typeface="+mn-lt"/>
              </a:rPr>
              <a:t> Business value lives in the path, not the node. Stitching reveals dependency chains.</a:t>
            </a:r>
          </a:p>
          <a:p>
            <a:pPr>
              <a:tabLst>
                <a:tab pos="457200" algn="l"/>
              </a:tabLst>
              <a:defRPr/>
            </a:pPr>
            <a:endParaRPr lang="en-US" sz="1600" b="1">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tasks </a:t>
            </a:r>
            <a:r>
              <a:rPr lang="en-US" sz="1600">
                <a:solidFill>
                  <a:srgbClr val="00B0F0"/>
                </a:solidFill>
                <a:ea typeface="+mn-lt"/>
                <a:cs typeface="+mn-lt"/>
              </a:rPr>
              <a:t>Agent 4</a:t>
            </a:r>
            <a:r>
              <a:rPr lang="en-US" sz="1600">
                <a:solidFill>
                  <a:schemeClr val="bg1"/>
                </a:solidFill>
                <a:ea typeface="+mn-lt"/>
                <a:cs typeface="+mn-lt"/>
              </a:rPr>
              <a:t> to connect mappings into paths using deterministic rules first, then controlled heuristics; assign confidence per edge:</a:t>
            </a:r>
          </a:p>
          <a:p>
            <a:pPr marL="342900" indent="-342900">
              <a:buFont typeface="+mj-lt"/>
              <a:buAutoNum type="arabicPeriod"/>
              <a:tabLst>
                <a:tab pos="457200" algn="l"/>
              </a:tabLst>
              <a:defRPr/>
            </a:pPr>
            <a:r>
              <a:rPr lang="en-US" sz="1600">
                <a:solidFill>
                  <a:srgbClr val="FF0000"/>
                </a:solidFill>
              </a:rPr>
              <a:t>CG team</a:t>
            </a:r>
            <a:endParaRPr lang="en-US" sz="1600">
              <a:solidFill>
                <a:schemeClr val="bg1"/>
              </a:solidFill>
              <a:ea typeface="+mn-lt"/>
              <a:cs typeface="+mn-lt"/>
            </a:endParaRPr>
          </a:p>
          <a:p>
            <a:pPr marL="800100" lvl="1" indent="-342900">
              <a:buFont typeface="+mj-lt"/>
              <a:buAutoNum type="alphaLcParenR"/>
              <a:tabLst>
                <a:tab pos="457200" algn="l"/>
              </a:tabLst>
              <a:defRPr/>
            </a:pPr>
            <a:r>
              <a:rPr lang="en-US" sz="1600">
                <a:solidFill>
                  <a:schemeClr val="bg1"/>
                </a:solidFill>
                <a:ea typeface="+mn-lt"/>
                <a:cs typeface="+mn-lt"/>
              </a:rPr>
              <a:t>Deterministic Matching First: Join on canonical IDs, explicit refs (e.g., </a:t>
            </a:r>
            <a:r>
              <a:rPr lang="en-US" sz="1600" err="1">
                <a:solidFill>
                  <a:schemeClr val="bg1"/>
                </a:solidFill>
                <a:latin typeface="Consolas"/>
                <a:ea typeface="+mn-lt"/>
                <a:cs typeface="+mn-lt"/>
              </a:rPr>
              <a:t>dbt</a:t>
            </a:r>
            <a:r>
              <a:rPr lang="en-US" sz="1600">
                <a:solidFill>
                  <a:schemeClr val="bg1"/>
                </a:solidFill>
                <a:latin typeface="Consolas"/>
                <a:ea typeface="+mn-lt"/>
                <a:cs typeface="+mn-lt"/>
              </a:rPr>
              <a:t> ref</a:t>
            </a:r>
            <a:r>
              <a:rPr lang="en-US" sz="1600">
                <a:solidFill>
                  <a:schemeClr val="bg1"/>
                </a:solidFill>
                <a:ea typeface="+mn-lt"/>
                <a:cs typeface="+mn-lt"/>
              </a:rPr>
              <a:t>, job outputs). Apply synonyms and known rename rules only if deterministic links fail.</a:t>
            </a:r>
          </a:p>
          <a:p>
            <a:pPr marL="800100" lvl="1" indent="-342900">
              <a:buFont typeface="+mj-lt"/>
              <a:buAutoNum type="alphaLcParenR"/>
              <a:tabLst>
                <a:tab pos="457200" algn="l"/>
              </a:tabLst>
              <a:defRPr/>
            </a:pPr>
            <a:r>
              <a:rPr lang="en-US" sz="1600">
                <a:solidFill>
                  <a:schemeClr val="bg1"/>
                </a:solidFill>
                <a:ea typeface="+mn-lt"/>
                <a:cs typeface="+mn-lt"/>
              </a:rPr>
              <a:t>Conflict Handling: Flag over‑stitches (multiple possible sources) and under‑stitches (islands). Provide proposed fixes and confidence for each edge.</a:t>
            </a:r>
          </a:p>
          <a:p>
            <a:pPr marL="800100" lvl="1" indent="-342900">
              <a:buFont typeface="+mj-lt"/>
              <a:buAutoNum type="alphaLcParenR"/>
              <a:tabLst>
                <a:tab pos="457200" algn="l"/>
              </a:tabLst>
              <a:defRPr/>
            </a:pPr>
            <a:r>
              <a:rPr lang="en-US" sz="1600">
                <a:solidFill>
                  <a:schemeClr val="bg1"/>
                </a:solidFill>
                <a:ea typeface="+mn-lt"/>
                <a:cs typeface="+mn-lt"/>
              </a:rPr>
              <a:t>Completeness Checks: Ensure start (ingest) and end (consumption) nodes exist for critical paths; list gaps.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loads into the </a:t>
            </a:r>
            <a:r>
              <a:rPr lang="en-US" sz="1600">
                <a:solidFill>
                  <a:srgbClr val="FFC000"/>
                </a:solidFill>
                <a:ea typeface="+mn-lt"/>
                <a:cs typeface="+mn-lt"/>
              </a:rPr>
              <a:t>LLM:</a:t>
            </a:r>
          </a:p>
          <a:p>
            <a:pPr marL="800100" lvl="1" indent="-342900">
              <a:buFont typeface="+mj-lt"/>
              <a:buAutoNum type="alphaLcParenR"/>
              <a:tabLst>
                <a:tab pos="457200" algn="l"/>
              </a:tabLst>
              <a:defRPr/>
            </a:pPr>
            <a:r>
              <a:rPr lang="en-US" sz="1600">
                <a:solidFill>
                  <a:schemeClr val="bg1"/>
                </a:solidFill>
                <a:ea typeface="+mn-lt"/>
                <a:cs typeface="+mn-lt"/>
              </a:rPr>
              <a:t>stitching precedence (contracts/ref() → qualified names → synonyms → fuzzy)</a:t>
            </a:r>
          </a:p>
          <a:p>
            <a:pPr marL="800100" lvl="1" indent="-342900">
              <a:buFont typeface="+mj-lt"/>
              <a:buAutoNum type="alphaLcParenR"/>
              <a:tabLst>
                <a:tab pos="457200" algn="l"/>
              </a:tabLst>
              <a:defRPr/>
            </a:pPr>
            <a:r>
              <a:rPr lang="en-US" sz="1600">
                <a:solidFill>
                  <a:schemeClr val="bg1"/>
                </a:solidFill>
                <a:ea typeface="+mn-lt"/>
                <a:cs typeface="+mn-lt"/>
              </a:rPr>
              <a:t>rename history and cross‑system ID concordance</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b="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captures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p>
          <a:p>
            <a:pPr marL="800100" lvl="1" indent="-342900">
              <a:buFont typeface="+mj-lt"/>
              <a:buAutoNum type="alphaLcParenR"/>
              <a:tabLst>
                <a:tab pos="457200" algn="l"/>
              </a:tabLst>
              <a:defRPr/>
            </a:pPr>
            <a:r>
              <a:rPr lang="en-US" sz="1600">
                <a:solidFill>
                  <a:schemeClr val="bg1"/>
                </a:solidFill>
                <a:ea typeface="+mn-lt"/>
                <a:cs typeface="+mn-lt"/>
              </a:rPr>
              <a:t>stitched nodes/edges with confidence and conflict notes</a:t>
            </a:r>
          </a:p>
          <a:p>
            <a:pPr marL="800100" lvl="1" indent="-342900">
              <a:buFont typeface="+mj-lt"/>
              <a:buAutoNum type="alphaLcParenR"/>
              <a:tabLst>
                <a:tab pos="457200" algn="l"/>
              </a:tabLst>
              <a:defRPr/>
            </a:pPr>
            <a:r>
              <a:rPr lang="en-US" sz="1600">
                <a:solidFill>
                  <a:schemeClr val="bg1"/>
                </a:solidFill>
                <a:ea typeface="+mn-lt"/>
                <a:cs typeface="+mn-lt"/>
              </a:rPr>
              <a:t>list of islands (unstitched fragments) with proposed fixes</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stitched paths correctly traverse ingest → staging → marts → BI for priority domains.</a:t>
            </a:r>
          </a:p>
        </p:txBody>
      </p:sp>
    </p:spTree>
    <p:extLst>
      <p:ext uri="{BB962C8B-B14F-4D97-AF65-F5344CB8AC3E}">
        <p14:creationId xmlns:p14="http://schemas.microsoft.com/office/powerpoint/2010/main" val="2539485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9715B9-D9D5-ECA4-1582-996A3C8BD93E}"/>
              </a:ext>
            </a:extLst>
          </p:cNvPr>
          <p:cNvSpPr>
            <a:spLocks noGrp="1"/>
          </p:cNvSpPr>
          <p:nvPr>
            <p:ph type="body" sz="quarter" idx="10"/>
          </p:nvPr>
        </p:nvSpPr>
        <p:spPr>
          <a:xfrm>
            <a:off x="480229" y="1083044"/>
            <a:ext cx="11406187" cy="4951413"/>
          </a:xfrm>
        </p:spPr>
        <p:txBody>
          <a:bodyPr vert="horz" lIns="0" tIns="0" rIns="0" bIns="0" rtlCol="0" anchor="t">
            <a:noAutofit/>
          </a:bodyPr>
          <a:lstStyle/>
          <a:p>
            <a:pPr>
              <a:spcAft>
                <a:spcPts val="0"/>
              </a:spcAft>
              <a:tabLst>
                <a:tab pos="457200" algn="l"/>
              </a:tabLst>
              <a:defRPr/>
            </a:pPr>
            <a:r>
              <a:rPr lang="en-US" sz="1600" b="1">
                <a:latin typeface="+mn-lt"/>
                <a:ea typeface="+mn-lt"/>
                <a:cs typeface="+mn-lt"/>
              </a:rPr>
              <a:t>Motivation:</a:t>
            </a:r>
            <a:r>
              <a:rPr lang="en-US" sz="1600">
                <a:latin typeface="+mn-lt"/>
                <a:ea typeface="+mn-lt"/>
                <a:cs typeface="+mn-lt"/>
              </a:rPr>
              <a:t> Visuals accelerate validation and executive understanding.</a:t>
            </a:r>
            <a:endParaRPr lang="en-US" sz="1600">
              <a:latin typeface="+mn-lt"/>
            </a:endParaRPr>
          </a:p>
          <a:p>
            <a:pPr>
              <a:spcAft>
                <a:spcPts val="0"/>
              </a:spcAft>
              <a:tabLst>
                <a:tab pos="457200" algn="l"/>
              </a:tabLst>
              <a:defRPr/>
            </a:pPr>
            <a:endParaRPr lang="en-US" sz="1600">
              <a:latin typeface="+mn-lt"/>
              <a:ea typeface="+mn-lt"/>
              <a:cs typeface="+mn-lt"/>
            </a:endParaRPr>
          </a:p>
          <a:p>
            <a:pPr marL="342900" indent="-342900">
              <a:spcAft>
                <a:spcPts val="0"/>
              </a:spcAft>
              <a:buFont typeface="+mj-lt"/>
              <a:buAutoNum type="arabicPeriod"/>
              <a:tabLst>
                <a:tab pos="457200" algn="l"/>
              </a:tabLst>
              <a:defRPr/>
            </a:pPr>
            <a:r>
              <a:rPr lang="en-US" sz="1600">
                <a:solidFill>
                  <a:srgbClr val="FF0000"/>
                </a:solidFill>
                <a:latin typeface="+mn-lt"/>
              </a:rPr>
              <a:t>CG team </a:t>
            </a:r>
            <a:r>
              <a:rPr lang="en-US" sz="1600">
                <a:latin typeface="+mn-lt"/>
                <a:ea typeface="+mn-lt"/>
                <a:cs typeface="+mn-lt"/>
              </a:rPr>
              <a:t>directs </a:t>
            </a:r>
            <a:r>
              <a:rPr lang="en-US" sz="1600">
                <a:solidFill>
                  <a:srgbClr val="00B0F0"/>
                </a:solidFill>
                <a:latin typeface="+mn-lt"/>
                <a:ea typeface="+mn-lt"/>
                <a:cs typeface="+mn-lt"/>
              </a:rPr>
              <a:t>Agent 4</a:t>
            </a:r>
            <a:r>
              <a:rPr lang="en-US" sz="1600">
                <a:latin typeface="+mn-lt"/>
                <a:ea typeface="+mn-lt"/>
                <a:cs typeface="+mn-lt"/>
              </a:rPr>
              <a:t> to render readable visuals and link them back to mappings and sources:</a:t>
            </a:r>
            <a:endParaRPr lang="en-US" sz="1600">
              <a:latin typeface="+mn-lt"/>
            </a:endParaRPr>
          </a:p>
          <a:p>
            <a:pPr marL="342900" indent="-342900">
              <a:spcAft>
                <a:spcPts val="0"/>
              </a:spcAft>
              <a:buFont typeface="+mj-lt"/>
              <a:buAutoNum type="arabicPeriod"/>
              <a:tabLst>
                <a:tab pos="457200" algn="l"/>
              </a:tabLst>
              <a:defRPr/>
            </a:pPr>
            <a:r>
              <a:rPr lang="en-US" sz="1600">
                <a:solidFill>
                  <a:srgbClr val="FF0000"/>
                </a:solidFill>
                <a:latin typeface="+mn-lt"/>
              </a:rPr>
              <a:t>CG team</a:t>
            </a:r>
            <a:endParaRPr lang="en-US" sz="1600">
              <a:latin typeface="+mn-lt"/>
              <a:ea typeface="+mn-lt"/>
              <a:cs typeface="+mn-lt"/>
            </a:endParaRPr>
          </a:p>
          <a:p>
            <a:pPr marL="527050" lvl="2" indent="-342900">
              <a:spcAft>
                <a:spcPts val="0"/>
              </a:spcAft>
              <a:buFont typeface="+mj-lt"/>
              <a:buAutoNum type="alphaLcParenR"/>
              <a:tabLst>
                <a:tab pos="457200" algn="l"/>
              </a:tabLst>
              <a:defRPr/>
            </a:pPr>
            <a:r>
              <a:rPr lang="en-US">
                <a:latin typeface="+mn-lt"/>
                <a:ea typeface="+mn-lt"/>
                <a:cs typeface="+mn-lt"/>
              </a:rPr>
              <a:t>Produce Multiple Diagram Formats: </a:t>
            </a:r>
            <a:endParaRPr lang="en-US">
              <a:latin typeface="+mn-lt"/>
            </a:endParaRPr>
          </a:p>
          <a:p>
            <a:pPr marL="882650" lvl="3" indent="-342900">
              <a:spcAft>
                <a:spcPts val="0"/>
              </a:spcAft>
              <a:tabLst>
                <a:tab pos="457200" algn="l"/>
              </a:tabLst>
              <a:defRPr/>
            </a:pPr>
            <a:r>
              <a:rPr lang="en-US" sz="1600">
                <a:latin typeface="+mn-lt"/>
                <a:ea typeface="+mn-lt"/>
                <a:cs typeface="+mn-lt"/>
              </a:rPr>
              <a:t>Mermaid (docs), </a:t>
            </a:r>
            <a:r>
              <a:rPr lang="en-US" sz="1600" err="1">
                <a:latin typeface="+mn-lt"/>
                <a:ea typeface="+mn-lt"/>
                <a:cs typeface="+mn-lt"/>
              </a:rPr>
              <a:t>Graphviz</a:t>
            </a:r>
            <a:r>
              <a:rPr lang="en-US" sz="1600">
                <a:latin typeface="+mn-lt"/>
                <a:ea typeface="+mn-lt"/>
                <a:cs typeface="+mn-lt"/>
              </a:rPr>
              <a:t> DOT (dev), and Draw.io / Eraser.</a:t>
            </a:r>
            <a:endParaRPr lang="en-US" sz="1600">
              <a:latin typeface="+mn-lt"/>
            </a:endParaRPr>
          </a:p>
          <a:p>
            <a:pPr marL="882650" lvl="3" indent="-342900">
              <a:spcAft>
                <a:spcPts val="0"/>
              </a:spcAft>
              <a:tabLst>
                <a:tab pos="457200" algn="l"/>
              </a:tabLst>
              <a:defRPr/>
            </a:pPr>
            <a:r>
              <a:rPr lang="en-US" sz="1600">
                <a:latin typeface="+mn-lt"/>
                <a:ea typeface="+mn-lt"/>
                <a:cs typeface="+mn-lt"/>
              </a:rPr>
              <a:t>Ensure node labels show owner, domain, sensitivity, and confidence.</a:t>
            </a:r>
            <a:endParaRPr lang="en-US" sz="1600">
              <a:latin typeface="+mn-lt"/>
            </a:endParaRPr>
          </a:p>
          <a:p>
            <a:pPr marL="527050" lvl="2" indent="-342900">
              <a:spcAft>
                <a:spcPts val="0"/>
              </a:spcAft>
              <a:buFont typeface="+mj-lt"/>
              <a:buAutoNum type="alphaLcParenR"/>
              <a:tabLst>
                <a:tab pos="457200" algn="l"/>
              </a:tabLst>
              <a:defRPr/>
            </a:pPr>
            <a:r>
              <a:rPr lang="en-US">
                <a:latin typeface="+mn-lt"/>
                <a:ea typeface="+mn-lt"/>
                <a:cs typeface="+mn-lt"/>
              </a:rPr>
              <a:t>Layout &amp; Readability</a:t>
            </a:r>
            <a:endParaRPr lang="en-US">
              <a:latin typeface="+mn-lt"/>
            </a:endParaRPr>
          </a:p>
          <a:p>
            <a:pPr marL="882650" lvl="3" indent="-342900">
              <a:spcAft>
                <a:spcPts val="0"/>
              </a:spcAft>
              <a:tabLst>
                <a:tab pos="457200" algn="l"/>
              </a:tabLst>
              <a:defRPr/>
            </a:pPr>
            <a:r>
              <a:rPr lang="en-US" sz="1600">
                <a:latin typeface="+mn-lt"/>
                <a:ea typeface="+mn-lt"/>
                <a:cs typeface="+mn-lt"/>
              </a:rPr>
              <a:t>Group by domain/layer (ingest → staging → marts → BI).</a:t>
            </a:r>
            <a:endParaRPr lang="en-US" sz="1600">
              <a:latin typeface="+mn-lt"/>
            </a:endParaRPr>
          </a:p>
          <a:p>
            <a:pPr marL="882650" lvl="3" indent="-342900">
              <a:spcAft>
                <a:spcPts val="0"/>
              </a:spcAft>
              <a:tabLst>
                <a:tab pos="457200" algn="l"/>
              </a:tabLst>
              <a:defRPr/>
            </a:pPr>
            <a:r>
              <a:rPr lang="en-US" sz="1600">
                <a:latin typeface="+mn-lt"/>
                <a:ea typeface="+mn-lt"/>
                <a:cs typeface="+mn-lt"/>
              </a:rPr>
              <a:t>Collapse noisy edges; allow drill‑down for column‑level detail.</a:t>
            </a:r>
            <a:endParaRPr lang="en-US" sz="1600">
              <a:latin typeface="+mn-lt"/>
            </a:endParaRPr>
          </a:p>
          <a:p>
            <a:pPr marL="527050" lvl="2" indent="-342900">
              <a:spcAft>
                <a:spcPts val="0"/>
              </a:spcAft>
              <a:buFont typeface="+mj-lt"/>
              <a:buAutoNum type="alphaLcParenR"/>
              <a:tabLst>
                <a:tab pos="457200" algn="l"/>
              </a:tabLst>
              <a:defRPr/>
            </a:pPr>
            <a:r>
              <a:rPr lang="en-US">
                <a:latin typeface="+mn-lt"/>
                <a:ea typeface="+mn-lt"/>
                <a:cs typeface="+mn-lt"/>
              </a:rPr>
              <a:t>Link‑Backs</a:t>
            </a:r>
            <a:endParaRPr lang="en-US">
              <a:latin typeface="+mn-lt"/>
            </a:endParaRPr>
          </a:p>
          <a:p>
            <a:pPr marL="882650" lvl="3" indent="-342900">
              <a:spcAft>
                <a:spcPts val="0"/>
              </a:spcAft>
              <a:tabLst>
                <a:tab pos="457200" algn="l"/>
              </a:tabLst>
              <a:defRPr/>
            </a:pPr>
            <a:r>
              <a:rPr lang="en-US" sz="1600">
                <a:latin typeface="+mn-lt"/>
                <a:ea typeface="+mn-lt"/>
                <a:cs typeface="+mn-lt"/>
              </a:rPr>
              <a:t>Each node/edge links to the mapping JSON row and source artifact line numbers.</a:t>
            </a:r>
            <a:endParaRPr lang="en-US" sz="1600">
              <a:latin typeface="+mn-lt"/>
            </a:endParaRPr>
          </a:p>
          <a:p>
            <a:pPr marL="342900" indent="-342900">
              <a:spcAft>
                <a:spcPts val="0"/>
              </a:spcAft>
              <a:buFont typeface="+mj-lt"/>
              <a:buAutoNum type="arabicPeriod"/>
              <a:tabLst>
                <a:tab pos="457200" algn="l"/>
              </a:tabLst>
              <a:defRPr/>
            </a:pPr>
            <a:r>
              <a:rPr lang="en-US" sz="1600">
                <a:solidFill>
                  <a:srgbClr val="FF0000"/>
                </a:solidFill>
                <a:latin typeface="+mn-lt"/>
              </a:rPr>
              <a:t>CG team</a:t>
            </a:r>
            <a:r>
              <a:rPr lang="en-US" sz="1600">
                <a:latin typeface="+mn-lt"/>
                <a:ea typeface="+mn-lt"/>
                <a:cs typeface="+mn-lt"/>
              </a:rPr>
              <a:t> captures from the </a:t>
            </a:r>
            <a:r>
              <a:rPr lang="en-US" sz="1600">
                <a:solidFill>
                  <a:srgbClr val="FFC000"/>
                </a:solidFill>
                <a:latin typeface="+mn-lt"/>
                <a:ea typeface="+mn-lt"/>
                <a:cs typeface="+mn-lt"/>
              </a:rPr>
              <a:t>LLM: </a:t>
            </a:r>
            <a:r>
              <a:rPr lang="en-US" sz="1600">
                <a:latin typeface="+mn-lt"/>
                <a:ea typeface="+mn-lt"/>
                <a:cs typeface="+mn-lt"/>
              </a:rPr>
              <a:t>Mermaid and Graphviz DOT exports for documentation/engineering</a:t>
            </a:r>
          </a:p>
          <a:p>
            <a:pPr marL="800100" lvl="1" indent="-342900">
              <a:spcAft>
                <a:spcPts val="0"/>
              </a:spcAft>
              <a:buFont typeface="+mj-lt"/>
              <a:buAutoNum type="alphaLcParenR"/>
              <a:tabLst>
                <a:tab pos="457200" algn="l"/>
              </a:tabLst>
              <a:defRPr/>
            </a:pPr>
            <a:r>
              <a:rPr lang="en-US" sz="1600">
                <a:ea typeface="+mn-lt"/>
                <a:cs typeface="+mn-lt"/>
              </a:rPr>
              <a:t>Mermaid and Graphviz DOT exports for documentation/engineering </a:t>
            </a:r>
          </a:p>
          <a:p>
            <a:pPr marL="800100" lvl="1" indent="-342900">
              <a:spcAft>
                <a:spcPts val="0"/>
              </a:spcAft>
              <a:buFont typeface="+mj-lt"/>
              <a:buAutoNum type="alphaLcParenR"/>
              <a:tabLst>
                <a:tab pos="457200" algn="l"/>
              </a:tabLst>
              <a:defRPr/>
            </a:pPr>
            <a:r>
              <a:rPr lang="en-US" sz="1600">
                <a:latin typeface="+mn-lt"/>
                <a:ea typeface="+mn-lt"/>
                <a:cs typeface="+mn-lt"/>
              </a:rPr>
              <a:t>Draw.io / Eraser exports aligned to team tools</a:t>
            </a:r>
          </a:p>
          <a:p>
            <a:pPr marL="800100" lvl="1" indent="-342900">
              <a:spcAft>
                <a:spcPts val="0"/>
              </a:spcAft>
              <a:buFont typeface="+mj-lt"/>
              <a:buAutoNum type="alphaLcParenR"/>
              <a:tabLst>
                <a:tab pos="457200" algn="l"/>
              </a:tabLst>
              <a:defRPr/>
            </a:pPr>
            <a:r>
              <a:rPr lang="en-US" sz="1600">
                <a:latin typeface="+mn-lt"/>
                <a:ea typeface="+mn-lt"/>
                <a:cs typeface="+mn-lt"/>
              </a:rPr>
              <a:t>labels including owner, domain, sensitivity, and confidence; links to source lines</a:t>
            </a:r>
          </a:p>
          <a:p>
            <a:pPr marL="342900" indent="-342900">
              <a:spcAft>
                <a:spcPts val="0"/>
              </a:spcAft>
              <a:buFont typeface="+mj-lt"/>
              <a:buAutoNum type="arabicPeriod"/>
              <a:tabLst>
                <a:tab pos="457200" algn="l"/>
              </a:tabLst>
              <a:defRPr/>
            </a:pPr>
            <a:r>
              <a:rPr lang="en-US" sz="1600">
                <a:solidFill>
                  <a:srgbClr val="FF0000"/>
                </a:solidFill>
                <a:latin typeface="+mn-lt"/>
              </a:rPr>
              <a:t>CG team </a:t>
            </a:r>
            <a:r>
              <a:rPr lang="en-US" sz="1600">
                <a:latin typeface="+mn-lt"/>
                <a:ea typeface="+mn-lt"/>
                <a:cs typeface="+mn-lt"/>
              </a:rPr>
              <a:t>tests if visuals are navigable, grouped by layers/domains, and support drill‑down to column level where needed.</a:t>
            </a:r>
            <a:endParaRPr lang="en-US" sz="1600">
              <a:latin typeface="+mn-lt"/>
            </a:endParaRPr>
          </a:p>
        </p:txBody>
      </p:sp>
      <p:sp>
        <p:nvSpPr>
          <p:cNvPr id="3" name="Title 2">
            <a:extLst>
              <a:ext uri="{FF2B5EF4-FFF2-40B4-BE49-F238E27FC236}">
                <a16:creationId xmlns:a16="http://schemas.microsoft.com/office/drawing/2014/main" id="{09A66A89-5C19-DA2B-DA02-4889A5DB25BE}"/>
              </a:ext>
            </a:extLst>
          </p:cNvPr>
          <p:cNvSpPr>
            <a:spLocks noGrp="1"/>
          </p:cNvSpPr>
          <p:nvPr>
            <p:ph type="title"/>
          </p:nvPr>
        </p:nvSpPr>
        <p:spPr>
          <a:xfrm>
            <a:off x="480229" y="397615"/>
            <a:ext cx="10947772" cy="716711"/>
          </a:xfrm>
        </p:spPr>
        <p:txBody>
          <a:bodyPr/>
          <a:lstStyle/>
          <a:p>
            <a:r>
              <a:rPr lang="en-US" cap="none">
                <a:ea typeface="+mj-lt"/>
                <a:cs typeface="+mj-lt"/>
              </a:rPr>
              <a:t>Step 11: Agent 4 — Generate Visuals for Validation &amp; Communication</a:t>
            </a:r>
            <a:endParaRPr lang="en-US" cap="none"/>
          </a:p>
        </p:txBody>
      </p:sp>
    </p:spTree>
    <p:extLst>
      <p:ext uri="{BB962C8B-B14F-4D97-AF65-F5344CB8AC3E}">
        <p14:creationId xmlns:p14="http://schemas.microsoft.com/office/powerpoint/2010/main" val="2938664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1B2118-5A32-76E2-8A5C-81D995ADCDCA}"/>
              </a:ext>
            </a:extLst>
          </p:cNvPr>
          <p:cNvSpPr>
            <a:spLocks noGrp="1"/>
          </p:cNvSpPr>
          <p:nvPr>
            <p:ph type="body" sz="quarter" idx="10"/>
          </p:nvPr>
        </p:nvSpPr>
        <p:spPr>
          <a:xfrm>
            <a:off x="480228" y="1101898"/>
            <a:ext cx="11406187" cy="4951413"/>
          </a:xfrm>
        </p:spPr>
        <p:txBody>
          <a:bodyPr vert="horz" lIns="0" tIns="0" rIns="0" bIns="0" rtlCol="0" anchor="t">
            <a:normAutofit/>
          </a:bodyPr>
          <a:lstStyle/>
          <a:p>
            <a:pPr>
              <a:spcAft>
                <a:spcPts val="0"/>
              </a:spcAft>
              <a:tabLst>
                <a:tab pos="457200" algn="l"/>
              </a:tabLst>
              <a:defRPr/>
            </a:pPr>
            <a:r>
              <a:rPr lang="en-US" sz="1600" b="1">
                <a:latin typeface="+mn-lt"/>
                <a:ea typeface="+mn-lt"/>
                <a:cs typeface="+mn-lt"/>
              </a:rPr>
              <a:t>Motivation:</a:t>
            </a:r>
            <a:r>
              <a:rPr lang="en-US" sz="1600">
                <a:latin typeface="+mn-lt"/>
                <a:ea typeface="+mn-lt"/>
                <a:cs typeface="+mn-lt"/>
              </a:rPr>
              <a:t> Make lineage actionable. Put it where people discover and govern data.</a:t>
            </a:r>
            <a:endParaRPr lang="en-US" sz="1600"/>
          </a:p>
          <a:p>
            <a:pPr>
              <a:spcAft>
                <a:spcPts val="0"/>
              </a:spcAft>
              <a:tabLst>
                <a:tab pos="457200" algn="l"/>
              </a:tabLst>
              <a:defRPr/>
            </a:pPr>
            <a:endParaRPr lang="en-US" sz="1600">
              <a:latin typeface="+mn-lt"/>
              <a:ea typeface="+mn-lt"/>
              <a:cs typeface="+mn-lt"/>
            </a:endParaRPr>
          </a:p>
          <a:p>
            <a:pPr marL="342900" indent="-342900">
              <a:spcAft>
                <a:spcPts val="0"/>
              </a:spcAft>
              <a:buFont typeface="+mj-lt"/>
              <a:buAutoNum type="arabicPeriod"/>
              <a:tabLst>
                <a:tab pos="457200" algn="l"/>
              </a:tabLst>
              <a:defRPr/>
            </a:pPr>
            <a:r>
              <a:rPr lang="en-US" sz="1600">
                <a:solidFill>
                  <a:srgbClr val="FF0000"/>
                </a:solidFill>
                <a:latin typeface="+mn-lt"/>
              </a:rPr>
              <a:t>CG team </a:t>
            </a:r>
            <a:r>
              <a:rPr lang="en-US" sz="1600">
                <a:latin typeface="+mn-lt"/>
                <a:ea typeface="+mn-lt"/>
                <a:cs typeface="+mn-lt"/>
              </a:rPr>
              <a:t>authorizes </a:t>
            </a:r>
            <a:r>
              <a:rPr lang="en-US" sz="1600">
                <a:solidFill>
                  <a:srgbClr val="00B0F0"/>
                </a:solidFill>
                <a:latin typeface="+mn-lt"/>
                <a:ea typeface="+mn-lt"/>
                <a:cs typeface="+mn-lt"/>
              </a:rPr>
              <a:t>Agent 5</a:t>
            </a:r>
            <a:r>
              <a:rPr lang="en-US" sz="1600">
                <a:latin typeface="+mn-lt"/>
                <a:ea typeface="+mn-lt"/>
                <a:cs typeface="+mn-lt"/>
              </a:rPr>
              <a:t> to load approved lineage artifacts into the catalog and link to governance metadata; apply trust annotations and version tags:</a:t>
            </a:r>
          </a:p>
          <a:p>
            <a:pPr marL="704850" lvl="2" indent="-342900">
              <a:spcAft>
                <a:spcPts val="0"/>
              </a:spcAft>
              <a:buFont typeface="+mj-lt"/>
              <a:buAutoNum type="alphaLcParenR"/>
              <a:tabLst>
                <a:tab pos="457200" algn="l"/>
              </a:tabLst>
              <a:defRPr/>
            </a:pPr>
            <a:r>
              <a:rPr lang="en-US">
                <a:latin typeface="+mn-lt"/>
                <a:ea typeface="+mn-lt"/>
                <a:cs typeface="+mn-lt"/>
              </a:rPr>
              <a:t>Catalog Load (Manual‑first if needed): Post approved mappings and graphs; attach business glossary, contracts, and DQ rules.</a:t>
            </a:r>
          </a:p>
          <a:p>
            <a:pPr marL="704850" lvl="2" indent="-342900">
              <a:spcAft>
                <a:spcPts val="0"/>
              </a:spcAft>
              <a:buFont typeface="+mj-lt"/>
              <a:buAutoNum type="alphaLcParenR"/>
              <a:tabLst>
                <a:tab pos="457200" algn="l"/>
              </a:tabLst>
              <a:defRPr/>
            </a:pPr>
            <a:r>
              <a:rPr lang="en-US">
                <a:latin typeface="+mn-lt"/>
                <a:ea typeface="+mn-lt"/>
                <a:cs typeface="+mn-lt"/>
              </a:rPr>
              <a:t>Cross‑Linking: Connect datasets to owners, policies, SLAs, access groups, and quality monitors.</a:t>
            </a:r>
          </a:p>
          <a:p>
            <a:pPr marL="704850" lvl="2" indent="-342900">
              <a:spcAft>
                <a:spcPts val="0"/>
              </a:spcAft>
              <a:buFont typeface="+mj-lt"/>
              <a:buAutoNum type="alphaLcParenR"/>
              <a:tabLst>
                <a:tab pos="457200" algn="l"/>
              </a:tabLst>
              <a:defRPr/>
            </a:pPr>
            <a:r>
              <a:rPr lang="en-US">
                <a:latin typeface="+mn-lt"/>
                <a:ea typeface="+mn-lt"/>
                <a:cs typeface="+mn-lt"/>
              </a:rPr>
              <a:t>Release Management: Version artifacts (e.g., lineage-customer-2025-10-30); store changelog and approvals.</a:t>
            </a:r>
          </a:p>
          <a:p>
            <a:pPr marL="342900" indent="-342900">
              <a:spcAft>
                <a:spcPts val="0"/>
              </a:spcAft>
              <a:buFont typeface="+mj-lt"/>
              <a:buAutoNum type="arabicPeriod"/>
              <a:tabLst>
                <a:tab pos="457200" algn="l"/>
              </a:tabLst>
              <a:defRPr/>
            </a:pPr>
            <a:r>
              <a:rPr lang="en-US" sz="1600">
                <a:solidFill>
                  <a:srgbClr val="FF0000"/>
                </a:solidFill>
                <a:latin typeface="+mn-lt"/>
              </a:rPr>
              <a:t>CG team</a:t>
            </a:r>
            <a:r>
              <a:rPr lang="en-US" sz="1600">
                <a:latin typeface="+mn-lt"/>
                <a:ea typeface="+mn-lt"/>
                <a:cs typeface="+mn-lt"/>
              </a:rPr>
              <a:t> loads into the </a:t>
            </a:r>
            <a:r>
              <a:rPr lang="en-US" sz="1600">
                <a:solidFill>
                  <a:srgbClr val="FFC000"/>
                </a:solidFill>
                <a:latin typeface="+mn-lt"/>
                <a:ea typeface="+mn-lt"/>
                <a:cs typeface="+mn-lt"/>
              </a:rPr>
              <a:t>LLM:</a:t>
            </a:r>
            <a:r>
              <a:rPr lang="en-US" sz="1600">
                <a:latin typeface="+mn-lt"/>
                <a:ea typeface="+mn-lt"/>
                <a:cs typeface="+mn-lt"/>
              </a:rPr>
              <a:t> catalog object models and publishing conventions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b="0" i="0" u="none" strike="noStrike" kern="1200" cap="none" spc="0" normalizeH="0" baseline="0" noProof="0">
                <a:ln>
                  <a:noFill/>
                </a:ln>
                <a:solidFill>
                  <a:srgbClr val="FF0000"/>
                </a:solidFill>
                <a:effectLst/>
                <a:uLnTx/>
                <a:uFillTx/>
                <a:latin typeface="Ubuntu"/>
                <a:ea typeface="+mn-ea"/>
                <a:cs typeface="+mn-cs"/>
              </a:rPr>
              <a:t>CG team</a:t>
            </a:r>
            <a:r>
              <a:rPr lang="en-US" sz="1600">
                <a:latin typeface="+mn-lt"/>
                <a:ea typeface="+mn-lt"/>
                <a:cs typeface="+mn-lt"/>
              </a:rPr>
              <a:t> captures from the </a:t>
            </a:r>
            <a:r>
              <a:rPr lang="en-US" sz="1600">
                <a:solidFill>
                  <a:srgbClr val="FFC000"/>
                </a:solidFill>
                <a:latin typeface="+mn-lt"/>
                <a:ea typeface="+mn-lt"/>
                <a:cs typeface="+mn-lt"/>
              </a:rPr>
              <a:t>LLM:</a:t>
            </a:r>
          </a:p>
          <a:p>
            <a:pPr marL="704850" lvl="2" indent="-342900">
              <a:spcAft>
                <a:spcPts val="0"/>
              </a:spcAft>
              <a:buFont typeface="+mj-lt"/>
              <a:buAutoNum type="alphaLcParenR"/>
              <a:tabLst>
                <a:tab pos="457200" algn="l"/>
              </a:tabLst>
              <a:defRPr/>
            </a:pPr>
            <a:r>
              <a:rPr lang="en-US">
                <a:ea typeface="+mn-lt"/>
                <a:cs typeface="+mn-lt"/>
              </a:rPr>
              <a:t>catalog entries for datasets/jobs with lineage graphs attached </a:t>
            </a:r>
          </a:p>
          <a:p>
            <a:pPr marL="704850" lvl="2" indent="-342900">
              <a:spcAft>
                <a:spcPts val="0"/>
              </a:spcAft>
              <a:buFont typeface="+mj-lt"/>
              <a:buAutoNum type="alphaLcParenR"/>
              <a:tabLst>
                <a:tab pos="457200" algn="l"/>
              </a:tabLst>
              <a:defRPr/>
            </a:pPr>
            <a:r>
              <a:rPr lang="en-US">
                <a:latin typeface="+mn-lt"/>
                <a:ea typeface="+mn-lt"/>
                <a:cs typeface="+mn-lt"/>
              </a:rPr>
              <a:t>cross‑links to owners, policies, SLAs, access groups, and DQ rules</a:t>
            </a:r>
          </a:p>
          <a:p>
            <a:pPr marL="342900" indent="-342900">
              <a:spcAft>
                <a:spcPts val="0"/>
              </a:spcAft>
              <a:buFont typeface="+mj-lt"/>
              <a:buAutoNum type="arabicPeriod"/>
              <a:tabLst>
                <a:tab pos="457200" algn="l"/>
              </a:tabLst>
              <a:defRPr/>
            </a:pPr>
            <a:r>
              <a:rPr lang="en-US" sz="1600">
                <a:solidFill>
                  <a:srgbClr val="FF0000"/>
                </a:solidFill>
                <a:latin typeface="+mn-lt"/>
              </a:rPr>
              <a:t>CG team </a:t>
            </a:r>
            <a:r>
              <a:rPr lang="en-US" sz="1600">
                <a:latin typeface="+mn-lt"/>
                <a:ea typeface="+mn-lt"/>
                <a:cs typeface="+mn-lt"/>
              </a:rPr>
              <a:t>tests if published assets appear in catalog search with lineage, ownership, and policy links intact.</a:t>
            </a:r>
          </a:p>
        </p:txBody>
      </p:sp>
      <p:sp>
        <p:nvSpPr>
          <p:cNvPr id="3" name="Title 2">
            <a:extLst>
              <a:ext uri="{FF2B5EF4-FFF2-40B4-BE49-F238E27FC236}">
                <a16:creationId xmlns:a16="http://schemas.microsoft.com/office/drawing/2014/main" id="{57A2CF3F-7795-1D02-CF2B-B87FE228041C}"/>
              </a:ext>
            </a:extLst>
          </p:cNvPr>
          <p:cNvSpPr>
            <a:spLocks noGrp="1"/>
          </p:cNvSpPr>
          <p:nvPr>
            <p:ph type="title"/>
          </p:nvPr>
        </p:nvSpPr>
        <p:spPr>
          <a:xfrm>
            <a:off x="480228" y="397615"/>
            <a:ext cx="10947772" cy="716711"/>
          </a:xfrm>
        </p:spPr>
        <p:txBody>
          <a:bodyPr/>
          <a:lstStyle/>
          <a:p>
            <a:r>
              <a:rPr lang="en-US" cap="none">
                <a:ea typeface="+mj-lt"/>
                <a:cs typeface="+mj-lt"/>
              </a:rPr>
              <a:t>Step 12: Agent 5 — Publish to the Catalog &amp; Cross‑Link Assets</a:t>
            </a:r>
            <a:endParaRPr lang="en-US" cap="none"/>
          </a:p>
        </p:txBody>
      </p:sp>
    </p:spTree>
    <p:extLst>
      <p:ext uri="{BB962C8B-B14F-4D97-AF65-F5344CB8AC3E}">
        <p14:creationId xmlns:p14="http://schemas.microsoft.com/office/powerpoint/2010/main" val="405543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954D9-7779-B889-7708-A09E6C2CF8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C2AC95D-44F0-E0DE-C23C-EA8A3426A845}"/>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13: Approvals &amp; Governance Sign‑off</a:t>
            </a:r>
            <a:endParaRPr lang="en-US" cap="none"/>
          </a:p>
        </p:txBody>
      </p:sp>
      <p:sp>
        <p:nvSpPr>
          <p:cNvPr id="2" name="TextBox 1">
            <a:extLst>
              <a:ext uri="{FF2B5EF4-FFF2-40B4-BE49-F238E27FC236}">
                <a16:creationId xmlns:a16="http://schemas.microsoft.com/office/drawing/2014/main" id="{B39352AA-034B-4DFA-F1AB-C62F0AADFC2F}"/>
              </a:ext>
            </a:extLst>
          </p:cNvPr>
          <p:cNvSpPr txBox="1"/>
          <p:nvPr/>
        </p:nvSpPr>
        <p:spPr>
          <a:xfrm>
            <a:off x="393585" y="1022005"/>
            <a:ext cx="11382373" cy="3293209"/>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Trust is formalized through accountable approval.</a:t>
            </a:r>
            <a:endParaRPr lang="en-US" sz="1600">
              <a:solidFill>
                <a:schemeClr val="bg1"/>
              </a:solidFill>
            </a:endParaRP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runs an approval workflow where </a:t>
            </a:r>
            <a:r>
              <a:rPr lang="en-US" sz="1600">
                <a:solidFill>
                  <a:srgbClr val="00B050"/>
                </a:solidFill>
                <a:ea typeface="+mn-lt"/>
                <a:cs typeface="+mn-lt"/>
              </a:rPr>
              <a:t>SMEs/Owners </a:t>
            </a:r>
            <a:r>
              <a:rPr lang="en-US" sz="1600">
                <a:solidFill>
                  <a:schemeClr val="bg1"/>
                </a:solidFill>
                <a:ea typeface="+mn-lt"/>
                <a:cs typeface="+mn-lt"/>
              </a:rPr>
              <a:t>sign off; threshold‑based acceptance (e.g., ≥50% SME approvals or explicit Owner sign‑off):</a:t>
            </a:r>
          </a:p>
          <a:p>
            <a:pPr marL="800100" lvl="1" indent="-342900">
              <a:buFont typeface="+mj-lt"/>
              <a:buAutoNum type="alphaLcParenR"/>
              <a:tabLst>
                <a:tab pos="457200" algn="l"/>
              </a:tabLst>
              <a:defRPr/>
            </a:pPr>
            <a:r>
              <a:rPr lang="en-US" sz="1600">
                <a:solidFill>
                  <a:srgbClr val="00B050"/>
                </a:solidFill>
                <a:ea typeface="+mn-lt"/>
                <a:cs typeface="+mn-lt"/>
              </a:rPr>
              <a:t>SME &amp; Owner </a:t>
            </a:r>
            <a:r>
              <a:rPr lang="en-US" sz="1600">
                <a:solidFill>
                  <a:schemeClr val="bg1"/>
                </a:solidFill>
                <a:ea typeface="+mn-lt"/>
                <a:cs typeface="+mn-lt"/>
              </a:rPr>
              <a:t>Approval Workflow: Threshold policy (e.g., ≥50% </a:t>
            </a:r>
            <a:r>
              <a:rPr lang="en-US" sz="1600">
                <a:solidFill>
                  <a:srgbClr val="00B050"/>
                </a:solidFill>
                <a:ea typeface="+mn-lt"/>
                <a:cs typeface="+mn-lt"/>
              </a:rPr>
              <a:t>SMEs </a:t>
            </a:r>
            <a:r>
              <a:rPr lang="en-US" sz="1600">
                <a:solidFill>
                  <a:schemeClr val="bg1"/>
                </a:solidFill>
                <a:ea typeface="+mn-lt"/>
                <a:cs typeface="+mn-lt"/>
              </a:rPr>
              <a:t>respond or explicit </a:t>
            </a:r>
            <a:r>
              <a:rPr lang="en-US" sz="1600">
                <a:solidFill>
                  <a:srgbClr val="00B050"/>
                </a:solidFill>
                <a:ea typeface="+mn-lt"/>
                <a:cs typeface="+mn-lt"/>
              </a:rPr>
              <a:t>Owner </a:t>
            </a:r>
            <a:r>
              <a:rPr lang="en-US" sz="1600">
                <a:solidFill>
                  <a:schemeClr val="bg1"/>
                </a:solidFill>
                <a:ea typeface="+mn-lt"/>
                <a:cs typeface="+mn-lt"/>
              </a:rPr>
              <a:t>sign‑off). Capture digital signatures or approvals in ticketing system.</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Exception Register: Track known black boxes and accepted risks with review dates.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Audit Pack: Bundle mappings, visuals, provenance, and approval evidence for compliance.</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loads into the </a:t>
            </a:r>
            <a:r>
              <a:rPr lang="en-US" sz="1600">
                <a:solidFill>
                  <a:srgbClr val="FFC000"/>
                </a:solidFill>
                <a:ea typeface="+mn-lt"/>
                <a:cs typeface="+mn-lt"/>
              </a:rPr>
              <a:t>LLM: </a:t>
            </a:r>
            <a:r>
              <a:rPr lang="en-US" sz="1600">
                <a:solidFill>
                  <a:schemeClr val="bg1"/>
                </a:solidFill>
                <a:ea typeface="+mn-lt"/>
                <a:cs typeface="+mn-lt"/>
              </a:rPr>
              <a:t>approval matrix (RACI), thresholds, and escalation policy</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b="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captures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endParaRPr lang="en-US" sz="1600">
              <a:solidFill>
                <a:srgbClr val="FFC000"/>
              </a:solidFill>
            </a:endParaRPr>
          </a:p>
          <a:p>
            <a:pPr marL="800100" lvl="1" indent="-342900">
              <a:buFont typeface="+mj-lt"/>
              <a:buAutoNum type="alphaLcParenR"/>
              <a:tabLst>
                <a:tab pos="457200" algn="l"/>
              </a:tabLst>
              <a:defRPr/>
            </a:pPr>
            <a:r>
              <a:rPr lang="en-US" sz="1600">
                <a:solidFill>
                  <a:schemeClr val="bg1"/>
                </a:solidFill>
                <a:ea typeface="+mn-lt"/>
                <a:cs typeface="+mn-lt"/>
              </a:rPr>
              <a:t>approval requests with concise diffs and impact notes</a:t>
            </a:r>
          </a:p>
          <a:p>
            <a:pPr marL="800100" lvl="1" indent="-342900">
              <a:buFont typeface="+mj-lt"/>
              <a:buAutoNum type="alphaLcParenR"/>
              <a:tabLst>
                <a:tab pos="457200" algn="l"/>
              </a:tabLst>
              <a:defRPr/>
            </a:pPr>
            <a:r>
              <a:rPr lang="en-US" sz="1600">
                <a:solidFill>
                  <a:schemeClr val="bg1"/>
                </a:solidFill>
                <a:ea typeface="+mn-lt"/>
                <a:cs typeface="+mn-lt"/>
              </a:rPr>
              <a:t>approval ledger (who approved what, when, and why)</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approvals meet thresholds and the audit trail is complete and exportable.</a:t>
            </a:r>
          </a:p>
        </p:txBody>
      </p:sp>
    </p:spTree>
    <p:extLst>
      <p:ext uri="{BB962C8B-B14F-4D97-AF65-F5344CB8AC3E}">
        <p14:creationId xmlns:p14="http://schemas.microsoft.com/office/powerpoint/2010/main" val="2163661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6E965-2216-84AA-4098-F55E87C49E8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6EB06F9-1B5F-5F40-8F5D-3B0D70F4B35A}"/>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14: Measure Value &amp; Improve (A/B and KPIs)</a:t>
            </a:r>
            <a:endParaRPr lang="en-US" cap="none"/>
          </a:p>
        </p:txBody>
      </p:sp>
      <p:sp>
        <p:nvSpPr>
          <p:cNvPr id="2" name="TextBox 1">
            <a:extLst>
              <a:ext uri="{FF2B5EF4-FFF2-40B4-BE49-F238E27FC236}">
                <a16:creationId xmlns:a16="http://schemas.microsoft.com/office/drawing/2014/main" id="{822B8681-2222-AB3E-EFE5-E5E24BDA8394}"/>
              </a:ext>
            </a:extLst>
          </p:cNvPr>
          <p:cNvSpPr txBox="1"/>
          <p:nvPr/>
        </p:nvSpPr>
        <p:spPr>
          <a:xfrm>
            <a:off x="393585" y="1022005"/>
            <a:ext cx="11382373" cy="3539430"/>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Demonstrate value, justify scaling, and target the next bottleneck.</a:t>
            </a:r>
            <a:endParaRPr lang="en-US" sz="1600">
              <a:solidFill>
                <a:schemeClr val="bg1"/>
              </a:solidFill>
            </a:endParaRP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measures time/effort savings, precision/recall, and completeness; use results to refine prompts, rules, and examples:</a:t>
            </a:r>
          </a:p>
          <a:p>
            <a:pPr marL="800100" lvl="1" indent="-342900">
              <a:buFont typeface="+mj-lt"/>
              <a:buAutoNum type="alphaLcParenR"/>
              <a:tabLst>
                <a:tab pos="457200" algn="l"/>
              </a:tabLst>
              <a:defRPr/>
            </a:pPr>
            <a:r>
              <a:rPr lang="en-US" sz="1600">
                <a:solidFill>
                  <a:schemeClr val="bg1"/>
                </a:solidFill>
                <a:ea typeface="+mn-lt"/>
                <a:cs typeface="+mn-lt"/>
              </a:rPr>
              <a:t>KPIs: Time to first draft, % </a:t>
            </a:r>
            <a:r>
              <a:rPr lang="en-US" sz="1600" err="1">
                <a:solidFill>
                  <a:schemeClr val="bg1"/>
                </a:solidFill>
                <a:latin typeface="Consolas"/>
              </a:rPr>
              <a:t>needs_review</a:t>
            </a:r>
            <a:r>
              <a:rPr lang="en-US" sz="1600">
                <a:solidFill>
                  <a:schemeClr val="bg1"/>
                </a:solidFill>
                <a:ea typeface="+mn-lt"/>
                <a:cs typeface="+mn-lt"/>
              </a:rPr>
              <a:t>, mapping precision/recall (spot audits), number of stitched end‑to‑end paths, and mean time to approve.</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A/B Testing: Compare manual‑only vs. agent‑assisted cycles on matched flows.</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Continuous Learning: Convert corrections into new few‑shot examples; update synonym dictionaries and rules. Quarterly refresh of gold set; retire stale patterns.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loads into the </a:t>
            </a:r>
            <a:r>
              <a:rPr lang="en-US" sz="1600">
                <a:solidFill>
                  <a:srgbClr val="FFC000"/>
                </a:solidFill>
                <a:ea typeface="+mn-lt"/>
                <a:cs typeface="+mn-lt"/>
              </a:rPr>
              <a:t>LLM:</a:t>
            </a:r>
            <a:r>
              <a:rPr lang="en-US" sz="1600">
                <a:solidFill>
                  <a:schemeClr val="bg1"/>
                </a:solidFill>
                <a:ea typeface="+mn-lt"/>
                <a:cs typeface="+mn-lt"/>
              </a:rPr>
              <a:t> KPI definitions (coverage, precision/recall, review rate, time‑to‑publish)</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captures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endParaRPr lang="en-US" sz="1600">
              <a:solidFill>
                <a:srgbClr val="FFC000"/>
              </a:solidFill>
            </a:endParaRPr>
          </a:p>
          <a:p>
            <a:pPr marL="800100" lvl="1" indent="-342900">
              <a:buFont typeface="+mj-lt"/>
              <a:buAutoNum type="alphaLcParenR"/>
              <a:tabLst>
                <a:tab pos="457200" algn="l"/>
              </a:tabLst>
              <a:defRPr/>
            </a:pPr>
            <a:r>
              <a:rPr lang="en-US" sz="1600">
                <a:solidFill>
                  <a:schemeClr val="bg1"/>
                </a:solidFill>
                <a:ea typeface="+mn-lt"/>
                <a:cs typeface="+mn-lt"/>
              </a:rPr>
              <a:t>run scorecards and comparisons vs. manual baseline (A/B)</a:t>
            </a:r>
          </a:p>
          <a:p>
            <a:pPr marL="800100" lvl="1" indent="-342900">
              <a:buFont typeface="+mj-lt"/>
              <a:buAutoNum type="alphaLcParenR"/>
              <a:tabLst>
                <a:tab pos="457200" algn="l"/>
              </a:tabLst>
              <a:defRPr/>
            </a:pPr>
            <a:r>
              <a:rPr lang="en-US" sz="1600">
                <a:solidFill>
                  <a:schemeClr val="bg1"/>
                </a:solidFill>
                <a:ea typeface="+mn-lt"/>
                <a:cs typeface="+mn-lt"/>
              </a:rPr>
              <a:t>recommendations for new few‑shot examples and synonym updates</a:t>
            </a:r>
            <a:endParaRPr lang="en-US" sz="1600">
              <a:solidFill>
                <a:schemeClr val="bg1"/>
              </a:solidFill>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KPIs show statistically significant improvement and identify the top 3 levers for next iteration.</a:t>
            </a:r>
          </a:p>
        </p:txBody>
      </p:sp>
    </p:spTree>
    <p:extLst>
      <p:ext uri="{BB962C8B-B14F-4D97-AF65-F5344CB8AC3E}">
        <p14:creationId xmlns:p14="http://schemas.microsoft.com/office/powerpoint/2010/main" val="29411363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0D91F-CAE7-D483-E6AB-EB21AF86C1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B1195D-6050-5A2B-ACD5-6D3FB09E4392}"/>
              </a:ext>
            </a:extLst>
          </p:cNvPr>
          <p:cNvSpPr>
            <a:spLocks noGrp="1"/>
          </p:cNvSpPr>
          <p:nvPr>
            <p:ph type="title"/>
          </p:nvPr>
        </p:nvSpPr>
        <p:spPr>
          <a:xfrm>
            <a:off x="482446" y="360000"/>
            <a:ext cx="11616509" cy="716711"/>
          </a:xfrm>
        </p:spPr>
        <p:txBody>
          <a:bodyPr/>
          <a:lstStyle/>
          <a:p>
            <a:pPr>
              <a:lnSpc>
                <a:spcPct val="100000"/>
              </a:lnSpc>
              <a:spcBef>
                <a:spcPts val="0"/>
              </a:spcBef>
              <a:defRPr/>
            </a:pPr>
            <a:r>
              <a:rPr lang="en-US" cap="none">
                <a:ea typeface="+mj-lt"/>
                <a:cs typeface="+mj-lt"/>
              </a:rPr>
              <a:t>Step 15: Change Control &amp; Operationalization</a:t>
            </a:r>
            <a:endParaRPr lang="en-US" cap="none"/>
          </a:p>
        </p:txBody>
      </p:sp>
      <p:sp>
        <p:nvSpPr>
          <p:cNvPr id="2" name="TextBox 1">
            <a:extLst>
              <a:ext uri="{FF2B5EF4-FFF2-40B4-BE49-F238E27FC236}">
                <a16:creationId xmlns:a16="http://schemas.microsoft.com/office/drawing/2014/main" id="{89C517E8-E260-04FC-61E7-2A4C874D0C59}"/>
              </a:ext>
            </a:extLst>
          </p:cNvPr>
          <p:cNvSpPr txBox="1"/>
          <p:nvPr/>
        </p:nvSpPr>
        <p:spPr>
          <a:xfrm>
            <a:off x="393585" y="1022005"/>
            <a:ext cx="11382373" cy="3539430"/>
          </a:xfrm>
          <a:prstGeom prst="rect">
            <a:avLst/>
          </a:prstGeom>
          <a:noFill/>
        </p:spPr>
        <p:txBody>
          <a:bodyPr wrap="square" lIns="91440" tIns="45720" rIns="91440" bIns="45720" numCol="1" spcCol="144000" anchor="t">
            <a:spAutoFit/>
          </a:bodyPr>
          <a:lstStyle/>
          <a:p>
            <a:pPr>
              <a:tabLst>
                <a:tab pos="457200" algn="l"/>
              </a:tabLst>
              <a:defRPr/>
            </a:pPr>
            <a:r>
              <a:rPr lang="en-US" sz="1600">
                <a:solidFill>
                  <a:schemeClr val="bg1"/>
                </a:solidFill>
                <a:ea typeface="+mn-lt"/>
                <a:cs typeface="+mn-lt"/>
              </a:rPr>
              <a:t>Motivation: Keep lineage living as systems evolve.</a:t>
            </a:r>
          </a:p>
          <a:p>
            <a:pPr>
              <a:tabLst>
                <a:tab pos="457200" algn="l"/>
              </a:tabLst>
              <a:defRPr/>
            </a:pPr>
            <a:endParaRPr lang="en-US" sz="1600">
              <a:solidFill>
                <a:schemeClr val="bg1"/>
              </a:solidFill>
              <a:ea typeface="+mn-lt"/>
              <a:cs typeface="+mn-lt"/>
            </a:endParaRP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embeds lineage updates into BAU processes (contracts, schema, ETL changes) and manages releases with clear versioning:</a:t>
            </a:r>
            <a:endParaRPr lang="en-US" sz="1600">
              <a:solidFill>
                <a:schemeClr val="bg1"/>
              </a:solidFill>
            </a:endParaRPr>
          </a:p>
          <a:p>
            <a:pPr marL="800100" lvl="1" indent="-342900">
              <a:buFont typeface="+mj-lt"/>
              <a:buAutoNum type="alphaLcParenR"/>
              <a:tabLst>
                <a:tab pos="457200" algn="l"/>
              </a:tabLst>
              <a:defRPr/>
            </a:pPr>
            <a:r>
              <a:rPr lang="en-US" sz="1600">
                <a:solidFill>
                  <a:schemeClr val="bg1"/>
                </a:solidFill>
                <a:ea typeface="+mn-lt"/>
                <a:cs typeface="+mn-lt"/>
              </a:rPr>
              <a:t>Policy Hook: Require lineage updates for any data contract, schema, or ETL change before production deploy.</a:t>
            </a:r>
          </a:p>
          <a:p>
            <a:pPr marL="800100" lvl="1" indent="-342900">
              <a:buFont typeface="+mj-lt"/>
              <a:buAutoNum type="alphaLcParenR"/>
              <a:tabLst>
                <a:tab pos="457200" algn="l"/>
              </a:tabLst>
              <a:defRPr/>
            </a:pPr>
            <a:r>
              <a:rPr lang="en-US" sz="1600">
                <a:solidFill>
                  <a:schemeClr val="bg1"/>
                </a:solidFill>
                <a:ea typeface="+mn-lt"/>
                <a:cs typeface="+mn-lt"/>
              </a:rPr>
              <a:t>Release Cadence: Monthly lineage releases for each domain; emergency hotfix lane for critical issues.</a:t>
            </a:r>
          </a:p>
          <a:p>
            <a:pPr marL="800100" lvl="1" indent="-342900">
              <a:buFont typeface="+mj-lt"/>
              <a:buAutoNum type="alphaLcParenR"/>
              <a:tabLst>
                <a:tab pos="457200" algn="l"/>
              </a:tabLst>
              <a:defRPr/>
            </a:pPr>
            <a:r>
              <a:rPr lang="en-US" sz="1600">
                <a:solidFill>
                  <a:schemeClr val="bg1"/>
                </a:solidFill>
                <a:ea typeface="+mn-lt"/>
                <a:cs typeface="+mn-lt"/>
              </a:rPr>
              <a:t>Backlog &amp; Roadmap: Track unresolved gaps, planned coverage expansion, and upcoming integrations.</a:t>
            </a:r>
          </a:p>
          <a:p>
            <a:pPr marL="342900" indent="-342900">
              <a:buFont typeface="+mj-lt"/>
              <a:buAutoNum type="arabicPeriod"/>
              <a:tabLst>
                <a:tab pos="457200" algn="l"/>
              </a:tabLst>
              <a:defRPr/>
            </a:pPr>
            <a:r>
              <a:rPr lang="en-US" sz="1600">
                <a:solidFill>
                  <a:srgbClr val="FF0000"/>
                </a:solidFill>
              </a:rPr>
              <a:t>CG team</a:t>
            </a:r>
            <a:r>
              <a:rPr lang="en-US" sz="1600">
                <a:solidFill>
                  <a:schemeClr val="bg1"/>
                </a:solidFill>
                <a:ea typeface="+mn-lt"/>
                <a:cs typeface="+mn-lt"/>
              </a:rPr>
              <a:t> loads into the </a:t>
            </a:r>
            <a:r>
              <a:rPr lang="en-US" sz="1600">
                <a:solidFill>
                  <a:srgbClr val="FFC000"/>
                </a:solidFill>
                <a:ea typeface="+mn-lt"/>
                <a:cs typeface="+mn-lt"/>
              </a:rPr>
              <a:t>LLM:</a:t>
            </a:r>
            <a:endParaRPr lang="en-US" sz="1600">
              <a:solidFill>
                <a:srgbClr val="FFC000"/>
              </a:solidFill>
            </a:endParaRPr>
          </a:p>
          <a:p>
            <a:pPr marL="800100" lvl="1" indent="-342900">
              <a:buFont typeface="+mj-lt"/>
              <a:buAutoNum type="alphaLcParenR"/>
              <a:tabLst>
                <a:tab pos="457200" algn="l"/>
              </a:tabLst>
              <a:defRPr/>
            </a:pPr>
            <a:r>
              <a:rPr lang="en-US" sz="1600">
                <a:solidFill>
                  <a:schemeClr val="bg1"/>
                </a:solidFill>
                <a:ea typeface="+mn-lt"/>
                <a:cs typeface="+mn-lt"/>
              </a:rPr>
              <a:t>change policies tying lineage updates to deployment gates</a:t>
            </a:r>
          </a:p>
          <a:p>
            <a:pPr marL="800100" lvl="1" indent="-342900">
              <a:buFont typeface="+mj-lt"/>
              <a:buAutoNum type="alphaLcParenR"/>
              <a:tabLst>
                <a:tab pos="457200" algn="l"/>
              </a:tabLst>
              <a:defRPr/>
            </a:pPr>
            <a:r>
              <a:rPr lang="en-US" sz="1600">
                <a:solidFill>
                  <a:schemeClr val="bg1"/>
                </a:solidFill>
                <a:ea typeface="+mn-lt"/>
                <a:cs typeface="+mn-lt"/>
              </a:rPr>
              <a:t>release cadence, tagging conventions, and rollback criteria</a:t>
            </a:r>
            <a:endParaRPr lang="en-US" sz="1600">
              <a:solidFill>
                <a:schemeClr val="bg1"/>
              </a:solidFill>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tab pos="457200" algn="l"/>
              </a:tabLst>
              <a:defRPr/>
            </a:pPr>
            <a:r>
              <a:rPr kumimoji="0" lang="en-US" sz="1600" i="0" u="none" strike="noStrike" kern="1200" cap="none" spc="0" normalizeH="0" baseline="0" noProof="0">
                <a:ln>
                  <a:noFill/>
                </a:ln>
                <a:solidFill>
                  <a:srgbClr val="FF0000"/>
                </a:solidFill>
                <a:effectLst/>
                <a:uLnTx/>
                <a:uFillTx/>
                <a:latin typeface="Ubuntu"/>
                <a:ea typeface="+mn-ea"/>
                <a:cs typeface="+mn-cs"/>
              </a:rPr>
              <a:t>CG team</a:t>
            </a:r>
            <a:r>
              <a:rPr lang="en-US" sz="1600">
                <a:solidFill>
                  <a:schemeClr val="bg1"/>
                </a:solidFill>
                <a:ea typeface="+mn-lt"/>
                <a:cs typeface="+mn-lt"/>
              </a:rPr>
              <a:t> captures from </a:t>
            </a:r>
            <a:r>
              <a:rPr kumimoji="0" lang="en-US" sz="1600" i="0" u="none" strike="noStrike" kern="1200" cap="none" spc="0" normalizeH="0" baseline="0" noProof="0">
                <a:ln>
                  <a:noFill/>
                </a:ln>
                <a:solidFill>
                  <a:schemeClr val="bg1"/>
                </a:solidFill>
                <a:effectLst/>
                <a:uLnTx/>
                <a:uFillTx/>
                <a:ea typeface="+mn-lt"/>
                <a:cs typeface="+mn-lt"/>
              </a:rPr>
              <a:t>the </a:t>
            </a:r>
            <a:r>
              <a:rPr lang="en-US" sz="1600">
                <a:solidFill>
                  <a:srgbClr val="FFC000"/>
                </a:solidFill>
                <a:ea typeface="+mn-lt"/>
                <a:cs typeface="+mn-lt"/>
              </a:rPr>
              <a:t>LLM:</a:t>
            </a:r>
          </a:p>
          <a:p>
            <a:pPr marL="800100" lvl="1" indent="-342900">
              <a:buFont typeface="+mj-lt"/>
              <a:buAutoNum type="alphaLcParenR"/>
              <a:tabLst>
                <a:tab pos="457200" algn="l"/>
              </a:tabLst>
              <a:defRPr/>
            </a:pPr>
            <a:r>
              <a:rPr lang="en-US" sz="1600">
                <a:solidFill>
                  <a:schemeClr val="bg1"/>
                </a:solidFill>
                <a:ea typeface="+mn-lt"/>
                <a:cs typeface="+mn-lt"/>
              </a:rPr>
              <a:t>monthly lineage release packs (artifacts, diffs, approvals, known gaps)</a:t>
            </a:r>
          </a:p>
          <a:p>
            <a:pPr marL="800100" lvl="1" indent="-342900">
              <a:buFont typeface="+mj-lt"/>
              <a:buAutoNum type="alphaLcParenR"/>
              <a:tabLst>
                <a:tab pos="457200" algn="l"/>
              </a:tabLst>
              <a:defRPr/>
            </a:pPr>
            <a:r>
              <a:rPr lang="en-US" sz="1600">
                <a:solidFill>
                  <a:schemeClr val="bg1"/>
                </a:solidFill>
                <a:ea typeface="+mn-lt"/>
                <a:cs typeface="+mn-lt"/>
              </a:rPr>
              <a:t>backlog of unresolved items and planned domain expansions</a:t>
            </a:r>
          </a:p>
          <a:p>
            <a:pPr marL="342900" indent="-342900">
              <a:buFont typeface="+mj-lt"/>
              <a:buAutoNum type="arabicPeriod"/>
              <a:tabLst>
                <a:tab pos="457200" algn="l"/>
              </a:tabLst>
              <a:defRPr/>
            </a:pPr>
            <a:r>
              <a:rPr lang="en-US" sz="1600">
                <a:solidFill>
                  <a:srgbClr val="FF0000"/>
                </a:solidFill>
              </a:rPr>
              <a:t>CG team </a:t>
            </a:r>
            <a:r>
              <a:rPr lang="en-US" sz="1600">
                <a:solidFill>
                  <a:schemeClr val="bg1"/>
                </a:solidFill>
                <a:ea typeface="+mn-lt"/>
                <a:cs typeface="+mn-lt"/>
              </a:rPr>
              <a:t>tests if changes to contracts/schemas trigger lineage refresh tasks before production deployment.</a:t>
            </a:r>
            <a:endParaRPr lang="en-US" sz="1600">
              <a:solidFill>
                <a:schemeClr val="bg1"/>
              </a:solidFill>
            </a:endParaRPr>
          </a:p>
        </p:txBody>
      </p:sp>
    </p:spTree>
    <p:extLst>
      <p:ext uri="{BB962C8B-B14F-4D97-AF65-F5344CB8AC3E}">
        <p14:creationId xmlns:p14="http://schemas.microsoft.com/office/powerpoint/2010/main" val="875765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19B9F8E-3201-7465-9749-F383F73BF1A8}"/>
              </a:ext>
            </a:extLst>
          </p:cNvPr>
          <p:cNvSpPr txBox="1">
            <a:spLocks/>
          </p:cNvSpPr>
          <p:nvPr/>
        </p:nvSpPr>
        <p:spPr>
          <a:xfrm>
            <a:off x="404813" y="350480"/>
            <a:ext cx="10947772" cy="431945"/>
          </a:xfrm>
          <a:prstGeom prst="rect">
            <a:avLst/>
          </a:prstGeom>
        </p:spPr>
        <p:txBody>
          <a:bodyPr vert="horz" lIns="0" tIns="0" rIns="0" bIns="0" rtlCol="0" anchor="t"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bg1"/>
                </a:solidFill>
                <a:effectLst/>
                <a:uLnTx/>
                <a:uFillTx/>
                <a:latin typeface="+mj-lt"/>
                <a:ea typeface="+mj-ea"/>
                <a:cs typeface="+mj-cs"/>
              </a:defRPr>
            </a:lvl1pPr>
          </a:lstStyle>
          <a:p>
            <a:r>
              <a:rPr lang="en-US" cap="none"/>
              <a:t>Descriptions of AI Agents for solution interface (“About Agent” blurb)</a:t>
            </a:r>
          </a:p>
        </p:txBody>
      </p:sp>
      <p:pic>
        <p:nvPicPr>
          <p:cNvPr id="6" name="Picture 5">
            <a:extLst>
              <a:ext uri="{FF2B5EF4-FFF2-40B4-BE49-F238E27FC236}">
                <a16:creationId xmlns:a16="http://schemas.microsoft.com/office/drawing/2014/main" id="{5CFB2883-06FB-61C8-F926-A5B8A902F0FA}"/>
              </a:ext>
            </a:extLst>
          </p:cNvPr>
          <p:cNvPicPr>
            <a:picLocks noChangeAspect="1"/>
          </p:cNvPicPr>
          <p:nvPr/>
        </p:nvPicPr>
        <p:blipFill>
          <a:blip r:embed="rId3"/>
          <a:stretch>
            <a:fillRect/>
          </a:stretch>
        </p:blipFill>
        <p:spPr>
          <a:xfrm>
            <a:off x="10810875" y="5816313"/>
            <a:ext cx="1053568" cy="572911"/>
          </a:xfrm>
          <a:prstGeom prst="rect">
            <a:avLst/>
          </a:prstGeom>
        </p:spPr>
      </p:pic>
      <p:sp>
        <p:nvSpPr>
          <p:cNvPr id="8" name="TextBox 7">
            <a:extLst>
              <a:ext uri="{FF2B5EF4-FFF2-40B4-BE49-F238E27FC236}">
                <a16:creationId xmlns:a16="http://schemas.microsoft.com/office/drawing/2014/main" id="{8E49CA57-76C9-E3F4-990A-4C1EA184E51D}"/>
              </a:ext>
            </a:extLst>
          </p:cNvPr>
          <p:cNvSpPr txBox="1"/>
          <p:nvPr/>
        </p:nvSpPr>
        <p:spPr>
          <a:xfrm>
            <a:off x="271663" y="810936"/>
            <a:ext cx="11399346" cy="5904000"/>
          </a:xfrm>
          <a:prstGeom prst="rect">
            <a:avLst/>
          </a:prstGeom>
          <a:noFill/>
        </p:spPr>
        <p:txBody>
          <a:bodyPr wrap="square" lIns="91440" tIns="45720" rIns="91440" bIns="45720" numCol="2" spcCol="108000" anchor="t">
            <a:spAutoFit/>
          </a:bodyPr>
          <a:lstStyle/>
          <a:p>
            <a:pPr>
              <a:spcAft>
                <a:spcPts val="600"/>
              </a:spcAft>
              <a:tabLst>
                <a:tab pos="457200" algn="l"/>
              </a:tabLst>
              <a:defRPr/>
            </a:pPr>
            <a:r>
              <a:rPr lang="en-US" sz="1400" i="1">
                <a:solidFill>
                  <a:schemeClr val="bg1"/>
                </a:solidFill>
              </a:rPr>
              <a:t>These blurbs of up to 50 words each will be shown in the left navigation pane of the tool interface below the page links, providing users with clarity on what each Agent is meant to achieve:</a:t>
            </a:r>
          </a:p>
          <a:p>
            <a:pPr>
              <a:spcAft>
                <a:spcPts val="600"/>
              </a:spcAft>
              <a:tabLst>
                <a:tab pos="457200" algn="l"/>
              </a:tabLst>
              <a:defRPr/>
            </a:pPr>
            <a:r>
              <a:rPr lang="en-US" sz="1400" b="1">
                <a:solidFill>
                  <a:schemeClr val="bg1"/>
                </a:solidFill>
              </a:rPr>
              <a:t>Knowledge Base:</a:t>
            </a:r>
          </a:p>
          <a:p>
            <a:pPr marL="285750" indent="-285750">
              <a:spcAft>
                <a:spcPts val="600"/>
              </a:spcAft>
              <a:buFont typeface="Arial" panose="020B0604020202020204" pitchFamily="34" charset="0"/>
              <a:buChar char="•"/>
              <a:tabLst>
                <a:tab pos="457200" algn="l"/>
              </a:tabLst>
              <a:defRPr/>
            </a:pPr>
            <a:r>
              <a:rPr lang="en-GB" sz="1400">
                <a:solidFill>
                  <a:schemeClr val="bg1"/>
                </a:solidFill>
              </a:rPr>
              <a:t>This page allows users to: 1) agree the lineage project’s scope, objectives, definitions, technology and rules; 2) choose approaches to lineage parsing, mapping, confidence scoring and approvals; 3) load lineage ontology, acceptance criteria, confidence thresholds, mapping examples, technical specifications and SME expertise into the LLM. This forms the foundation for the AI Agents.</a:t>
            </a:r>
          </a:p>
          <a:p>
            <a:pPr>
              <a:spcAft>
                <a:spcPts val="600"/>
              </a:spcAft>
              <a:tabLst>
                <a:tab pos="457200" algn="l"/>
              </a:tabLst>
              <a:defRPr/>
            </a:pPr>
            <a:r>
              <a:rPr lang="en-US" sz="1400" b="1">
                <a:solidFill>
                  <a:schemeClr val="bg1"/>
                </a:solidFill>
              </a:rPr>
              <a:t>Agent 1:</a:t>
            </a:r>
          </a:p>
          <a:p>
            <a:pPr marL="285750" indent="-285750">
              <a:spcAft>
                <a:spcPts val="600"/>
              </a:spcAft>
              <a:buFont typeface="Arial" panose="020B0604020202020204" pitchFamily="34" charset="0"/>
              <a:buChar char="•"/>
              <a:tabLst>
                <a:tab pos="457200" algn="l"/>
              </a:tabLst>
              <a:defRPr/>
            </a:pPr>
            <a:r>
              <a:rPr lang="en-GB" sz="1400">
                <a:solidFill>
                  <a:schemeClr val="bg1"/>
                </a:solidFill>
              </a:rPr>
              <a:t>Agent 1, the Lineage Parser, is triggered whenever new/changed artifacts land (SQL/ETL/BI). It extracts technical lineage fragments from raw artifacts into a strict, reviewable JSON structure with provenance and confidence scoring, and generates JSON elements such as sources, targets, transforms, confidence, issues, citations.</a:t>
            </a:r>
          </a:p>
          <a:p>
            <a:pPr>
              <a:spcAft>
                <a:spcPts val="600"/>
              </a:spcAft>
              <a:tabLst>
                <a:tab pos="457200" algn="l"/>
              </a:tabLst>
              <a:defRPr/>
            </a:pPr>
            <a:r>
              <a:rPr lang="en-US" sz="1400" b="1">
                <a:solidFill>
                  <a:schemeClr val="bg1"/>
                </a:solidFill>
              </a:rPr>
              <a:t>Agent 2: </a:t>
            </a:r>
          </a:p>
          <a:p>
            <a:pPr marL="285750" indent="-285750">
              <a:spcAft>
                <a:spcPts val="600"/>
              </a:spcAft>
              <a:buFont typeface="Arial" panose="020B0604020202020204" pitchFamily="34" charset="0"/>
              <a:buChar char="•"/>
              <a:tabLst>
                <a:tab pos="457200" algn="l"/>
              </a:tabLst>
              <a:defRPr/>
            </a:pPr>
            <a:r>
              <a:rPr lang="en-GB" sz="1400">
                <a:solidFill>
                  <a:schemeClr val="bg1"/>
                </a:solidFill>
              </a:rPr>
              <a:t>Agent 2, the Mapping Synthesizer &amp; Gap Detector, runs after parsing to compile drafts and identify gaps. It turns multiple fragments and reference materials into first‑draft source-to-target mappings and explicit gap lists to accelerate SME review. Outputs are draft mapping JSONs and gap packs.</a:t>
            </a:r>
          </a:p>
          <a:p>
            <a:pPr>
              <a:spcAft>
                <a:spcPts val="600"/>
              </a:spcAft>
              <a:tabLst>
                <a:tab pos="457200" algn="l"/>
              </a:tabLst>
              <a:defRPr/>
            </a:pPr>
            <a:r>
              <a:rPr lang="en-US" sz="1400" b="1">
                <a:solidFill>
                  <a:schemeClr val="bg1"/>
                </a:solidFill>
              </a:rPr>
              <a:t>Agent 3: </a:t>
            </a:r>
          </a:p>
          <a:p>
            <a:pPr marL="285750" indent="-285750">
              <a:spcAft>
                <a:spcPts val="600"/>
              </a:spcAft>
              <a:buFont typeface="Arial" panose="020B0604020202020204" pitchFamily="34" charset="0"/>
              <a:buChar char="•"/>
              <a:tabLst>
                <a:tab pos="457200" algn="l"/>
              </a:tabLst>
              <a:defRPr/>
            </a:pPr>
            <a:r>
              <a:rPr lang="en-GB" sz="1400">
                <a:solidFill>
                  <a:schemeClr val="bg1"/>
                </a:solidFill>
              </a:rPr>
              <a:t>Agent 3, the SME Orchestrator &amp; Finalizer, engages once gaps exist; it manages SME clarification and finalization. It coordinates SME interactions to close gaps, then applies clarifications to produce final, policy‑compliant JSON mappings with updated confidence, acceptance checklists, residual risk notes and an audit trail of the Q&amp;A.</a:t>
            </a:r>
          </a:p>
          <a:p>
            <a:pPr>
              <a:spcAft>
                <a:spcPts val="600"/>
              </a:spcAft>
              <a:tabLst>
                <a:tab pos="457200" algn="l"/>
              </a:tabLst>
              <a:defRPr/>
            </a:pPr>
            <a:r>
              <a:rPr lang="en-US" sz="1400" b="1">
                <a:solidFill>
                  <a:schemeClr val="bg1"/>
                </a:solidFill>
              </a:rPr>
              <a:t>Agent 4: </a:t>
            </a:r>
          </a:p>
          <a:p>
            <a:pPr marL="285750" indent="-285750">
              <a:spcAft>
                <a:spcPts val="600"/>
              </a:spcAft>
              <a:buFont typeface="Arial" panose="020B0604020202020204" pitchFamily="34" charset="0"/>
              <a:buChar char="•"/>
              <a:tabLst>
                <a:tab pos="457200" algn="l"/>
              </a:tabLst>
              <a:defRPr/>
            </a:pPr>
            <a:r>
              <a:rPr lang="en-GB" sz="1400">
                <a:solidFill>
                  <a:schemeClr val="bg1"/>
                </a:solidFill>
              </a:rPr>
              <a:t>Agent 4, the Lineage Stitcher &amp; Visualizer, runs post‑approval of mappings to stitch and visualize the full path. It connects validated mappings into end‑to‑end lineage across systems and generates readable visuals for validation and communication. Visual exports are now ready for review by Data Stewards/Architecture SMEs.</a:t>
            </a:r>
            <a:endParaRPr lang="en-US" sz="1400">
              <a:solidFill>
                <a:schemeClr val="bg1"/>
              </a:solidFill>
            </a:endParaRPr>
          </a:p>
          <a:p>
            <a:pPr>
              <a:spcAft>
                <a:spcPts val="600"/>
              </a:spcAft>
              <a:tabLst>
                <a:tab pos="457200" algn="l"/>
              </a:tabLst>
              <a:defRPr/>
            </a:pPr>
            <a:r>
              <a:rPr lang="en-US" sz="1400" b="1">
                <a:solidFill>
                  <a:schemeClr val="bg1"/>
                </a:solidFill>
              </a:rPr>
              <a:t>Agent 5: </a:t>
            </a:r>
          </a:p>
          <a:p>
            <a:pPr marL="285750" indent="-285750">
              <a:spcAft>
                <a:spcPts val="600"/>
              </a:spcAft>
              <a:buFont typeface="Arial" panose="020B0604020202020204" pitchFamily="34" charset="0"/>
              <a:buChar char="•"/>
              <a:tabLst>
                <a:tab pos="457200" algn="l"/>
              </a:tabLst>
              <a:defRPr/>
            </a:pPr>
            <a:r>
              <a:rPr lang="en-GB" sz="1400">
                <a:solidFill>
                  <a:schemeClr val="bg1"/>
                </a:solidFill>
              </a:rPr>
              <a:t>Agent 5, the Publisher &amp; Catalog Linker, publishes the approved state to the Data Catalog and maintains release hygiene. It publishes approved lineage to the Catalog (and adjacent governance tools) and cross‑links with owners, policies, data contracts, DQ rules, and access groups. This release bundle also includes a change log, approvals, known gaps and rollback notes.</a:t>
            </a:r>
            <a:endParaRPr lang="en-US" sz="1400">
              <a:solidFill>
                <a:schemeClr val="bg1"/>
              </a:solidFill>
            </a:endParaRPr>
          </a:p>
        </p:txBody>
      </p:sp>
    </p:spTree>
    <p:extLst>
      <p:ext uri="{BB962C8B-B14F-4D97-AF65-F5344CB8AC3E}">
        <p14:creationId xmlns:p14="http://schemas.microsoft.com/office/powerpoint/2010/main" val="2931397254"/>
      </p:ext>
    </p:extLst>
  </p:cSld>
  <p:clrMapOvr>
    <a:masterClrMapping/>
  </p:clrMapOvr>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2.xml><?xml version="1.0" encoding="utf-8"?>
<a:theme xmlns:a="http://schemas.openxmlformats.org/drawingml/2006/main" name="Capgemini_Blue_2025">
  <a:themeElements>
    <a:clrScheme name="Capgemini Dark Blue 2026">
      <a:dk1>
        <a:srgbClr val="000000"/>
      </a:dk1>
      <a:lt1>
        <a:srgbClr val="FFFFFF"/>
      </a:lt1>
      <a:dk2>
        <a:srgbClr val="0057AB"/>
      </a:dk2>
      <a:lt2>
        <a:srgbClr val="FFFFFF"/>
      </a:lt2>
      <a:accent1>
        <a:srgbClr val="1DB6F3"/>
      </a:accent1>
      <a:accent2>
        <a:srgbClr val="111937"/>
      </a:accent2>
      <a:accent3>
        <a:srgbClr val="00D5D0"/>
      </a:accent3>
      <a:accent4>
        <a:srgbClr val="FEB100"/>
      </a:accent4>
      <a:accent5>
        <a:srgbClr val="FF816E"/>
      </a:accent5>
      <a:accent6>
        <a:srgbClr val="D4D5F2"/>
      </a:accent6>
      <a:hlink>
        <a:srgbClr val="1DB7F3"/>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on Dark">
      <a:srgbClr val="00D5D0"/>
    </a:custClr>
    <a:custClr name="Amber on Dark">
      <a:srgbClr val="FEB100"/>
    </a:custClr>
    <a:custClr name="Coral on Dark">
      <a:srgbClr val="FF816E"/>
    </a:custClr>
    <a:custClr name="Lilac on Dark">
      <a:srgbClr val="D4D5F2"/>
    </a:custClr>
    <a:custClr name="Teal on Light">
      <a:srgbClr val="00828E"/>
    </a:custClr>
    <a:custClr name="Burnt Orange on Light">
      <a:srgbClr val="BE4D01"/>
    </a:custClr>
    <a:custClr name="Maroon on Light">
      <a:srgbClr val="903137"/>
    </a:custClr>
    <a:custClr name="Mauve on Light">
      <a:srgbClr val="725F9F"/>
    </a:custClr>
  </a:custClrLst>
  <a:extLst>
    <a:ext uri="{05A4C25C-085E-4340-85A3-A5531E510DB2}">
      <thm15:themeFamily xmlns:thm15="http://schemas.microsoft.com/office/thememl/2012/main" name="Presentation2a" id="{54B48036-629F-244A-B72F-FEE00158A729}" vid="{A4C2F5FB-D96E-2C48-BD95-DE051DC4EC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38d36e6-c9fe-4d54-b9b5-76a315f805cc">
      <Terms xmlns="http://schemas.microsoft.com/office/infopath/2007/PartnerControls"/>
    </lcf76f155ced4ddcb4097134ff3c332f>
    <TaxCatchAll xmlns="baeae245-f291-43fb-931a-b30cfb08491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4A2847D0CE6A448D09EF2B53AA1046" ma:contentTypeVersion="18" ma:contentTypeDescription="Create a new document." ma:contentTypeScope="" ma:versionID="0afdd8e9ac16733817d415dc0495a89e">
  <xsd:schema xmlns:xsd="http://www.w3.org/2001/XMLSchema" xmlns:xs="http://www.w3.org/2001/XMLSchema" xmlns:p="http://schemas.microsoft.com/office/2006/metadata/properties" xmlns:ns2="938d36e6-c9fe-4d54-b9b5-76a315f805cc" xmlns:ns3="baeae245-f291-43fb-931a-b30cfb084916" targetNamespace="http://schemas.microsoft.com/office/2006/metadata/properties" ma:root="true" ma:fieldsID="eba676162304b0ff05290d4bbc83b610" ns2:_="" ns3:_="">
    <xsd:import namespace="938d36e6-c9fe-4d54-b9b5-76a315f805cc"/>
    <xsd:import namespace="baeae245-f291-43fb-931a-b30cfb08491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8d36e6-c9fe-4d54-b9b5-76a315f805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eae245-f291-43fb-931a-b30cfb08491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2b26cc7-158a-4de8-90b2-21a7fbc9d00c}" ma:internalName="TaxCatchAll" ma:showField="CatchAllData" ma:web="baeae245-f291-43fb-931a-b30cfb0849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63C266-9D5F-45DD-B744-C2784A1647B1}">
  <ds:schemaRefs>
    <ds:schemaRef ds:uri="938d36e6-c9fe-4d54-b9b5-76a315f805cc"/>
    <ds:schemaRef ds:uri="http://www.w3.org/XML/1998/namespace"/>
    <ds:schemaRef ds:uri="http://purl.org/dc/elements/1.1/"/>
    <ds:schemaRef ds:uri="baeae245-f291-43fb-931a-b30cfb084916"/>
    <ds:schemaRef ds:uri="http://purl.org/dc/terms/"/>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D5AB1617-86CE-4C8D-8B31-4256C3830B9A}">
  <ds:schemaRefs>
    <ds:schemaRef ds:uri="http://schemas.microsoft.com/sharepoint/v3/contenttype/forms"/>
  </ds:schemaRefs>
</ds:datastoreItem>
</file>

<file path=customXml/itemProps3.xml><?xml version="1.0" encoding="utf-8"?>
<ds:datastoreItem xmlns:ds="http://schemas.openxmlformats.org/officeDocument/2006/customXml" ds:itemID="{A12810FF-577F-441A-94D6-0A3DB24BF4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38d36e6-c9fe-4d54-b9b5-76a315f805cc"/>
    <ds:schemaRef ds:uri="baeae245-f291-43fb-931a-b30cfb0849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319</TotalTime>
  <Words>5745</Words>
  <Application>Microsoft Office PowerPoint</Application>
  <PresentationFormat>Widescreen</PresentationFormat>
  <Paragraphs>360</Paragraphs>
  <Slides>25</Slides>
  <Notes>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7" baseType="lpstr">
      <vt:lpstr>Aptos</vt:lpstr>
      <vt:lpstr>Arial</vt:lpstr>
      <vt:lpstr>Consolas</vt:lpstr>
      <vt:lpstr>System Font Regular</vt:lpstr>
      <vt:lpstr>Times New Roman</vt:lpstr>
      <vt:lpstr>Ubuntu</vt:lpstr>
      <vt:lpstr>Ubuntu Light</vt:lpstr>
      <vt:lpstr>Ubuntu Medium</vt:lpstr>
      <vt:lpstr>Wingdings</vt:lpstr>
      <vt:lpstr>Capgemini Master 2021</vt:lpstr>
      <vt:lpstr>Capgemini_Blue_2025</vt:lpstr>
      <vt:lpstr>think-cell Slide</vt:lpstr>
      <vt:lpstr>PowerPoint Presentation</vt:lpstr>
      <vt:lpstr>Problem statement</vt:lpstr>
      <vt:lpstr>Capgemini’s Agentic End-to-End Data Lineage Stitching</vt:lpstr>
      <vt:lpstr>High-level steps to be performed by “Data Lineage Stitching Agent” (1/2)</vt:lpstr>
      <vt:lpstr>High-level steps to be performed by “Data Lineage Stitching Agent” (2/2)</vt:lpstr>
      <vt:lpstr>How the Agents stitch lineage across systems</vt:lpstr>
      <vt:lpstr>Agents Overview</vt:lpstr>
      <vt:lpstr>Agent Triggers</vt:lpstr>
      <vt:lpstr>Feedback on the script in this deck from Vikas Singh (I&amp;D FS NA)</vt:lpstr>
      <vt:lpstr>Step 1: Define “Valid Lineage Mapping” &amp; Standards</vt:lpstr>
      <vt:lpstr>Step 2: Curate High‑Quality Training Examples (Gold Set)</vt:lpstr>
      <vt:lpstr>Step 3: Authoritative Artifacts (Grounding Corpus)</vt:lpstr>
      <vt:lpstr>Step 4: Agent 1 — Parse Lineage Fragments from Artifacts</vt:lpstr>
      <vt:lpstr>Step 5: Capture SME Knowledge &amp; Ownership Registry</vt:lpstr>
      <vt:lpstr>Step 6: Agent 2 — Produce First‑Draft Mappings</vt:lpstr>
      <vt:lpstr>Step 7: Agent 3 — Identify Missing Elements &amp; Generate Questions</vt:lpstr>
      <vt:lpstr>Step 8: Agent 3 — Orchestrate SME Q&amp;A and Follow‑ups</vt:lpstr>
      <vt:lpstr>Step 9: Agent 4 — Finalize Mappings to 100%</vt:lpstr>
      <vt:lpstr>Step 10: Agent 4 — Stitch End‑to‑End Lineage Across Systems</vt:lpstr>
      <vt:lpstr>Step 11: Agent 4 — Generate Visuals for Validation &amp; Communication</vt:lpstr>
      <vt:lpstr>Step 12: Agent 5 — Publish to the Catalog &amp; Cross‑Link Assets</vt:lpstr>
      <vt:lpstr>Step 13: Approvals &amp; Governance Sign‑off</vt:lpstr>
      <vt:lpstr>Step 14: Measure Value &amp; Improve (A/B and KPIs)</vt:lpstr>
      <vt:lpstr>Step 15: Change Control &amp; Operationalization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Teschner, Ralf</dc:creator>
  <cp:lastModifiedBy>Unnikrishnan, Manjusha</cp:lastModifiedBy>
  <cp:revision>3</cp:revision>
  <dcterms:created xsi:type="dcterms:W3CDTF">2025-10-15T02:51:47Z</dcterms:created>
  <dcterms:modified xsi:type="dcterms:W3CDTF">2026-05-10T11:32:45Z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0x010100F44A2847D0CE6A448D09EF2B53AA1046</vt:lpwstr>
  </property>
  <property fmtid="{D5CDD505-2E9C-101B-9397-08002B2CF9AE}" pid="3" name="MediaServiceImageTags">
    <vt:lpwstr/>
  </property>
</Properties>
</file>